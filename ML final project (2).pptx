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24"/>
  </p:notesMasterIdLst>
  <p:sldIdLst>
    <p:sldId id="257" r:id="rId2"/>
    <p:sldId id="258" r:id="rId3"/>
    <p:sldId id="259" r:id="rId4"/>
    <p:sldId id="260" r:id="rId5"/>
    <p:sldId id="263" r:id="rId6"/>
    <p:sldId id="278" r:id="rId7"/>
    <p:sldId id="279" r:id="rId8"/>
    <p:sldId id="280" r:id="rId9"/>
    <p:sldId id="262" r:id="rId10"/>
    <p:sldId id="270" r:id="rId11"/>
    <p:sldId id="264" r:id="rId12"/>
    <p:sldId id="265" r:id="rId13"/>
    <p:sldId id="266" r:id="rId14"/>
    <p:sldId id="267" r:id="rId15"/>
    <p:sldId id="276" r:id="rId16"/>
    <p:sldId id="268" r:id="rId17"/>
    <p:sldId id="271" r:id="rId18"/>
    <p:sldId id="272" r:id="rId19"/>
    <p:sldId id="273" r:id="rId20"/>
    <p:sldId id="274" r:id="rId21"/>
    <p:sldId id="275"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36B7"/>
    <a:srgbClr val="DA7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513" autoAdjust="0"/>
  </p:normalViewPr>
  <p:slideViewPr>
    <p:cSldViewPr snapToGrid="0">
      <p:cViewPr varScale="1">
        <p:scale>
          <a:sx n="44" d="100"/>
          <a:sy n="44" d="100"/>
        </p:scale>
        <p:origin x="15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divya\Downloads\Model_Accuracy_Comparison.csv"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Model_Accuracy_Comparison!$B$1</c:f>
              <c:strCache>
                <c:ptCount val="1"/>
                <c:pt idx="0">
                  <c:v>DATA SPLIT</c:v>
                </c:pt>
              </c:strCache>
            </c:strRef>
          </c:tx>
          <c:spPr>
            <a:solidFill>
              <a:schemeClr val="accent1">
                <a:lumMod val="75000"/>
              </a:schemeClr>
            </a:solidFill>
            <a:ln>
              <a:noFill/>
            </a:ln>
            <a:effectLst/>
          </c:spPr>
          <c:invertIfNegative val="0"/>
          <c:cat>
            <c:strRef>
              <c:f>Model_Accuracy_Comparison!$A$2:$A$3</c:f>
              <c:strCache>
                <c:ptCount val="2"/>
                <c:pt idx="0">
                  <c:v>TRAINING DATA</c:v>
                </c:pt>
                <c:pt idx="1">
                  <c:v>TESTING DATA</c:v>
                </c:pt>
              </c:strCache>
            </c:strRef>
          </c:cat>
          <c:val>
            <c:numRef>
              <c:f>Model_Accuracy_Comparison!$B$2:$B$3</c:f>
              <c:numCache>
                <c:formatCode>General</c:formatCode>
                <c:ptCount val="2"/>
                <c:pt idx="0">
                  <c:v>80</c:v>
                </c:pt>
                <c:pt idx="1">
                  <c:v>20</c:v>
                </c:pt>
              </c:numCache>
            </c:numRef>
          </c:val>
          <c:extLst>
            <c:ext xmlns:c16="http://schemas.microsoft.com/office/drawing/2014/chart" uri="{C3380CC4-5D6E-409C-BE32-E72D297353CC}">
              <c16:uniqueId val="{00000000-BADF-4767-9374-687D9D59AD49}"/>
            </c:ext>
          </c:extLst>
        </c:ser>
        <c:dLbls>
          <c:showLegendKey val="0"/>
          <c:showVal val="0"/>
          <c:showCatName val="0"/>
          <c:showSerName val="0"/>
          <c:showPercent val="0"/>
          <c:showBubbleSize val="0"/>
        </c:dLbls>
        <c:gapWidth val="150"/>
        <c:overlap val="100"/>
        <c:axId val="1563949296"/>
        <c:axId val="1432613296"/>
      </c:barChart>
      <c:catAx>
        <c:axId val="1563949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32613296"/>
        <c:crosses val="autoZero"/>
        <c:auto val="1"/>
        <c:lblAlgn val="ctr"/>
        <c:lblOffset val="100"/>
        <c:noMultiLvlLbl val="0"/>
      </c:catAx>
      <c:valAx>
        <c:axId val="1432613296"/>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6394929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acrossLinear" id="2">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03DD04-A3A6-44D4-9847-6B874695D64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5357A56-78D3-42A1-BD33-FDA9E033E145}">
      <dgm:prSet/>
      <dgm:spPr/>
      <dgm:t>
        <a:bodyPr/>
        <a:lstStyle/>
        <a:p>
          <a:r>
            <a:rPr lang="en-US" dirty="0"/>
            <a:t>Overabundance of songs across genres makes it challenging for users to curate playlists based on desired energy levels.  </a:t>
          </a:r>
        </a:p>
      </dgm:t>
    </dgm:pt>
    <dgm:pt modelId="{1FBF598A-B46E-41FB-B5DE-3221CC5264F0}" type="parTrans" cxnId="{807AC0D9-645D-4B0E-8C74-CBDCBBAC5DD0}">
      <dgm:prSet/>
      <dgm:spPr/>
      <dgm:t>
        <a:bodyPr/>
        <a:lstStyle/>
        <a:p>
          <a:endParaRPr lang="en-US"/>
        </a:p>
      </dgm:t>
    </dgm:pt>
    <dgm:pt modelId="{809E96E6-8FB7-4346-939A-B3A03FEF595D}" type="sibTrans" cxnId="{807AC0D9-645D-4B0E-8C74-CBDCBBAC5DD0}">
      <dgm:prSet/>
      <dgm:spPr/>
      <dgm:t>
        <a:bodyPr/>
        <a:lstStyle/>
        <a:p>
          <a:endParaRPr lang="en-US"/>
        </a:p>
      </dgm:t>
    </dgm:pt>
    <dgm:pt modelId="{1BF8BE66-0564-454A-96B9-3D7C0E6FFF03}">
      <dgm:prSet/>
      <dgm:spPr/>
      <dgm:t>
        <a:bodyPr/>
        <a:lstStyle/>
        <a:p>
          <a:r>
            <a:rPr lang="en-US" dirty="0"/>
            <a:t>How often have you skipped a song because it didn't resonate with your current energy    levels</a:t>
          </a:r>
        </a:p>
      </dgm:t>
    </dgm:pt>
    <dgm:pt modelId="{B2D8E472-8C84-4B19-9741-BCEAD7D68DE0}" type="parTrans" cxnId="{15F87145-31E8-4C6D-B4FC-87D8C1235D6C}">
      <dgm:prSet/>
      <dgm:spPr/>
      <dgm:t>
        <a:bodyPr/>
        <a:lstStyle/>
        <a:p>
          <a:endParaRPr lang="en-US"/>
        </a:p>
      </dgm:t>
    </dgm:pt>
    <dgm:pt modelId="{CF692846-2B33-4966-9553-941AFC593AC0}" type="sibTrans" cxnId="{15F87145-31E8-4C6D-B4FC-87D8C1235D6C}">
      <dgm:prSet/>
      <dgm:spPr/>
      <dgm:t>
        <a:bodyPr/>
        <a:lstStyle/>
        <a:p>
          <a:endParaRPr lang="en-US"/>
        </a:p>
      </dgm:t>
    </dgm:pt>
    <dgm:pt modelId="{4856657B-0743-4B48-8CB5-193D9623586E}">
      <dgm:prSet/>
      <dgm:spPr/>
      <dgm:t>
        <a:bodyPr/>
        <a:lstStyle/>
        <a:p>
          <a:r>
            <a:rPr lang="en-US" dirty="0"/>
            <a:t>Do specific audio features in songs influence the energy  levels?</a:t>
          </a:r>
        </a:p>
      </dgm:t>
    </dgm:pt>
    <dgm:pt modelId="{246F8691-12C4-4A5C-BC2B-7C003FE08204}" type="parTrans" cxnId="{EAF87C4B-0BFA-4594-A4D1-179A7547D8FC}">
      <dgm:prSet/>
      <dgm:spPr/>
      <dgm:t>
        <a:bodyPr/>
        <a:lstStyle/>
        <a:p>
          <a:endParaRPr lang="en-US"/>
        </a:p>
      </dgm:t>
    </dgm:pt>
    <dgm:pt modelId="{FDA0F647-F256-4FBA-9A4F-DCE17D6FBAB6}" type="sibTrans" cxnId="{EAF87C4B-0BFA-4594-A4D1-179A7547D8FC}">
      <dgm:prSet/>
      <dgm:spPr/>
      <dgm:t>
        <a:bodyPr/>
        <a:lstStyle/>
        <a:p>
          <a:endParaRPr lang="en-US"/>
        </a:p>
      </dgm:t>
    </dgm:pt>
    <dgm:pt modelId="{25BBBAD3-EC4A-484F-BCD9-8007564C4CF3}">
      <dgm:prSet/>
      <dgm:spPr/>
      <dgm:t>
        <a:bodyPr/>
        <a:lstStyle/>
        <a:p>
          <a:r>
            <a:rPr lang="en-US" dirty="0"/>
            <a:t>Can we predict energetic songs from others with a certain  level of certainty?</a:t>
          </a:r>
        </a:p>
      </dgm:t>
    </dgm:pt>
    <dgm:pt modelId="{18E4DDFE-FA44-4BF2-9080-A416928874B5}" type="parTrans" cxnId="{B79CE512-5BEA-4E9C-A6BD-E3318A7236D2}">
      <dgm:prSet/>
      <dgm:spPr/>
      <dgm:t>
        <a:bodyPr/>
        <a:lstStyle/>
        <a:p>
          <a:endParaRPr lang="en-US"/>
        </a:p>
      </dgm:t>
    </dgm:pt>
    <dgm:pt modelId="{F9987939-1EC7-49C8-93B7-6A326A70B0AA}" type="sibTrans" cxnId="{B79CE512-5BEA-4E9C-A6BD-E3318A7236D2}">
      <dgm:prSet/>
      <dgm:spPr/>
      <dgm:t>
        <a:bodyPr/>
        <a:lstStyle/>
        <a:p>
          <a:endParaRPr lang="en-US"/>
        </a:p>
      </dgm:t>
    </dgm:pt>
    <dgm:pt modelId="{54F405DB-C987-43C2-AE05-6E4A7267A08C}" type="pres">
      <dgm:prSet presAssocID="{8103DD04-A3A6-44D4-9847-6B874695D64F}" presName="root" presStyleCnt="0">
        <dgm:presLayoutVars>
          <dgm:dir/>
          <dgm:resizeHandles val="exact"/>
        </dgm:presLayoutVars>
      </dgm:prSet>
      <dgm:spPr/>
    </dgm:pt>
    <dgm:pt modelId="{83B823E1-B8E7-49EC-B71B-B37638EAE547}" type="pres">
      <dgm:prSet presAssocID="{F5357A56-78D3-42A1-BD33-FDA9E033E145}" presName="compNode" presStyleCnt="0"/>
      <dgm:spPr/>
    </dgm:pt>
    <dgm:pt modelId="{FFADC400-3C79-40E3-A6B2-BA4DC7C869F0}" type="pres">
      <dgm:prSet presAssocID="{F5357A56-78D3-42A1-BD33-FDA9E033E145}" presName="bgRect" presStyleLbl="bgShp" presStyleIdx="0" presStyleCnt="4"/>
      <dgm:spPr/>
    </dgm:pt>
    <dgm:pt modelId="{097D5ED4-9EE8-4863-BAEB-5A2E482247CD}" type="pres">
      <dgm:prSet presAssocID="{F5357A56-78D3-42A1-BD33-FDA9E033E14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eble clef"/>
        </a:ext>
      </dgm:extLst>
    </dgm:pt>
    <dgm:pt modelId="{7E053AB3-8C07-4610-ABA1-121AEAC0863F}" type="pres">
      <dgm:prSet presAssocID="{F5357A56-78D3-42A1-BD33-FDA9E033E145}" presName="spaceRect" presStyleCnt="0"/>
      <dgm:spPr/>
    </dgm:pt>
    <dgm:pt modelId="{73DD7E1C-9D2B-421D-AEF3-09083E69BFBB}" type="pres">
      <dgm:prSet presAssocID="{F5357A56-78D3-42A1-BD33-FDA9E033E145}" presName="parTx" presStyleLbl="revTx" presStyleIdx="0" presStyleCnt="4">
        <dgm:presLayoutVars>
          <dgm:chMax val="0"/>
          <dgm:chPref val="0"/>
        </dgm:presLayoutVars>
      </dgm:prSet>
      <dgm:spPr/>
    </dgm:pt>
    <dgm:pt modelId="{2752E1A3-1C87-44C1-A1F1-F0391FC553C4}" type="pres">
      <dgm:prSet presAssocID="{809E96E6-8FB7-4346-939A-B3A03FEF595D}" presName="sibTrans" presStyleCnt="0"/>
      <dgm:spPr/>
    </dgm:pt>
    <dgm:pt modelId="{F4BBC25A-FC12-40FC-A074-5C0744EE148B}" type="pres">
      <dgm:prSet presAssocID="{1BF8BE66-0564-454A-96B9-3D7C0E6FFF03}" presName="compNode" presStyleCnt="0"/>
      <dgm:spPr/>
    </dgm:pt>
    <dgm:pt modelId="{2DDADDAE-F626-4EAE-A342-D44555EDDC8D}" type="pres">
      <dgm:prSet presAssocID="{1BF8BE66-0564-454A-96B9-3D7C0E6FFF03}" presName="bgRect" presStyleLbl="bgShp" presStyleIdx="1" presStyleCnt="4"/>
      <dgm:spPr/>
    </dgm:pt>
    <dgm:pt modelId="{FA6ED735-3EB1-4450-A4DF-870A83A4E59F}" type="pres">
      <dgm:prSet presAssocID="{1BF8BE66-0564-454A-96B9-3D7C0E6FFF0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usic"/>
        </a:ext>
      </dgm:extLst>
    </dgm:pt>
    <dgm:pt modelId="{F40DAA34-2594-453C-9D1F-8A3417C746BB}" type="pres">
      <dgm:prSet presAssocID="{1BF8BE66-0564-454A-96B9-3D7C0E6FFF03}" presName="spaceRect" presStyleCnt="0"/>
      <dgm:spPr/>
    </dgm:pt>
    <dgm:pt modelId="{BA7E2B87-A321-4B59-91F4-D891E5FE2877}" type="pres">
      <dgm:prSet presAssocID="{1BF8BE66-0564-454A-96B9-3D7C0E6FFF03}" presName="parTx" presStyleLbl="revTx" presStyleIdx="1" presStyleCnt="4">
        <dgm:presLayoutVars>
          <dgm:chMax val="0"/>
          <dgm:chPref val="0"/>
        </dgm:presLayoutVars>
      </dgm:prSet>
      <dgm:spPr/>
    </dgm:pt>
    <dgm:pt modelId="{9C70C540-C94E-4AEA-A27C-79E302BDEC32}" type="pres">
      <dgm:prSet presAssocID="{CF692846-2B33-4966-9553-941AFC593AC0}" presName="sibTrans" presStyleCnt="0"/>
      <dgm:spPr/>
    </dgm:pt>
    <dgm:pt modelId="{C006A5B0-41FB-4680-B504-2EB7A0EE53FC}" type="pres">
      <dgm:prSet presAssocID="{4856657B-0743-4B48-8CB5-193D9623586E}" presName="compNode" presStyleCnt="0"/>
      <dgm:spPr/>
    </dgm:pt>
    <dgm:pt modelId="{817B27E8-7159-47AC-9AD1-710BA8C37144}" type="pres">
      <dgm:prSet presAssocID="{4856657B-0743-4B48-8CB5-193D9623586E}" presName="bgRect" presStyleLbl="bgShp" presStyleIdx="2" presStyleCnt="4"/>
      <dgm:spPr/>
    </dgm:pt>
    <dgm:pt modelId="{30597CEB-A04A-4748-8257-7D16A855DFF3}" type="pres">
      <dgm:prSet presAssocID="{4856657B-0743-4B48-8CB5-193D9623586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usic Notes"/>
        </a:ext>
      </dgm:extLst>
    </dgm:pt>
    <dgm:pt modelId="{5104D0CF-BD00-4499-B263-B13F0C7FA292}" type="pres">
      <dgm:prSet presAssocID="{4856657B-0743-4B48-8CB5-193D9623586E}" presName="spaceRect" presStyleCnt="0"/>
      <dgm:spPr/>
    </dgm:pt>
    <dgm:pt modelId="{4E693C72-76B1-4E08-BB68-126A85E810D0}" type="pres">
      <dgm:prSet presAssocID="{4856657B-0743-4B48-8CB5-193D9623586E}" presName="parTx" presStyleLbl="revTx" presStyleIdx="2" presStyleCnt="4">
        <dgm:presLayoutVars>
          <dgm:chMax val="0"/>
          <dgm:chPref val="0"/>
        </dgm:presLayoutVars>
      </dgm:prSet>
      <dgm:spPr/>
    </dgm:pt>
    <dgm:pt modelId="{6D82CC00-4827-4F5B-9501-51690A3CC5C6}" type="pres">
      <dgm:prSet presAssocID="{FDA0F647-F256-4FBA-9A4F-DCE17D6FBAB6}" presName="sibTrans" presStyleCnt="0"/>
      <dgm:spPr/>
    </dgm:pt>
    <dgm:pt modelId="{970BF2E2-A8FB-4597-BDB2-E2D448965E13}" type="pres">
      <dgm:prSet presAssocID="{25BBBAD3-EC4A-484F-BCD9-8007564C4CF3}" presName="compNode" presStyleCnt="0"/>
      <dgm:spPr/>
    </dgm:pt>
    <dgm:pt modelId="{C8CD7E7E-E32C-44E6-BBB9-2F7DC3CC1592}" type="pres">
      <dgm:prSet presAssocID="{25BBBAD3-EC4A-484F-BCD9-8007564C4CF3}" presName="bgRect" presStyleLbl="bgShp" presStyleIdx="3" presStyleCnt="4"/>
      <dgm:spPr/>
    </dgm:pt>
    <dgm:pt modelId="{5085B40E-7584-45DA-BBB7-BEF5BB045F4C}" type="pres">
      <dgm:prSet presAssocID="{25BBBAD3-EC4A-484F-BCD9-8007564C4CF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nductor"/>
        </a:ext>
      </dgm:extLst>
    </dgm:pt>
    <dgm:pt modelId="{33462512-5CCD-4702-978B-14792B73B03A}" type="pres">
      <dgm:prSet presAssocID="{25BBBAD3-EC4A-484F-BCD9-8007564C4CF3}" presName="spaceRect" presStyleCnt="0"/>
      <dgm:spPr/>
    </dgm:pt>
    <dgm:pt modelId="{F6BA57A8-1D28-45DB-B5B8-960E7314480A}" type="pres">
      <dgm:prSet presAssocID="{25BBBAD3-EC4A-484F-BCD9-8007564C4CF3}" presName="parTx" presStyleLbl="revTx" presStyleIdx="3" presStyleCnt="4">
        <dgm:presLayoutVars>
          <dgm:chMax val="0"/>
          <dgm:chPref val="0"/>
        </dgm:presLayoutVars>
      </dgm:prSet>
      <dgm:spPr/>
    </dgm:pt>
  </dgm:ptLst>
  <dgm:cxnLst>
    <dgm:cxn modelId="{B79CE512-5BEA-4E9C-A6BD-E3318A7236D2}" srcId="{8103DD04-A3A6-44D4-9847-6B874695D64F}" destId="{25BBBAD3-EC4A-484F-BCD9-8007564C4CF3}" srcOrd="3" destOrd="0" parTransId="{18E4DDFE-FA44-4BF2-9080-A416928874B5}" sibTransId="{F9987939-1EC7-49C8-93B7-6A326A70B0AA}"/>
    <dgm:cxn modelId="{15F87145-31E8-4C6D-B4FC-87D8C1235D6C}" srcId="{8103DD04-A3A6-44D4-9847-6B874695D64F}" destId="{1BF8BE66-0564-454A-96B9-3D7C0E6FFF03}" srcOrd="1" destOrd="0" parTransId="{B2D8E472-8C84-4B19-9741-BCEAD7D68DE0}" sibTransId="{CF692846-2B33-4966-9553-941AFC593AC0}"/>
    <dgm:cxn modelId="{EAF87C4B-0BFA-4594-A4D1-179A7547D8FC}" srcId="{8103DD04-A3A6-44D4-9847-6B874695D64F}" destId="{4856657B-0743-4B48-8CB5-193D9623586E}" srcOrd="2" destOrd="0" parTransId="{246F8691-12C4-4A5C-BC2B-7C003FE08204}" sibTransId="{FDA0F647-F256-4FBA-9A4F-DCE17D6FBAB6}"/>
    <dgm:cxn modelId="{E7329572-7651-4E60-84C3-FE1122F1911B}" type="presOf" srcId="{8103DD04-A3A6-44D4-9847-6B874695D64F}" destId="{54F405DB-C987-43C2-AE05-6E4A7267A08C}" srcOrd="0" destOrd="0" presId="urn:microsoft.com/office/officeart/2018/2/layout/IconVerticalSolidList"/>
    <dgm:cxn modelId="{BF6D1085-888B-4506-93E7-92067888007E}" type="presOf" srcId="{1BF8BE66-0564-454A-96B9-3D7C0E6FFF03}" destId="{BA7E2B87-A321-4B59-91F4-D891E5FE2877}" srcOrd="0" destOrd="0" presId="urn:microsoft.com/office/officeart/2018/2/layout/IconVerticalSolidList"/>
    <dgm:cxn modelId="{C25E07A5-8F2B-44F8-8357-D78CEF04E848}" type="presOf" srcId="{F5357A56-78D3-42A1-BD33-FDA9E033E145}" destId="{73DD7E1C-9D2B-421D-AEF3-09083E69BFBB}" srcOrd="0" destOrd="0" presId="urn:microsoft.com/office/officeart/2018/2/layout/IconVerticalSolidList"/>
    <dgm:cxn modelId="{A0BD1CB4-9499-4227-917C-3953B443C743}" type="presOf" srcId="{4856657B-0743-4B48-8CB5-193D9623586E}" destId="{4E693C72-76B1-4E08-BB68-126A85E810D0}" srcOrd="0" destOrd="0" presId="urn:microsoft.com/office/officeart/2018/2/layout/IconVerticalSolidList"/>
    <dgm:cxn modelId="{8761DAB5-9B22-4C52-99A0-953C5FDAAA23}" type="presOf" srcId="{25BBBAD3-EC4A-484F-BCD9-8007564C4CF3}" destId="{F6BA57A8-1D28-45DB-B5B8-960E7314480A}" srcOrd="0" destOrd="0" presId="urn:microsoft.com/office/officeart/2018/2/layout/IconVerticalSolidList"/>
    <dgm:cxn modelId="{807AC0D9-645D-4B0E-8C74-CBDCBBAC5DD0}" srcId="{8103DD04-A3A6-44D4-9847-6B874695D64F}" destId="{F5357A56-78D3-42A1-BD33-FDA9E033E145}" srcOrd="0" destOrd="0" parTransId="{1FBF598A-B46E-41FB-B5DE-3221CC5264F0}" sibTransId="{809E96E6-8FB7-4346-939A-B3A03FEF595D}"/>
    <dgm:cxn modelId="{F0794187-5CC8-441B-B5A9-44BDE84EEF8F}" type="presParOf" srcId="{54F405DB-C987-43C2-AE05-6E4A7267A08C}" destId="{83B823E1-B8E7-49EC-B71B-B37638EAE547}" srcOrd="0" destOrd="0" presId="urn:microsoft.com/office/officeart/2018/2/layout/IconVerticalSolidList"/>
    <dgm:cxn modelId="{27F8718A-BF16-4A2F-BEBB-F6BDAB33DB05}" type="presParOf" srcId="{83B823E1-B8E7-49EC-B71B-B37638EAE547}" destId="{FFADC400-3C79-40E3-A6B2-BA4DC7C869F0}" srcOrd="0" destOrd="0" presId="urn:microsoft.com/office/officeart/2018/2/layout/IconVerticalSolidList"/>
    <dgm:cxn modelId="{4F3F5768-1360-4E96-9019-045538C141A0}" type="presParOf" srcId="{83B823E1-B8E7-49EC-B71B-B37638EAE547}" destId="{097D5ED4-9EE8-4863-BAEB-5A2E482247CD}" srcOrd="1" destOrd="0" presId="urn:microsoft.com/office/officeart/2018/2/layout/IconVerticalSolidList"/>
    <dgm:cxn modelId="{9F65A3E2-16A6-463E-9B45-E29B3DBF6E41}" type="presParOf" srcId="{83B823E1-B8E7-49EC-B71B-B37638EAE547}" destId="{7E053AB3-8C07-4610-ABA1-121AEAC0863F}" srcOrd="2" destOrd="0" presId="urn:microsoft.com/office/officeart/2018/2/layout/IconVerticalSolidList"/>
    <dgm:cxn modelId="{44A92C83-9389-4E61-8A3A-79EFC256D043}" type="presParOf" srcId="{83B823E1-B8E7-49EC-B71B-B37638EAE547}" destId="{73DD7E1C-9D2B-421D-AEF3-09083E69BFBB}" srcOrd="3" destOrd="0" presId="urn:microsoft.com/office/officeart/2018/2/layout/IconVerticalSolidList"/>
    <dgm:cxn modelId="{F563B14A-F3CC-4661-B08B-D78210B846AF}" type="presParOf" srcId="{54F405DB-C987-43C2-AE05-6E4A7267A08C}" destId="{2752E1A3-1C87-44C1-A1F1-F0391FC553C4}" srcOrd="1" destOrd="0" presId="urn:microsoft.com/office/officeart/2018/2/layout/IconVerticalSolidList"/>
    <dgm:cxn modelId="{A867ABE7-C448-4D32-87E1-86DF66B3343C}" type="presParOf" srcId="{54F405DB-C987-43C2-AE05-6E4A7267A08C}" destId="{F4BBC25A-FC12-40FC-A074-5C0744EE148B}" srcOrd="2" destOrd="0" presId="urn:microsoft.com/office/officeart/2018/2/layout/IconVerticalSolidList"/>
    <dgm:cxn modelId="{5ABBB662-9FBA-40AE-928D-4B447707D071}" type="presParOf" srcId="{F4BBC25A-FC12-40FC-A074-5C0744EE148B}" destId="{2DDADDAE-F626-4EAE-A342-D44555EDDC8D}" srcOrd="0" destOrd="0" presId="urn:microsoft.com/office/officeart/2018/2/layout/IconVerticalSolidList"/>
    <dgm:cxn modelId="{64331C65-C777-4C68-8C89-1EC10445CD09}" type="presParOf" srcId="{F4BBC25A-FC12-40FC-A074-5C0744EE148B}" destId="{FA6ED735-3EB1-4450-A4DF-870A83A4E59F}" srcOrd="1" destOrd="0" presId="urn:microsoft.com/office/officeart/2018/2/layout/IconVerticalSolidList"/>
    <dgm:cxn modelId="{F86A168A-F13B-4AA5-96B1-10C8200F5C36}" type="presParOf" srcId="{F4BBC25A-FC12-40FC-A074-5C0744EE148B}" destId="{F40DAA34-2594-453C-9D1F-8A3417C746BB}" srcOrd="2" destOrd="0" presId="urn:microsoft.com/office/officeart/2018/2/layout/IconVerticalSolidList"/>
    <dgm:cxn modelId="{C8ACCD1D-653B-4BBB-B95F-C0C770B37A70}" type="presParOf" srcId="{F4BBC25A-FC12-40FC-A074-5C0744EE148B}" destId="{BA7E2B87-A321-4B59-91F4-D891E5FE2877}" srcOrd="3" destOrd="0" presId="urn:microsoft.com/office/officeart/2018/2/layout/IconVerticalSolidList"/>
    <dgm:cxn modelId="{17FB012C-9D1E-4F93-9B09-57199E918F2A}" type="presParOf" srcId="{54F405DB-C987-43C2-AE05-6E4A7267A08C}" destId="{9C70C540-C94E-4AEA-A27C-79E302BDEC32}" srcOrd="3" destOrd="0" presId="urn:microsoft.com/office/officeart/2018/2/layout/IconVerticalSolidList"/>
    <dgm:cxn modelId="{FA56C7D7-FC51-4E1B-B8A8-A33CFCDDF0DF}" type="presParOf" srcId="{54F405DB-C987-43C2-AE05-6E4A7267A08C}" destId="{C006A5B0-41FB-4680-B504-2EB7A0EE53FC}" srcOrd="4" destOrd="0" presId="urn:microsoft.com/office/officeart/2018/2/layout/IconVerticalSolidList"/>
    <dgm:cxn modelId="{9823EDF1-6129-4DAB-B796-162DA7DAD2D5}" type="presParOf" srcId="{C006A5B0-41FB-4680-B504-2EB7A0EE53FC}" destId="{817B27E8-7159-47AC-9AD1-710BA8C37144}" srcOrd="0" destOrd="0" presId="urn:microsoft.com/office/officeart/2018/2/layout/IconVerticalSolidList"/>
    <dgm:cxn modelId="{1B7175C6-4406-41DD-B41D-75BE7414C737}" type="presParOf" srcId="{C006A5B0-41FB-4680-B504-2EB7A0EE53FC}" destId="{30597CEB-A04A-4748-8257-7D16A855DFF3}" srcOrd="1" destOrd="0" presId="urn:microsoft.com/office/officeart/2018/2/layout/IconVerticalSolidList"/>
    <dgm:cxn modelId="{500B5DE7-105D-4E8C-91F8-815D93726373}" type="presParOf" srcId="{C006A5B0-41FB-4680-B504-2EB7A0EE53FC}" destId="{5104D0CF-BD00-4499-B263-B13F0C7FA292}" srcOrd="2" destOrd="0" presId="urn:microsoft.com/office/officeart/2018/2/layout/IconVerticalSolidList"/>
    <dgm:cxn modelId="{6F66B110-3A34-4BE5-A927-FDBC2231AEC7}" type="presParOf" srcId="{C006A5B0-41FB-4680-B504-2EB7A0EE53FC}" destId="{4E693C72-76B1-4E08-BB68-126A85E810D0}" srcOrd="3" destOrd="0" presId="urn:microsoft.com/office/officeart/2018/2/layout/IconVerticalSolidList"/>
    <dgm:cxn modelId="{52471E8E-6E4A-4D9C-92EE-013026A3B524}" type="presParOf" srcId="{54F405DB-C987-43C2-AE05-6E4A7267A08C}" destId="{6D82CC00-4827-4F5B-9501-51690A3CC5C6}" srcOrd="5" destOrd="0" presId="urn:microsoft.com/office/officeart/2018/2/layout/IconVerticalSolidList"/>
    <dgm:cxn modelId="{37804241-D208-49F2-9DD8-85F0E622CFC8}" type="presParOf" srcId="{54F405DB-C987-43C2-AE05-6E4A7267A08C}" destId="{970BF2E2-A8FB-4597-BDB2-E2D448965E13}" srcOrd="6" destOrd="0" presId="urn:microsoft.com/office/officeart/2018/2/layout/IconVerticalSolidList"/>
    <dgm:cxn modelId="{9A058153-00B9-4125-918C-450E3927C6E5}" type="presParOf" srcId="{970BF2E2-A8FB-4597-BDB2-E2D448965E13}" destId="{C8CD7E7E-E32C-44E6-BBB9-2F7DC3CC1592}" srcOrd="0" destOrd="0" presId="urn:microsoft.com/office/officeart/2018/2/layout/IconVerticalSolidList"/>
    <dgm:cxn modelId="{3236F005-98BD-40C1-B901-C542BE2FB00D}" type="presParOf" srcId="{970BF2E2-A8FB-4597-BDB2-E2D448965E13}" destId="{5085B40E-7584-45DA-BBB7-BEF5BB045F4C}" srcOrd="1" destOrd="0" presId="urn:microsoft.com/office/officeart/2018/2/layout/IconVerticalSolidList"/>
    <dgm:cxn modelId="{AEA66383-CCDE-4972-9A76-F79A273921C4}" type="presParOf" srcId="{970BF2E2-A8FB-4597-BDB2-E2D448965E13}" destId="{33462512-5CCD-4702-978B-14792B73B03A}" srcOrd="2" destOrd="0" presId="urn:microsoft.com/office/officeart/2018/2/layout/IconVerticalSolidList"/>
    <dgm:cxn modelId="{B8558088-596C-4C99-A6D3-904542A03565}" type="presParOf" srcId="{970BF2E2-A8FB-4597-BDB2-E2D448965E13}" destId="{F6BA57A8-1D28-45DB-B5B8-960E7314480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99BB11-7B30-463E-8B21-F92B63EDCFC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0E5F3D5-286A-44CE-964A-29DE99985FD5}">
      <dgm:prSet/>
      <dgm:spPr/>
      <dgm:t>
        <a:bodyPr/>
        <a:lstStyle/>
        <a:p>
          <a:r>
            <a:rPr lang="en-US"/>
            <a:t>30,000+ songs and their features.</a:t>
          </a:r>
        </a:p>
      </dgm:t>
    </dgm:pt>
    <dgm:pt modelId="{6F24CEFE-AB4C-4409-9991-00FCCC02BB78}" type="parTrans" cxnId="{EA28D5AF-B31A-486B-B362-6991CE6D82B9}">
      <dgm:prSet/>
      <dgm:spPr/>
      <dgm:t>
        <a:bodyPr/>
        <a:lstStyle/>
        <a:p>
          <a:endParaRPr lang="en-US"/>
        </a:p>
      </dgm:t>
    </dgm:pt>
    <dgm:pt modelId="{375B4FC0-035D-4F86-8290-AA3D9ACF77C8}" type="sibTrans" cxnId="{EA28D5AF-B31A-486B-B362-6991CE6D82B9}">
      <dgm:prSet/>
      <dgm:spPr/>
      <dgm:t>
        <a:bodyPr/>
        <a:lstStyle/>
        <a:p>
          <a:endParaRPr lang="en-US"/>
        </a:p>
      </dgm:t>
    </dgm:pt>
    <dgm:pt modelId="{599B40D4-C8C5-4271-8911-FCF65F906B9C}">
      <dgm:prSet/>
      <dgm:spPr/>
      <dgm:t>
        <a:bodyPr/>
        <a:lstStyle/>
        <a:p>
          <a:r>
            <a:rPr lang="en-US"/>
            <a:t>Energy measure of intensity and activity. Energetic tracks feel fast, loud, and noisy.</a:t>
          </a:r>
        </a:p>
      </dgm:t>
    </dgm:pt>
    <dgm:pt modelId="{23C5487B-7C0D-4187-84C1-752B50C7426D}" type="parTrans" cxnId="{7905F0B7-C642-47D2-95DC-60759A928F8F}">
      <dgm:prSet/>
      <dgm:spPr/>
      <dgm:t>
        <a:bodyPr/>
        <a:lstStyle/>
        <a:p>
          <a:endParaRPr lang="en-US"/>
        </a:p>
      </dgm:t>
    </dgm:pt>
    <dgm:pt modelId="{8A32CDA6-D931-4597-995C-1340D6C340A3}" type="sibTrans" cxnId="{7905F0B7-C642-47D2-95DC-60759A928F8F}">
      <dgm:prSet/>
      <dgm:spPr/>
      <dgm:t>
        <a:bodyPr/>
        <a:lstStyle/>
        <a:p>
          <a:endParaRPr lang="en-US"/>
        </a:p>
      </dgm:t>
    </dgm:pt>
    <dgm:pt modelId="{B00DD89A-F831-4765-AF7A-5BDD7A601275}">
      <dgm:prSet/>
      <dgm:spPr/>
      <dgm:t>
        <a:bodyPr/>
        <a:lstStyle/>
        <a:p>
          <a:r>
            <a:rPr lang="en-US"/>
            <a:t>Loudness is the quality of a sound that is the primary psychological correlate of physical strength (amplitude). Values typical range between -60 and 0 dB.</a:t>
          </a:r>
        </a:p>
      </dgm:t>
    </dgm:pt>
    <dgm:pt modelId="{E11A323C-1F3B-4318-8AAE-E458704E80DD}" type="parTrans" cxnId="{170857F9-02C0-4D4B-8DF3-11800DD1D264}">
      <dgm:prSet/>
      <dgm:spPr/>
      <dgm:t>
        <a:bodyPr/>
        <a:lstStyle/>
        <a:p>
          <a:endParaRPr lang="en-US"/>
        </a:p>
      </dgm:t>
    </dgm:pt>
    <dgm:pt modelId="{9E9A03C3-DF3E-4E14-9B38-A522ECB93F80}" type="sibTrans" cxnId="{170857F9-02C0-4D4B-8DF3-11800DD1D264}">
      <dgm:prSet/>
      <dgm:spPr/>
      <dgm:t>
        <a:bodyPr/>
        <a:lstStyle/>
        <a:p>
          <a:endParaRPr lang="en-US"/>
        </a:p>
      </dgm:t>
    </dgm:pt>
    <dgm:pt modelId="{C7D52BAA-31DD-4424-AE23-21FC4FF13D7B}">
      <dgm:prSet/>
      <dgm:spPr/>
      <dgm:t>
        <a:bodyPr/>
        <a:lstStyle/>
        <a:p>
          <a:r>
            <a:rPr lang="en-US"/>
            <a:t>Speechiness detects the presence of spoken words in a track. The more exclusively speech-like the recording (e.g., talk show, audiobook, poetry), the closer to 1.0 the attribute value.</a:t>
          </a:r>
        </a:p>
      </dgm:t>
    </dgm:pt>
    <dgm:pt modelId="{1990FA1C-3FC1-4194-927B-76B164648D8B}" type="parTrans" cxnId="{4A5E0D5B-67D7-484D-831E-9F64AE05EFE6}">
      <dgm:prSet/>
      <dgm:spPr/>
      <dgm:t>
        <a:bodyPr/>
        <a:lstStyle/>
        <a:p>
          <a:endParaRPr lang="en-US"/>
        </a:p>
      </dgm:t>
    </dgm:pt>
    <dgm:pt modelId="{C682C890-1C5B-4D9D-BBA5-10F809031752}" type="sibTrans" cxnId="{4A5E0D5B-67D7-484D-831E-9F64AE05EFE6}">
      <dgm:prSet/>
      <dgm:spPr/>
      <dgm:t>
        <a:bodyPr/>
        <a:lstStyle/>
        <a:p>
          <a:endParaRPr lang="en-US"/>
        </a:p>
      </dgm:t>
    </dgm:pt>
    <dgm:pt modelId="{C4D48D89-7337-4541-A4EC-0FC69EC45042}">
      <dgm:prSet/>
      <dgm:spPr/>
      <dgm:t>
        <a:bodyPr/>
        <a:lstStyle/>
        <a:p>
          <a:r>
            <a:rPr lang="en-US"/>
            <a:t>Acousticness: Value describes how acoustic a song is. A score of 1.0 means the song is most likely to be an acoustic one.</a:t>
          </a:r>
        </a:p>
      </dgm:t>
    </dgm:pt>
    <dgm:pt modelId="{2D1346D7-AC1F-4631-94D1-B89C93B71BD1}" type="parTrans" cxnId="{3ADA7F5C-C19F-4AD5-AE55-9A164501EAAE}">
      <dgm:prSet/>
      <dgm:spPr/>
      <dgm:t>
        <a:bodyPr/>
        <a:lstStyle/>
        <a:p>
          <a:endParaRPr lang="en-US"/>
        </a:p>
      </dgm:t>
    </dgm:pt>
    <dgm:pt modelId="{21578442-CEAA-44F1-BC99-A23CF2336122}" type="sibTrans" cxnId="{3ADA7F5C-C19F-4AD5-AE55-9A164501EAAE}">
      <dgm:prSet/>
      <dgm:spPr/>
      <dgm:t>
        <a:bodyPr/>
        <a:lstStyle/>
        <a:p>
          <a:endParaRPr lang="en-US"/>
        </a:p>
      </dgm:t>
    </dgm:pt>
    <dgm:pt modelId="{82CB186E-6EAC-4648-9D6C-B78B76615071}">
      <dgm:prSet/>
      <dgm:spPr/>
      <dgm:t>
        <a:bodyPr/>
        <a:lstStyle/>
        <a:p>
          <a:r>
            <a:rPr lang="en-US"/>
            <a:t>Tempo is the speed or pace of a given piece and derives directly from the average beat duration.</a:t>
          </a:r>
        </a:p>
      </dgm:t>
    </dgm:pt>
    <dgm:pt modelId="{58EB72DD-07AC-45B2-AA6E-6EA248226671}" type="parTrans" cxnId="{B3E249D8-F780-42B0-9F8E-938749799979}">
      <dgm:prSet/>
      <dgm:spPr/>
      <dgm:t>
        <a:bodyPr/>
        <a:lstStyle/>
        <a:p>
          <a:endParaRPr lang="en-US"/>
        </a:p>
      </dgm:t>
    </dgm:pt>
    <dgm:pt modelId="{4120D8E0-E16C-4D44-9CDB-CE0440131152}" type="sibTrans" cxnId="{B3E249D8-F780-42B0-9F8E-938749799979}">
      <dgm:prSet/>
      <dgm:spPr/>
      <dgm:t>
        <a:bodyPr/>
        <a:lstStyle/>
        <a:p>
          <a:endParaRPr lang="en-US"/>
        </a:p>
      </dgm:t>
    </dgm:pt>
    <dgm:pt modelId="{1B082695-32AD-4375-B0AB-E6143BA9D5E2}" type="pres">
      <dgm:prSet presAssocID="{1999BB11-7B30-463E-8B21-F92B63EDCFCD}" presName="root" presStyleCnt="0">
        <dgm:presLayoutVars>
          <dgm:dir/>
          <dgm:resizeHandles val="exact"/>
        </dgm:presLayoutVars>
      </dgm:prSet>
      <dgm:spPr/>
    </dgm:pt>
    <dgm:pt modelId="{CCECE5CC-96E8-4AF2-8F64-3E420E3A1CB1}" type="pres">
      <dgm:prSet presAssocID="{20E5F3D5-286A-44CE-964A-29DE99985FD5}" presName="compNode" presStyleCnt="0"/>
      <dgm:spPr/>
    </dgm:pt>
    <dgm:pt modelId="{E3A6279C-0FCE-4B11-AF57-24CF1DB3FFE3}" type="pres">
      <dgm:prSet presAssocID="{20E5F3D5-286A-44CE-964A-29DE99985FD5}" presName="bgRect" presStyleLbl="bgShp" presStyleIdx="0" presStyleCnt="6"/>
      <dgm:spPr/>
    </dgm:pt>
    <dgm:pt modelId="{C92543FF-FEA4-4B0C-A21B-5E2D3CEA4ECD}" type="pres">
      <dgm:prSet presAssocID="{20E5F3D5-286A-44CE-964A-29DE99985FD5}"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eble clef"/>
        </a:ext>
      </dgm:extLst>
    </dgm:pt>
    <dgm:pt modelId="{94E48D0A-4BD6-417E-98F4-CC34CB294BC1}" type="pres">
      <dgm:prSet presAssocID="{20E5F3D5-286A-44CE-964A-29DE99985FD5}" presName="spaceRect" presStyleCnt="0"/>
      <dgm:spPr/>
    </dgm:pt>
    <dgm:pt modelId="{6AF0A764-4E3A-4C20-896F-AAFFC81B8984}" type="pres">
      <dgm:prSet presAssocID="{20E5F3D5-286A-44CE-964A-29DE99985FD5}" presName="parTx" presStyleLbl="revTx" presStyleIdx="0" presStyleCnt="6">
        <dgm:presLayoutVars>
          <dgm:chMax val="0"/>
          <dgm:chPref val="0"/>
        </dgm:presLayoutVars>
      </dgm:prSet>
      <dgm:spPr/>
    </dgm:pt>
    <dgm:pt modelId="{5FFAA5A2-60DB-46D2-8B5F-A466ECFE75EC}" type="pres">
      <dgm:prSet presAssocID="{375B4FC0-035D-4F86-8290-AA3D9ACF77C8}" presName="sibTrans" presStyleCnt="0"/>
      <dgm:spPr/>
    </dgm:pt>
    <dgm:pt modelId="{F5BF61CD-D3CD-407F-811E-BB5B645AFBC9}" type="pres">
      <dgm:prSet presAssocID="{599B40D4-C8C5-4271-8911-FCF65F906B9C}" presName="compNode" presStyleCnt="0"/>
      <dgm:spPr/>
    </dgm:pt>
    <dgm:pt modelId="{9BA7A7D8-B379-4FD9-B600-8DD8278E7F9D}" type="pres">
      <dgm:prSet presAssocID="{599B40D4-C8C5-4271-8911-FCF65F906B9C}" presName="bgRect" presStyleLbl="bgShp" presStyleIdx="1" presStyleCnt="6"/>
      <dgm:spPr/>
    </dgm:pt>
    <dgm:pt modelId="{23BCE4AF-C1D5-4DF7-BA83-76326A57F565}" type="pres">
      <dgm:prSet presAssocID="{599B40D4-C8C5-4271-8911-FCF65F906B9C}"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Voice"/>
        </a:ext>
      </dgm:extLst>
    </dgm:pt>
    <dgm:pt modelId="{AB6F901B-AA43-42D3-82D0-AB497B1E2504}" type="pres">
      <dgm:prSet presAssocID="{599B40D4-C8C5-4271-8911-FCF65F906B9C}" presName="spaceRect" presStyleCnt="0"/>
      <dgm:spPr/>
    </dgm:pt>
    <dgm:pt modelId="{4060E004-D913-4E57-83FD-8C4E48E1E3ED}" type="pres">
      <dgm:prSet presAssocID="{599B40D4-C8C5-4271-8911-FCF65F906B9C}" presName="parTx" presStyleLbl="revTx" presStyleIdx="1" presStyleCnt="6">
        <dgm:presLayoutVars>
          <dgm:chMax val="0"/>
          <dgm:chPref val="0"/>
        </dgm:presLayoutVars>
      </dgm:prSet>
      <dgm:spPr/>
    </dgm:pt>
    <dgm:pt modelId="{B6EF89C0-20EC-4CD9-96D7-4863C44DB502}" type="pres">
      <dgm:prSet presAssocID="{8A32CDA6-D931-4597-995C-1340D6C340A3}" presName="sibTrans" presStyleCnt="0"/>
      <dgm:spPr/>
    </dgm:pt>
    <dgm:pt modelId="{8D363154-04A4-41F4-BE29-A41681A59F34}" type="pres">
      <dgm:prSet presAssocID="{B00DD89A-F831-4765-AF7A-5BDD7A601275}" presName="compNode" presStyleCnt="0"/>
      <dgm:spPr/>
    </dgm:pt>
    <dgm:pt modelId="{C934AE0E-FFD2-42E5-88A3-3592285D28A5}" type="pres">
      <dgm:prSet presAssocID="{B00DD89A-F831-4765-AF7A-5BDD7A601275}" presName="bgRect" presStyleLbl="bgShp" presStyleIdx="2" presStyleCnt="6"/>
      <dgm:spPr/>
    </dgm:pt>
    <dgm:pt modelId="{86C526E1-3900-4DC4-83D5-3F513FD80A67}" type="pres">
      <dgm:prSet presAssocID="{B00DD89A-F831-4765-AF7A-5BDD7A601275}"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inger"/>
        </a:ext>
      </dgm:extLst>
    </dgm:pt>
    <dgm:pt modelId="{1A0EE99F-A674-4A4A-8888-774714D9F36B}" type="pres">
      <dgm:prSet presAssocID="{B00DD89A-F831-4765-AF7A-5BDD7A601275}" presName="spaceRect" presStyleCnt="0"/>
      <dgm:spPr/>
    </dgm:pt>
    <dgm:pt modelId="{E29D5449-B688-441F-9F58-6043B03BD746}" type="pres">
      <dgm:prSet presAssocID="{B00DD89A-F831-4765-AF7A-5BDD7A601275}" presName="parTx" presStyleLbl="revTx" presStyleIdx="2" presStyleCnt="6">
        <dgm:presLayoutVars>
          <dgm:chMax val="0"/>
          <dgm:chPref val="0"/>
        </dgm:presLayoutVars>
      </dgm:prSet>
      <dgm:spPr/>
    </dgm:pt>
    <dgm:pt modelId="{B0234699-7004-45E7-9ACE-FEFA6355AFAD}" type="pres">
      <dgm:prSet presAssocID="{9E9A03C3-DF3E-4E14-9B38-A522ECB93F80}" presName="sibTrans" presStyleCnt="0"/>
      <dgm:spPr/>
    </dgm:pt>
    <dgm:pt modelId="{2240992D-155F-447B-8EF5-8AE310543AF3}" type="pres">
      <dgm:prSet presAssocID="{C7D52BAA-31DD-4424-AE23-21FC4FF13D7B}" presName="compNode" presStyleCnt="0"/>
      <dgm:spPr/>
    </dgm:pt>
    <dgm:pt modelId="{A4807609-7F12-4FA2-AABA-D36F6567F51E}" type="pres">
      <dgm:prSet presAssocID="{C7D52BAA-31DD-4424-AE23-21FC4FF13D7B}" presName="bgRect" presStyleLbl="bgShp" presStyleIdx="3" presStyleCnt="6"/>
      <dgm:spPr/>
    </dgm:pt>
    <dgm:pt modelId="{CC24C848-FEEF-4B32-8524-59C4B58ED08B}" type="pres">
      <dgm:prSet presAssocID="{C7D52BAA-31DD-4424-AE23-21FC4FF13D7B}"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Ear"/>
        </a:ext>
      </dgm:extLst>
    </dgm:pt>
    <dgm:pt modelId="{7BF26226-F2CC-4F2B-9622-EE348D1C09DB}" type="pres">
      <dgm:prSet presAssocID="{C7D52BAA-31DD-4424-AE23-21FC4FF13D7B}" presName="spaceRect" presStyleCnt="0"/>
      <dgm:spPr/>
    </dgm:pt>
    <dgm:pt modelId="{225FF441-5B1E-4EE1-BE1B-FCF86C932F09}" type="pres">
      <dgm:prSet presAssocID="{C7D52BAA-31DD-4424-AE23-21FC4FF13D7B}" presName="parTx" presStyleLbl="revTx" presStyleIdx="3" presStyleCnt="6">
        <dgm:presLayoutVars>
          <dgm:chMax val="0"/>
          <dgm:chPref val="0"/>
        </dgm:presLayoutVars>
      </dgm:prSet>
      <dgm:spPr/>
    </dgm:pt>
    <dgm:pt modelId="{80132730-08A5-4287-87FB-A0FAE565BF27}" type="pres">
      <dgm:prSet presAssocID="{C682C890-1C5B-4D9D-BBA5-10F809031752}" presName="sibTrans" presStyleCnt="0"/>
      <dgm:spPr/>
    </dgm:pt>
    <dgm:pt modelId="{C312DB79-EF8A-4ED0-8DF7-47B791E29AD9}" type="pres">
      <dgm:prSet presAssocID="{C4D48D89-7337-4541-A4EC-0FC69EC45042}" presName="compNode" presStyleCnt="0"/>
      <dgm:spPr/>
    </dgm:pt>
    <dgm:pt modelId="{6820A0E6-DCC2-400C-8A94-46810CD1C0A4}" type="pres">
      <dgm:prSet presAssocID="{C4D48D89-7337-4541-A4EC-0FC69EC45042}" presName="bgRect" presStyleLbl="bgShp" presStyleIdx="4" presStyleCnt="6"/>
      <dgm:spPr/>
    </dgm:pt>
    <dgm:pt modelId="{69FC658E-1BB6-46F9-8C06-2A1C994A9A56}" type="pres">
      <dgm:prSet presAssocID="{C4D48D89-7337-4541-A4EC-0FC69EC45042}"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usic"/>
        </a:ext>
      </dgm:extLst>
    </dgm:pt>
    <dgm:pt modelId="{D479E2A7-0E67-4FC1-B625-DC3937BCF103}" type="pres">
      <dgm:prSet presAssocID="{C4D48D89-7337-4541-A4EC-0FC69EC45042}" presName="spaceRect" presStyleCnt="0"/>
      <dgm:spPr/>
    </dgm:pt>
    <dgm:pt modelId="{8F7BEAF0-F058-4338-A412-82F19AC37FCF}" type="pres">
      <dgm:prSet presAssocID="{C4D48D89-7337-4541-A4EC-0FC69EC45042}" presName="parTx" presStyleLbl="revTx" presStyleIdx="4" presStyleCnt="6">
        <dgm:presLayoutVars>
          <dgm:chMax val="0"/>
          <dgm:chPref val="0"/>
        </dgm:presLayoutVars>
      </dgm:prSet>
      <dgm:spPr/>
    </dgm:pt>
    <dgm:pt modelId="{65E3139F-3559-4E8C-8E1F-6B9BC5C7CF62}" type="pres">
      <dgm:prSet presAssocID="{21578442-CEAA-44F1-BC99-A23CF2336122}" presName="sibTrans" presStyleCnt="0"/>
      <dgm:spPr/>
    </dgm:pt>
    <dgm:pt modelId="{8042D38B-D46E-4276-94D4-1A280C9F575B}" type="pres">
      <dgm:prSet presAssocID="{82CB186E-6EAC-4648-9D6C-B78B76615071}" presName="compNode" presStyleCnt="0"/>
      <dgm:spPr/>
    </dgm:pt>
    <dgm:pt modelId="{14718A2A-6CE0-4601-A9C0-E4A538AEE831}" type="pres">
      <dgm:prSet presAssocID="{82CB186E-6EAC-4648-9D6C-B78B76615071}" presName="bgRect" presStyleLbl="bgShp" presStyleIdx="5" presStyleCnt="6"/>
      <dgm:spPr/>
    </dgm:pt>
    <dgm:pt modelId="{1E2372C4-1F23-4DAC-94D4-C7A4A0D17FEA}" type="pres">
      <dgm:prSet presAssocID="{82CB186E-6EAC-4648-9D6C-B78B7661507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Stopwatch"/>
        </a:ext>
      </dgm:extLst>
    </dgm:pt>
    <dgm:pt modelId="{64FE96DD-A769-4ED6-A84C-587548B22164}" type="pres">
      <dgm:prSet presAssocID="{82CB186E-6EAC-4648-9D6C-B78B76615071}" presName="spaceRect" presStyleCnt="0"/>
      <dgm:spPr/>
    </dgm:pt>
    <dgm:pt modelId="{8062A512-554C-41F9-A1B4-C6C4F7153FAB}" type="pres">
      <dgm:prSet presAssocID="{82CB186E-6EAC-4648-9D6C-B78B76615071}" presName="parTx" presStyleLbl="revTx" presStyleIdx="5" presStyleCnt="6">
        <dgm:presLayoutVars>
          <dgm:chMax val="0"/>
          <dgm:chPref val="0"/>
        </dgm:presLayoutVars>
      </dgm:prSet>
      <dgm:spPr/>
    </dgm:pt>
  </dgm:ptLst>
  <dgm:cxnLst>
    <dgm:cxn modelId="{9F769E0B-BD3A-4E70-AB7F-E5E2045A91A8}" type="presOf" srcId="{B00DD89A-F831-4765-AF7A-5BDD7A601275}" destId="{E29D5449-B688-441F-9F58-6043B03BD746}" srcOrd="0" destOrd="0" presId="urn:microsoft.com/office/officeart/2018/2/layout/IconVerticalSolidList"/>
    <dgm:cxn modelId="{68E4E41A-0EBF-4544-B247-05FF29989F8A}" type="presOf" srcId="{C4D48D89-7337-4541-A4EC-0FC69EC45042}" destId="{8F7BEAF0-F058-4338-A412-82F19AC37FCF}" srcOrd="0" destOrd="0" presId="urn:microsoft.com/office/officeart/2018/2/layout/IconVerticalSolidList"/>
    <dgm:cxn modelId="{4A5E0D5B-67D7-484D-831E-9F64AE05EFE6}" srcId="{1999BB11-7B30-463E-8B21-F92B63EDCFCD}" destId="{C7D52BAA-31DD-4424-AE23-21FC4FF13D7B}" srcOrd="3" destOrd="0" parTransId="{1990FA1C-3FC1-4194-927B-76B164648D8B}" sibTransId="{C682C890-1C5B-4D9D-BBA5-10F809031752}"/>
    <dgm:cxn modelId="{3ADA7F5C-C19F-4AD5-AE55-9A164501EAAE}" srcId="{1999BB11-7B30-463E-8B21-F92B63EDCFCD}" destId="{C4D48D89-7337-4541-A4EC-0FC69EC45042}" srcOrd="4" destOrd="0" parTransId="{2D1346D7-AC1F-4631-94D1-B89C93B71BD1}" sibTransId="{21578442-CEAA-44F1-BC99-A23CF2336122}"/>
    <dgm:cxn modelId="{4F04DD69-B39A-4AAB-8C22-58ED59077AC9}" type="presOf" srcId="{C7D52BAA-31DD-4424-AE23-21FC4FF13D7B}" destId="{225FF441-5B1E-4EE1-BE1B-FCF86C932F09}" srcOrd="0" destOrd="0" presId="urn:microsoft.com/office/officeart/2018/2/layout/IconVerticalSolidList"/>
    <dgm:cxn modelId="{72644A76-EBDB-4E4C-B360-04449A367A66}" type="presOf" srcId="{1999BB11-7B30-463E-8B21-F92B63EDCFCD}" destId="{1B082695-32AD-4375-B0AB-E6143BA9D5E2}" srcOrd="0" destOrd="0" presId="urn:microsoft.com/office/officeart/2018/2/layout/IconVerticalSolidList"/>
    <dgm:cxn modelId="{FE942E8F-B448-4446-84D8-E417FD6335A0}" type="presOf" srcId="{20E5F3D5-286A-44CE-964A-29DE99985FD5}" destId="{6AF0A764-4E3A-4C20-896F-AAFFC81B8984}" srcOrd="0" destOrd="0" presId="urn:microsoft.com/office/officeart/2018/2/layout/IconVerticalSolidList"/>
    <dgm:cxn modelId="{D9B941AA-489C-4365-8CFA-1DEAE7366C2B}" type="presOf" srcId="{599B40D4-C8C5-4271-8911-FCF65F906B9C}" destId="{4060E004-D913-4E57-83FD-8C4E48E1E3ED}" srcOrd="0" destOrd="0" presId="urn:microsoft.com/office/officeart/2018/2/layout/IconVerticalSolidList"/>
    <dgm:cxn modelId="{EA28D5AF-B31A-486B-B362-6991CE6D82B9}" srcId="{1999BB11-7B30-463E-8B21-F92B63EDCFCD}" destId="{20E5F3D5-286A-44CE-964A-29DE99985FD5}" srcOrd="0" destOrd="0" parTransId="{6F24CEFE-AB4C-4409-9991-00FCCC02BB78}" sibTransId="{375B4FC0-035D-4F86-8290-AA3D9ACF77C8}"/>
    <dgm:cxn modelId="{7905F0B7-C642-47D2-95DC-60759A928F8F}" srcId="{1999BB11-7B30-463E-8B21-F92B63EDCFCD}" destId="{599B40D4-C8C5-4271-8911-FCF65F906B9C}" srcOrd="1" destOrd="0" parTransId="{23C5487B-7C0D-4187-84C1-752B50C7426D}" sibTransId="{8A32CDA6-D931-4597-995C-1340D6C340A3}"/>
    <dgm:cxn modelId="{B3E249D8-F780-42B0-9F8E-938749799979}" srcId="{1999BB11-7B30-463E-8B21-F92B63EDCFCD}" destId="{82CB186E-6EAC-4648-9D6C-B78B76615071}" srcOrd="5" destOrd="0" parTransId="{58EB72DD-07AC-45B2-AA6E-6EA248226671}" sibTransId="{4120D8E0-E16C-4D44-9CDB-CE0440131152}"/>
    <dgm:cxn modelId="{56B81BE8-6C0C-4457-91DE-7AFDDC9E552F}" type="presOf" srcId="{82CB186E-6EAC-4648-9D6C-B78B76615071}" destId="{8062A512-554C-41F9-A1B4-C6C4F7153FAB}" srcOrd="0" destOrd="0" presId="urn:microsoft.com/office/officeart/2018/2/layout/IconVerticalSolidList"/>
    <dgm:cxn modelId="{170857F9-02C0-4D4B-8DF3-11800DD1D264}" srcId="{1999BB11-7B30-463E-8B21-F92B63EDCFCD}" destId="{B00DD89A-F831-4765-AF7A-5BDD7A601275}" srcOrd="2" destOrd="0" parTransId="{E11A323C-1F3B-4318-8AAE-E458704E80DD}" sibTransId="{9E9A03C3-DF3E-4E14-9B38-A522ECB93F80}"/>
    <dgm:cxn modelId="{4BE6EC4C-7F59-4263-A041-23B763DE291A}" type="presParOf" srcId="{1B082695-32AD-4375-B0AB-E6143BA9D5E2}" destId="{CCECE5CC-96E8-4AF2-8F64-3E420E3A1CB1}" srcOrd="0" destOrd="0" presId="urn:microsoft.com/office/officeart/2018/2/layout/IconVerticalSolidList"/>
    <dgm:cxn modelId="{22185D99-CC6B-47FF-BCBF-3B7CAB4FFF23}" type="presParOf" srcId="{CCECE5CC-96E8-4AF2-8F64-3E420E3A1CB1}" destId="{E3A6279C-0FCE-4B11-AF57-24CF1DB3FFE3}" srcOrd="0" destOrd="0" presId="urn:microsoft.com/office/officeart/2018/2/layout/IconVerticalSolidList"/>
    <dgm:cxn modelId="{09ACD429-9D0E-4092-8665-58EE954F4D06}" type="presParOf" srcId="{CCECE5CC-96E8-4AF2-8F64-3E420E3A1CB1}" destId="{C92543FF-FEA4-4B0C-A21B-5E2D3CEA4ECD}" srcOrd="1" destOrd="0" presId="urn:microsoft.com/office/officeart/2018/2/layout/IconVerticalSolidList"/>
    <dgm:cxn modelId="{59E0D261-F711-4DF5-870A-B4E9C5127DAA}" type="presParOf" srcId="{CCECE5CC-96E8-4AF2-8F64-3E420E3A1CB1}" destId="{94E48D0A-4BD6-417E-98F4-CC34CB294BC1}" srcOrd="2" destOrd="0" presId="urn:microsoft.com/office/officeart/2018/2/layout/IconVerticalSolidList"/>
    <dgm:cxn modelId="{8ED36F42-8BFD-4B41-98AD-23A4B05FCCBE}" type="presParOf" srcId="{CCECE5CC-96E8-4AF2-8F64-3E420E3A1CB1}" destId="{6AF0A764-4E3A-4C20-896F-AAFFC81B8984}" srcOrd="3" destOrd="0" presId="urn:microsoft.com/office/officeart/2018/2/layout/IconVerticalSolidList"/>
    <dgm:cxn modelId="{CE9E8967-CEB7-4672-87EC-2ADE6FACDEE7}" type="presParOf" srcId="{1B082695-32AD-4375-B0AB-E6143BA9D5E2}" destId="{5FFAA5A2-60DB-46D2-8B5F-A466ECFE75EC}" srcOrd="1" destOrd="0" presId="urn:microsoft.com/office/officeart/2018/2/layout/IconVerticalSolidList"/>
    <dgm:cxn modelId="{348522D4-20BC-461E-AB1F-CE71B318CD52}" type="presParOf" srcId="{1B082695-32AD-4375-B0AB-E6143BA9D5E2}" destId="{F5BF61CD-D3CD-407F-811E-BB5B645AFBC9}" srcOrd="2" destOrd="0" presId="urn:microsoft.com/office/officeart/2018/2/layout/IconVerticalSolidList"/>
    <dgm:cxn modelId="{4C17C4E4-8F5A-412E-9944-D3DA8A7EFCB2}" type="presParOf" srcId="{F5BF61CD-D3CD-407F-811E-BB5B645AFBC9}" destId="{9BA7A7D8-B379-4FD9-B600-8DD8278E7F9D}" srcOrd="0" destOrd="0" presId="urn:microsoft.com/office/officeart/2018/2/layout/IconVerticalSolidList"/>
    <dgm:cxn modelId="{4E0709CF-F627-4BE7-9B22-4DF3B29CB6A2}" type="presParOf" srcId="{F5BF61CD-D3CD-407F-811E-BB5B645AFBC9}" destId="{23BCE4AF-C1D5-4DF7-BA83-76326A57F565}" srcOrd="1" destOrd="0" presId="urn:microsoft.com/office/officeart/2018/2/layout/IconVerticalSolidList"/>
    <dgm:cxn modelId="{90AF749B-5435-4C09-B766-D7392A6B7392}" type="presParOf" srcId="{F5BF61CD-D3CD-407F-811E-BB5B645AFBC9}" destId="{AB6F901B-AA43-42D3-82D0-AB497B1E2504}" srcOrd="2" destOrd="0" presId="urn:microsoft.com/office/officeart/2018/2/layout/IconVerticalSolidList"/>
    <dgm:cxn modelId="{0E12AC33-E5C8-4BB7-8E74-2709F12028DB}" type="presParOf" srcId="{F5BF61CD-D3CD-407F-811E-BB5B645AFBC9}" destId="{4060E004-D913-4E57-83FD-8C4E48E1E3ED}" srcOrd="3" destOrd="0" presId="urn:microsoft.com/office/officeart/2018/2/layout/IconVerticalSolidList"/>
    <dgm:cxn modelId="{C70BC2C3-7026-46A3-B22E-F1C26EC0B8BE}" type="presParOf" srcId="{1B082695-32AD-4375-B0AB-E6143BA9D5E2}" destId="{B6EF89C0-20EC-4CD9-96D7-4863C44DB502}" srcOrd="3" destOrd="0" presId="urn:microsoft.com/office/officeart/2018/2/layout/IconVerticalSolidList"/>
    <dgm:cxn modelId="{BE5D099E-80CB-4BC3-9887-DC5F772AC113}" type="presParOf" srcId="{1B082695-32AD-4375-B0AB-E6143BA9D5E2}" destId="{8D363154-04A4-41F4-BE29-A41681A59F34}" srcOrd="4" destOrd="0" presId="urn:microsoft.com/office/officeart/2018/2/layout/IconVerticalSolidList"/>
    <dgm:cxn modelId="{8C5E4B41-EB1F-4109-A4AC-02C60D02FA6C}" type="presParOf" srcId="{8D363154-04A4-41F4-BE29-A41681A59F34}" destId="{C934AE0E-FFD2-42E5-88A3-3592285D28A5}" srcOrd="0" destOrd="0" presId="urn:microsoft.com/office/officeart/2018/2/layout/IconVerticalSolidList"/>
    <dgm:cxn modelId="{3667E97B-004F-4D8E-975D-28064C5E75BF}" type="presParOf" srcId="{8D363154-04A4-41F4-BE29-A41681A59F34}" destId="{86C526E1-3900-4DC4-83D5-3F513FD80A67}" srcOrd="1" destOrd="0" presId="urn:microsoft.com/office/officeart/2018/2/layout/IconVerticalSolidList"/>
    <dgm:cxn modelId="{BF6B0683-8E4F-4F58-B1F6-C1436A965D01}" type="presParOf" srcId="{8D363154-04A4-41F4-BE29-A41681A59F34}" destId="{1A0EE99F-A674-4A4A-8888-774714D9F36B}" srcOrd="2" destOrd="0" presId="urn:microsoft.com/office/officeart/2018/2/layout/IconVerticalSolidList"/>
    <dgm:cxn modelId="{66E83F53-96E2-45DB-9C2F-78750398D75B}" type="presParOf" srcId="{8D363154-04A4-41F4-BE29-A41681A59F34}" destId="{E29D5449-B688-441F-9F58-6043B03BD746}" srcOrd="3" destOrd="0" presId="urn:microsoft.com/office/officeart/2018/2/layout/IconVerticalSolidList"/>
    <dgm:cxn modelId="{A98539A8-F7BD-43C2-A8A2-E6BC4C6AECA8}" type="presParOf" srcId="{1B082695-32AD-4375-B0AB-E6143BA9D5E2}" destId="{B0234699-7004-45E7-9ACE-FEFA6355AFAD}" srcOrd="5" destOrd="0" presId="urn:microsoft.com/office/officeart/2018/2/layout/IconVerticalSolidList"/>
    <dgm:cxn modelId="{01C8ECCE-29ED-4F8A-8BD0-DF1D6ACF72BF}" type="presParOf" srcId="{1B082695-32AD-4375-B0AB-E6143BA9D5E2}" destId="{2240992D-155F-447B-8EF5-8AE310543AF3}" srcOrd="6" destOrd="0" presId="urn:microsoft.com/office/officeart/2018/2/layout/IconVerticalSolidList"/>
    <dgm:cxn modelId="{DF548224-D4DB-469A-9198-E09A66C9CAB1}" type="presParOf" srcId="{2240992D-155F-447B-8EF5-8AE310543AF3}" destId="{A4807609-7F12-4FA2-AABA-D36F6567F51E}" srcOrd="0" destOrd="0" presId="urn:microsoft.com/office/officeart/2018/2/layout/IconVerticalSolidList"/>
    <dgm:cxn modelId="{7C130331-1145-47A8-AE49-5822704BEC0F}" type="presParOf" srcId="{2240992D-155F-447B-8EF5-8AE310543AF3}" destId="{CC24C848-FEEF-4B32-8524-59C4B58ED08B}" srcOrd="1" destOrd="0" presId="urn:microsoft.com/office/officeart/2018/2/layout/IconVerticalSolidList"/>
    <dgm:cxn modelId="{A4F6478A-6CA2-4161-B3D9-8341B7CAEB90}" type="presParOf" srcId="{2240992D-155F-447B-8EF5-8AE310543AF3}" destId="{7BF26226-F2CC-4F2B-9622-EE348D1C09DB}" srcOrd="2" destOrd="0" presId="urn:microsoft.com/office/officeart/2018/2/layout/IconVerticalSolidList"/>
    <dgm:cxn modelId="{19AA5663-2644-4B5C-8376-497296C85E38}" type="presParOf" srcId="{2240992D-155F-447B-8EF5-8AE310543AF3}" destId="{225FF441-5B1E-4EE1-BE1B-FCF86C932F09}" srcOrd="3" destOrd="0" presId="urn:microsoft.com/office/officeart/2018/2/layout/IconVerticalSolidList"/>
    <dgm:cxn modelId="{A6CFF71B-A679-4C95-8E27-02DDDE0C2BE6}" type="presParOf" srcId="{1B082695-32AD-4375-B0AB-E6143BA9D5E2}" destId="{80132730-08A5-4287-87FB-A0FAE565BF27}" srcOrd="7" destOrd="0" presId="urn:microsoft.com/office/officeart/2018/2/layout/IconVerticalSolidList"/>
    <dgm:cxn modelId="{6A23660D-269A-4680-AC9C-D597D406D8A8}" type="presParOf" srcId="{1B082695-32AD-4375-B0AB-E6143BA9D5E2}" destId="{C312DB79-EF8A-4ED0-8DF7-47B791E29AD9}" srcOrd="8" destOrd="0" presId="urn:microsoft.com/office/officeart/2018/2/layout/IconVerticalSolidList"/>
    <dgm:cxn modelId="{E0D1B4C5-5971-4E02-82A5-E5E08F41111E}" type="presParOf" srcId="{C312DB79-EF8A-4ED0-8DF7-47B791E29AD9}" destId="{6820A0E6-DCC2-400C-8A94-46810CD1C0A4}" srcOrd="0" destOrd="0" presId="urn:microsoft.com/office/officeart/2018/2/layout/IconVerticalSolidList"/>
    <dgm:cxn modelId="{7CB675C8-F89E-4F2B-A74F-3B850165C959}" type="presParOf" srcId="{C312DB79-EF8A-4ED0-8DF7-47B791E29AD9}" destId="{69FC658E-1BB6-46F9-8C06-2A1C994A9A56}" srcOrd="1" destOrd="0" presId="urn:microsoft.com/office/officeart/2018/2/layout/IconVerticalSolidList"/>
    <dgm:cxn modelId="{BCA9CF41-2B66-40A4-90E7-83E58CE49DBD}" type="presParOf" srcId="{C312DB79-EF8A-4ED0-8DF7-47B791E29AD9}" destId="{D479E2A7-0E67-4FC1-B625-DC3937BCF103}" srcOrd="2" destOrd="0" presId="urn:microsoft.com/office/officeart/2018/2/layout/IconVerticalSolidList"/>
    <dgm:cxn modelId="{5C13BF16-6E8D-4905-A256-BF8AB9400106}" type="presParOf" srcId="{C312DB79-EF8A-4ED0-8DF7-47B791E29AD9}" destId="{8F7BEAF0-F058-4338-A412-82F19AC37FCF}" srcOrd="3" destOrd="0" presId="urn:microsoft.com/office/officeart/2018/2/layout/IconVerticalSolidList"/>
    <dgm:cxn modelId="{A1AB1975-4E60-4D97-9B9E-BAE93B03AC83}" type="presParOf" srcId="{1B082695-32AD-4375-B0AB-E6143BA9D5E2}" destId="{65E3139F-3559-4E8C-8E1F-6B9BC5C7CF62}" srcOrd="9" destOrd="0" presId="urn:microsoft.com/office/officeart/2018/2/layout/IconVerticalSolidList"/>
    <dgm:cxn modelId="{51B337BD-A4D1-4480-B1A9-E78B6D091533}" type="presParOf" srcId="{1B082695-32AD-4375-B0AB-E6143BA9D5E2}" destId="{8042D38B-D46E-4276-94D4-1A280C9F575B}" srcOrd="10" destOrd="0" presId="urn:microsoft.com/office/officeart/2018/2/layout/IconVerticalSolidList"/>
    <dgm:cxn modelId="{896F83E7-C213-4251-9654-88395F6CBB74}" type="presParOf" srcId="{8042D38B-D46E-4276-94D4-1A280C9F575B}" destId="{14718A2A-6CE0-4601-A9C0-E4A538AEE831}" srcOrd="0" destOrd="0" presId="urn:microsoft.com/office/officeart/2018/2/layout/IconVerticalSolidList"/>
    <dgm:cxn modelId="{071125E8-BD35-4D0D-999E-C176B3D96E3B}" type="presParOf" srcId="{8042D38B-D46E-4276-94D4-1A280C9F575B}" destId="{1E2372C4-1F23-4DAC-94D4-C7A4A0D17FEA}" srcOrd="1" destOrd="0" presId="urn:microsoft.com/office/officeart/2018/2/layout/IconVerticalSolidList"/>
    <dgm:cxn modelId="{B61320D8-C01B-427E-8E27-57D429E41612}" type="presParOf" srcId="{8042D38B-D46E-4276-94D4-1A280C9F575B}" destId="{64FE96DD-A769-4ED6-A84C-587548B22164}" srcOrd="2" destOrd="0" presId="urn:microsoft.com/office/officeart/2018/2/layout/IconVerticalSolidList"/>
    <dgm:cxn modelId="{B23BDCEA-489E-4B9B-A540-D48125F8A305}" type="presParOf" srcId="{8042D38B-D46E-4276-94D4-1A280C9F575B}" destId="{8062A512-554C-41F9-A1B4-C6C4F7153FA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ADC400-3C79-40E3-A6B2-BA4DC7C869F0}">
      <dsp:nvSpPr>
        <dsp:cNvPr id="0" name=""/>
        <dsp:cNvSpPr/>
      </dsp:nvSpPr>
      <dsp:spPr>
        <a:xfrm>
          <a:off x="0" y="2140"/>
          <a:ext cx="7117918" cy="10847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7D5ED4-9EE8-4863-BAEB-5A2E482247CD}">
      <dsp:nvSpPr>
        <dsp:cNvPr id="0" name=""/>
        <dsp:cNvSpPr/>
      </dsp:nvSpPr>
      <dsp:spPr>
        <a:xfrm>
          <a:off x="328149" y="246218"/>
          <a:ext cx="596636" cy="5966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DD7E1C-9D2B-421D-AEF3-09083E69BFBB}">
      <dsp:nvSpPr>
        <dsp:cNvPr id="0" name=""/>
        <dsp:cNvSpPr/>
      </dsp:nvSpPr>
      <dsp:spPr>
        <a:xfrm>
          <a:off x="1252936" y="2140"/>
          <a:ext cx="5864981" cy="1084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807" tIns="114807" rIns="114807" bIns="114807" numCol="1" spcCol="1270" anchor="ctr" anchorCtr="0">
          <a:noAutofit/>
        </a:bodyPr>
        <a:lstStyle/>
        <a:p>
          <a:pPr marL="0" lvl="0" indent="0" algn="l" defTabSz="889000">
            <a:lnSpc>
              <a:spcPct val="90000"/>
            </a:lnSpc>
            <a:spcBef>
              <a:spcPct val="0"/>
            </a:spcBef>
            <a:spcAft>
              <a:spcPct val="35000"/>
            </a:spcAft>
            <a:buNone/>
          </a:pPr>
          <a:r>
            <a:rPr lang="en-US" sz="2000" kern="1200" dirty="0"/>
            <a:t>Overabundance of songs across genres makes it challenging for users to curate playlists based on desired energy levels.  </a:t>
          </a:r>
        </a:p>
      </dsp:txBody>
      <dsp:txXfrm>
        <a:off x="1252936" y="2140"/>
        <a:ext cx="5864981" cy="1084793"/>
      </dsp:txXfrm>
    </dsp:sp>
    <dsp:sp modelId="{2DDADDAE-F626-4EAE-A342-D44555EDDC8D}">
      <dsp:nvSpPr>
        <dsp:cNvPr id="0" name=""/>
        <dsp:cNvSpPr/>
      </dsp:nvSpPr>
      <dsp:spPr>
        <a:xfrm>
          <a:off x="0" y="1358132"/>
          <a:ext cx="7117918" cy="10847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6ED735-3EB1-4450-A4DF-870A83A4E59F}">
      <dsp:nvSpPr>
        <dsp:cNvPr id="0" name=""/>
        <dsp:cNvSpPr/>
      </dsp:nvSpPr>
      <dsp:spPr>
        <a:xfrm>
          <a:off x="328149" y="1602210"/>
          <a:ext cx="596636" cy="5966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7E2B87-A321-4B59-91F4-D891E5FE2877}">
      <dsp:nvSpPr>
        <dsp:cNvPr id="0" name=""/>
        <dsp:cNvSpPr/>
      </dsp:nvSpPr>
      <dsp:spPr>
        <a:xfrm>
          <a:off x="1252936" y="1358132"/>
          <a:ext cx="5864981" cy="1084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807" tIns="114807" rIns="114807" bIns="114807" numCol="1" spcCol="1270" anchor="ctr" anchorCtr="0">
          <a:noAutofit/>
        </a:bodyPr>
        <a:lstStyle/>
        <a:p>
          <a:pPr marL="0" lvl="0" indent="0" algn="l" defTabSz="889000">
            <a:lnSpc>
              <a:spcPct val="90000"/>
            </a:lnSpc>
            <a:spcBef>
              <a:spcPct val="0"/>
            </a:spcBef>
            <a:spcAft>
              <a:spcPct val="35000"/>
            </a:spcAft>
            <a:buNone/>
          </a:pPr>
          <a:r>
            <a:rPr lang="en-US" sz="2000" kern="1200" dirty="0"/>
            <a:t>How often have you skipped a song because it didn't resonate with your current energy    levels</a:t>
          </a:r>
        </a:p>
      </dsp:txBody>
      <dsp:txXfrm>
        <a:off x="1252936" y="1358132"/>
        <a:ext cx="5864981" cy="1084793"/>
      </dsp:txXfrm>
    </dsp:sp>
    <dsp:sp modelId="{817B27E8-7159-47AC-9AD1-710BA8C37144}">
      <dsp:nvSpPr>
        <dsp:cNvPr id="0" name=""/>
        <dsp:cNvSpPr/>
      </dsp:nvSpPr>
      <dsp:spPr>
        <a:xfrm>
          <a:off x="0" y="2714123"/>
          <a:ext cx="7117918" cy="10847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597CEB-A04A-4748-8257-7D16A855DFF3}">
      <dsp:nvSpPr>
        <dsp:cNvPr id="0" name=""/>
        <dsp:cNvSpPr/>
      </dsp:nvSpPr>
      <dsp:spPr>
        <a:xfrm>
          <a:off x="328149" y="2958202"/>
          <a:ext cx="596636" cy="5966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693C72-76B1-4E08-BB68-126A85E810D0}">
      <dsp:nvSpPr>
        <dsp:cNvPr id="0" name=""/>
        <dsp:cNvSpPr/>
      </dsp:nvSpPr>
      <dsp:spPr>
        <a:xfrm>
          <a:off x="1252936" y="2714123"/>
          <a:ext cx="5864981" cy="1084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807" tIns="114807" rIns="114807" bIns="114807" numCol="1" spcCol="1270" anchor="ctr" anchorCtr="0">
          <a:noAutofit/>
        </a:bodyPr>
        <a:lstStyle/>
        <a:p>
          <a:pPr marL="0" lvl="0" indent="0" algn="l" defTabSz="889000">
            <a:lnSpc>
              <a:spcPct val="90000"/>
            </a:lnSpc>
            <a:spcBef>
              <a:spcPct val="0"/>
            </a:spcBef>
            <a:spcAft>
              <a:spcPct val="35000"/>
            </a:spcAft>
            <a:buNone/>
          </a:pPr>
          <a:r>
            <a:rPr lang="en-US" sz="2000" kern="1200" dirty="0"/>
            <a:t>Do specific audio features in songs influence the energy  levels?</a:t>
          </a:r>
        </a:p>
      </dsp:txBody>
      <dsp:txXfrm>
        <a:off x="1252936" y="2714123"/>
        <a:ext cx="5864981" cy="1084793"/>
      </dsp:txXfrm>
    </dsp:sp>
    <dsp:sp modelId="{C8CD7E7E-E32C-44E6-BBB9-2F7DC3CC1592}">
      <dsp:nvSpPr>
        <dsp:cNvPr id="0" name=""/>
        <dsp:cNvSpPr/>
      </dsp:nvSpPr>
      <dsp:spPr>
        <a:xfrm>
          <a:off x="0" y="4070115"/>
          <a:ext cx="7117918" cy="10847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85B40E-7584-45DA-BBB7-BEF5BB045F4C}">
      <dsp:nvSpPr>
        <dsp:cNvPr id="0" name=""/>
        <dsp:cNvSpPr/>
      </dsp:nvSpPr>
      <dsp:spPr>
        <a:xfrm>
          <a:off x="328149" y="4314193"/>
          <a:ext cx="596636" cy="5966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BA57A8-1D28-45DB-B5B8-960E7314480A}">
      <dsp:nvSpPr>
        <dsp:cNvPr id="0" name=""/>
        <dsp:cNvSpPr/>
      </dsp:nvSpPr>
      <dsp:spPr>
        <a:xfrm>
          <a:off x="1252936" y="4070115"/>
          <a:ext cx="5864981" cy="1084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807" tIns="114807" rIns="114807" bIns="114807" numCol="1" spcCol="1270" anchor="ctr" anchorCtr="0">
          <a:noAutofit/>
        </a:bodyPr>
        <a:lstStyle/>
        <a:p>
          <a:pPr marL="0" lvl="0" indent="0" algn="l" defTabSz="889000">
            <a:lnSpc>
              <a:spcPct val="90000"/>
            </a:lnSpc>
            <a:spcBef>
              <a:spcPct val="0"/>
            </a:spcBef>
            <a:spcAft>
              <a:spcPct val="35000"/>
            </a:spcAft>
            <a:buNone/>
          </a:pPr>
          <a:r>
            <a:rPr lang="en-US" sz="2000" kern="1200" dirty="0"/>
            <a:t>Can we predict energetic songs from others with a certain  level of certainty?</a:t>
          </a:r>
        </a:p>
      </dsp:txBody>
      <dsp:txXfrm>
        <a:off x="1252936" y="4070115"/>
        <a:ext cx="5864981" cy="10847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A6279C-0FCE-4B11-AF57-24CF1DB3FFE3}">
      <dsp:nvSpPr>
        <dsp:cNvPr id="0" name=""/>
        <dsp:cNvSpPr/>
      </dsp:nvSpPr>
      <dsp:spPr>
        <a:xfrm>
          <a:off x="0" y="4184"/>
          <a:ext cx="7117918" cy="6683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2543FF-FEA4-4B0C-A21B-5E2D3CEA4ECD}">
      <dsp:nvSpPr>
        <dsp:cNvPr id="0" name=""/>
        <dsp:cNvSpPr/>
      </dsp:nvSpPr>
      <dsp:spPr>
        <a:xfrm>
          <a:off x="202187" y="154572"/>
          <a:ext cx="367972" cy="3676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F0A764-4E3A-4C20-896F-AAFFC81B8984}">
      <dsp:nvSpPr>
        <dsp:cNvPr id="0" name=""/>
        <dsp:cNvSpPr/>
      </dsp:nvSpPr>
      <dsp:spPr>
        <a:xfrm>
          <a:off x="772347" y="4184"/>
          <a:ext cx="6322176" cy="710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159" tIns="75159" rIns="75159" bIns="75159" numCol="1" spcCol="1270" anchor="ctr" anchorCtr="0">
          <a:noAutofit/>
        </a:bodyPr>
        <a:lstStyle/>
        <a:p>
          <a:pPr marL="0" lvl="0" indent="0" algn="l" defTabSz="622300">
            <a:lnSpc>
              <a:spcPct val="90000"/>
            </a:lnSpc>
            <a:spcBef>
              <a:spcPct val="0"/>
            </a:spcBef>
            <a:spcAft>
              <a:spcPct val="35000"/>
            </a:spcAft>
            <a:buNone/>
          </a:pPr>
          <a:r>
            <a:rPr lang="en-US" sz="1400" kern="1200"/>
            <a:t>30,000+ songs and their features.</a:t>
          </a:r>
        </a:p>
      </dsp:txBody>
      <dsp:txXfrm>
        <a:off x="772347" y="4184"/>
        <a:ext cx="6322176" cy="710162"/>
      </dsp:txXfrm>
    </dsp:sp>
    <dsp:sp modelId="{9BA7A7D8-B379-4FD9-B600-8DD8278E7F9D}">
      <dsp:nvSpPr>
        <dsp:cNvPr id="0" name=""/>
        <dsp:cNvSpPr/>
      </dsp:nvSpPr>
      <dsp:spPr>
        <a:xfrm>
          <a:off x="0" y="891888"/>
          <a:ext cx="7117918" cy="6683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BCE4AF-C1D5-4DF7-BA83-76326A57F565}">
      <dsp:nvSpPr>
        <dsp:cNvPr id="0" name=""/>
        <dsp:cNvSpPr/>
      </dsp:nvSpPr>
      <dsp:spPr>
        <a:xfrm>
          <a:off x="202187" y="1042275"/>
          <a:ext cx="367972" cy="3676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060E004-D913-4E57-83FD-8C4E48E1E3ED}">
      <dsp:nvSpPr>
        <dsp:cNvPr id="0" name=""/>
        <dsp:cNvSpPr/>
      </dsp:nvSpPr>
      <dsp:spPr>
        <a:xfrm>
          <a:off x="772347" y="891888"/>
          <a:ext cx="6322176" cy="710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159" tIns="75159" rIns="75159" bIns="75159" numCol="1" spcCol="1270" anchor="ctr" anchorCtr="0">
          <a:noAutofit/>
        </a:bodyPr>
        <a:lstStyle/>
        <a:p>
          <a:pPr marL="0" lvl="0" indent="0" algn="l" defTabSz="622300">
            <a:lnSpc>
              <a:spcPct val="90000"/>
            </a:lnSpc>
            <a:spcBef>
              <a:spcPct val="0"/>
            </a:spcBef>
            <a:spcAft>
              <a:spcPct val="35000"/>
            </a:spcAft>
            <a:buNone/>
          </a:pPr>
          <a:r>
            <a:rPr lang="en-US" sz="1400" kern="1200"/>
            <a:t>Energy measure of intensity and activity. Energetic tracks feel fast, loud, and noisy.</a:t>
          </a:r>
        </a:p>
      </dsp:txBody>
      <dsp:txXfrm>
        <a:off x="772347" y="891888"/>
        <a:ext cx="6322176" cy="710162"/>
      </dsp:txXfrm>
    </dsp:sp>
    <dsp:sp modelId="{C934AE0E-FFD2-42E5-88A3-3592285D28A5}">
      <dsp:nvSpPr>
        <dsp:cNvPr id="0" name=""/>
        <dsp:cNvSpPr/>
      </dsp:nvSpPr>
      <dsp:spPr>
        <a:xfrm>
          <a:off x="0" y="1779591"/>
          <a:ext cx="7117918" cy="6683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C526E1-3900-4DC4-83D5-3F513FD80A67}">
      <dsp:nvSpPr>
        <dsp:cNvPr id="0" name=""/>
        <dsp:cNvSpPr/>
      </dsp:nvSpPr>
      <dsp:spPr>
        <a:xfrm>
          <a:off x="202187" y="1929978"/>
          <a:ext cx="367972" cy="3676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29D5449-B688-441F-9F58-6043B03BD746}">
      <dsp:nvSpPr>
        <dsp:cNvPr id="0" name=""/>
        <dsp:cNvSpPr/>
      </dsp:nvSpPr>
      <dsp:spPr>
        <a:xfrm>
          <a:off x="772347" y="1779591"/>
          <a:ext cx="6322176" cy="710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159" tIns="75159" rIns="75159" bIns="75159" numCol="1" spcCol="1270" anchor="ctr" anchorCtr="0">
          <a:noAutofit/>
        </a:bodyPr>
        <a:lstStyle/>
        <a:p>
          <a:pPr marL="0" lvl="0" indent="0" algn="l" defTabSz="622300">
            <a:lnSpc>
              <a:spcPct val="90000"/>
            </a:lnSpc>
            <a:spcBef>
              <a:spcPct val="0"/>
            </a:spcBef>
            <a:spcAft>
              <a:spcPct val="35000"/>
            </a:spcAft>
            <a:buNone/>
          </a:pPr>
          <a:r>
            <a:rPr lang="en-US" sz="1400" kern="1200"/>
            <a:t>Loudness is the quality of a sound that is the primary psychological correlate of physical strength (amplitude). Values typical range between -60 and 0 dB.</a:t>
          </a:r>
        </a:p>
      </dsp:txBody>
      <dsp:txXfrm>
        <a:off x="772347" y="1779591"/>
        <a:ext cx="6322176" cy="710162"/>
      </dsp:txXfrm>
    </dsp:sp>
    <dsp:sp modelId="{A4807609-7F12-4FA2-AABA-D36F6567F51E}">
      <dsp:nvSpPr>
        <dsp:cNvPr id="0" name=""/>
        <dsp:cNvSpPr/>
      </dsp:nvSpPr>
      <dsp:spPr>
        <a:xfrm>
          <a:off x="0" y="2667294"/>
          <a:ext cx="7117918" cy="6683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24C848-FEEF-4B32-8524-59C4B58ED08B}">
      <dsp:nvSpPr>
        <dsp:cNvPr id="0" name=""/>
        <dsp:cNvSpPr/>
      </dsp:nvSpPr>
      <dsp:spPr>
        <a:xfrm>
          <a:off x="202187" y="2817682"/>
          <a:ext cx="367972" cy="3676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5FF441-5B1E-4EE1-BE1B-FCF86C932F09}">
      <dsp:nvSpPr>
        <dsp:cNvPr id="0" name=""/>
        <dsp:cNvSpPr/>
      </dsp:nvSpPr>
      <dsp:spPr>
        <a:xfrm>
          <a:off x="772347" y="2667294"/>
          <a:ext cx="6322176" cy="710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159" tIns="75159" rIns="75159" bIns="75159" numCol="1" spcCol="1270" anchor="ctr" anchorCtr="0">
          <a:noAutofit/>
        </a:bodyPr>
        <a:lstStyle/>
        <a:p>
          <a:pPr marL="0" lvl="0" indent="0" algn="l" defTabSz="622300">
            <a:lnSpc>
              <a:spcPct val="90000"/>
            </a:lnSpc>
            <a:spcBef>
              <a:spcPct val="0"/>
            </a:spcBef>
            <a:spcAft>
              <a:spcPct val="35000"/>
            </a:spcAft>
            <a:buNone/>
          </a:pPr>
          <a:r>
            <a:rPr lang="en-US" sz="1400" kern="1200"/>
            <a:t>Speechiness detects the presence of spoken words in a track. The more exclusively speech-like the recording (e.g., talk show, audiobook, poetry), the closer to 1.0 the attribute value.</a:t>
          </a:r>
        </a:p>
      </dsp:txBody>
      <dsp:txXfrm>
        <a:off x="772347" y="2667294"/>
        <a:ext cx="6322176" cy="710162"/>
      </dsp:txXfrm>
    </dsp:sp>
    <dsp:sp modelId="{6820A0E6-DCC2-400C-8A94-46810CD1C0A4}">
      <dsp:nvSpPr>
        <dsp:cNvPr id="0" name=""/>
        <dsp:cNvSpPr/>
      </dsp:nvSpPr>
      <dsp:spPr>
        <a:xfrm>
          <a:off x="0" y="3554998"/>
          <a:ext cx="7117918" cy="6683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FC658E-1BB6-46F9-8C06-2A1C994A9A56}">
      <dsp:nvSpPr>
        <dsp:cNvPr id="0" name=""/>
        <dsp:cNvSpPr/>
      </dsp:nvSpPr>
      <dsp:spPr>
        <a:xfrm>
          <a:off x="202187" y="3705385"/>
          <a:ext cx="367972" cy="36761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7BEAF0-F058-4338-A412-82F19AC37FCF}">
      <dsp:nvSpPr>
        <dsp:cNvPr id="0" name=""/>
        <dsp:cNvSpPr/>
      </dsp:nvSpPr>
      <dsp:spPr>
        <a:xfrm>
          <a:off x="772347" y="3554998"/>
          <a:ext cx="6322176" cy="710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159" tIns="75159" rIns="75159" bIns="75159" numCol="1" spcCol="1270" anchor="ctr" anchorCtr="0">
          <a:noAutofit/>
        </a:bodyPr>
        <a:lstStyle/>
        <a:p>
          <a:pPr marL="0" lvl="0" indent="0" algn="l" defTabSz="622300">
            <a:lnSpc>
              <a:spcPct val="90000"/>
            </a:lnSpc>
            <a:spcBef>
              <a:spcPct val="0"/>
            </a:spcBef>
            <a:spcAft>
              <a:spcPct val="35000"/>
            </a:spcAft>
            <a:buNone/>
          </a:pPr>
          <a:r>
            <a:rPr lang="en-US" sz="1400" kern="1200"/>
            <a:t>Acousticness: Value describes how acoustic a song is. A score of 1.0 means the song is most likely to be an acoustic one.</a:t>
          </a:r>
        </a:p>
      </dsp:txBody>
      <dsp:txXfrm>
        <a:off x="772347" y="3554998"/>
        <a:ext cx="6322176" cy="710162"/>
      </dsp:txXfrm>
    </dsp:sp>
    <dsp:sp modelId="{14718A2A-6CE0-4601-A9C0-E4A538AEE831}">
      <dsp:nvSpPr>
        <dsp:cNvPr id="0" name=""/>
        <dsp:cNvSpPr/>
      </dsp:nvSpPr>
      <dsp:spPr>
        <a:xfrm>
          <a:off x="0" y="4442701"/>
          <a:ext cx="7117918" cy="6683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2372C4-1F23-4DAC-94D4-C7A4A0D17FEA}">
      <dsp:nvSpPr>
        <dsp:cNvPr id="0" name=""/>
        <dsp:cNvSpPr/>
      </dsp:nvSpPr>
      <dsp:spPr>
        <a:xfrm>
          <a:off x="202187" y="4593088"/>
          <a:ext cx="367972" cy="36761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62A512-554C-41F9-A1B4-C6C4F7153FAB}">
      <dsp:nvSpPr>
        <dsp:cNvPr id="0" name=""/>
        <dsp:cNvSpPr/>
      </dsp:nvSpPr>
      <dsp:spPr>
        <a:xfrm>
          <a:off x="772347" y="4442701"/>
          <a:ext cx="6322176" cy="7101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159" tIns="75159" rIns="75159" bIns="75159" numCol="1" spcCol="1270" anchor="ctr" anchorCtr="0">
          <a:noAutofit/>
        </a:bodyPr>
        <a:lstStyle/>
        <a:p>
          <a:pPr marL="0" lvl="0" indent="0" algn="l" defTabSz="622300">
            <a:lnSpc>
              <a:spcPct val="90000"/>
            </a:lnSpc>
            <a:spcBef>
              <a:spcPct val="0"/>
            </a:spcBef>
            <a:spcAft>
              <a:spcPct val="35000"/>
            </a:spcAft>
            <a:buNone/>
          </a:pPr>
          <a:r>
            <a:rPr lang="en-US" sz="1400" kern="1200"/>
            <a:t>Tempo is the speed or pace of a given piece and derives directly from the average beat duration.</a:t>
          </a:r>
        </a:p>
      </dsp:txBody>
      <dsp:txXfrm>
        <a:off x="772347" y="4442701"/>
        <a:ext cx="6322176" cy="71016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CCD18-91CC-4C40-8A79-047C6C7ECC83}" type="datetimeFigureOut">
              <a:rPr lang="en-IN" smtClean="0"/>
              <a:t>09-12-2024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122094-114F-4C82-9C5D-DA7E5737B0F5}" type="slidenum">
              <a:rPr lang="en-IN" smtClean="0"/>
              <a:t>‹#›</a:t>
            </a:fld>
            <a:endParaRPr lang="en-IN"/>
          </a:p>
        </p:txBody>
      </p:sp>
    </p:spTree>
    <p:extLst>
      <p:ext uri="{BB962C8B-B14F-4D97-AF65-F5344CB8AC3E}">
        <p14:creationId xmlns:p14="http://schemas.microsoft.com/office/powerpoint/2010/main" val="1987641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gg sans"/>
              </a:rPr>
              <a:t>Good evening everyone my name is Vineet and I am here with my teammates Divyam and Rohan to present our project on Song Energy Classifiers.</a:t>
            </a:r>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1</a:t>
            </a:fld>
            <a:endParaRPr lang="en-IN"/>
          </a:p>
        </p:txBody>
      </p:sp>
    </p:spTree>
    <p:extLst>
      <p:ext uri="{BB962C8B-B14F-4D97-AF65-F5344CB8AC3E}">
        <p14:creationId xmlns:p14="http://schemas.microsoft.com/office/powerpoint/2010/main" val="2735527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inherit"/>
              </a:rPr>
              <a:t>We will dive into the topic in a systematic way to understand every detail.</a:t>
            </a:r>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2</a:t>
            </a:fld>
            <a:endParaRPr lang="en-IN" dirty="0"/>
          </a:p>
        </p:txBody>
      </p:sp>
    </p:spTree>
    <p:extLst>
      <p:ext uri="{BB962C8B-B14F-4D97-AF65-F5344CB8AC3E}">
        <p14:creationId xmlns:p14="http://schemas.microsoft.com/office/powerpoint/2010/main" val="2499802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Font typeface="+mj-lt"/>
              <a:buNone/>
            </a:pPr>
            <a:r>
              <a:rPr lang="en-US" b="0" i="0" dirty="0">
                <a:effectLst/>
                <a:latin typeface="gg sans"/>
              </a:rPr>
              <a:t>Have you ever had this moment where you really enjoy the songs that you are listening to and the next track that plays </a:t>
            </a:r>
            <a:r>
              <a:rPr lang="en-US" b="0" i="0" dirty="0" err="1">
                <a:effectLst/>
                <a:latin typeface="gg sans"/>
              </a:rPr>
              <a:t>doesnt</a:t>
            </a:r>
            <a:r>
              <a:rPr lang="en-US" b="0" i="0" dirty="0">
                <a:effectLst/>
                <a:latin typeface="gg sans"/>
              </a:rPr>
              <a:t> match the vibe and just breaks the flow? This is why the use of song classification on streaming platforms like </a:t>
            </a:r>
            <a:r>
              <a:rPr lang="en-US" b="0" i="0" dirty="0" err="1">
                <a:effectLst/>
                <a:latin typeface="gg sans"/>
              </a:rPr>
              <a:t>spotify</a:t>
            </a:r>
            <a:r>
              <a:rPr lang="en-US" b="0" i="0" dirty="0">
                <a:effectLst/>
                <a:latin typeface="gg sans"/>
              </a:rPr>
              <a:t> is really important. Currently they use features like genre artists </a:t>
            </a:r>
            <a:r>
              <a:rPr lang="en-US" b="0" i="0" dirty="0" err="1">
                <a:effectLst/>
                <a:latin typeface="gg sans"/>
              </a:rPr>
              <a:t>etc</a:t>
            </a:r>
            <a:r>
              <a:rPr lang="en-US" b="0" i="0" dirty="0">
                <a:effectLst/>
                <a:latin typeface="gg sans"/>
              </a:rPr>
              <a:t> to predict similar songs and there is a gap in this segment that can help make predictions and recommendations much better. This is where the song energy classifier comes in. It could be used as an additional filter in collaboration with existing approaches to get really good results. </a:t>
            </a:r>
          </a:p>
          <a:p>
            <a:pPr algn="l" fontAlgn="base">
              <a:buFont typeface="+mj-lt"/>
              <a:buNone/>
            </a:pPr>
            <a:endParaRPr lang="en-US" b="0" i="0" dirty="0">
              <a:effectLst/>
              <a:latin typeface="gg sans"/>
            </a:endParaRPr>
          </a:p>
          <a:p>
            <a:pPr algn="l" fontAlgn="base">
              <a:buFont typeface="+mj-lt"/>
              <a:buNone/>
            </a:pPr>
            <a:r>
              <a:rPr lang="en-US" b="0" i="0" dirty="0">
                <a:effectLst/>
                <a:latin typeface="gg sans"/>
              </a:rPr>
              <a:t>The most important question we must ask ourselves is what attributes of the songs influence the energy levels? Once we find these features we use them to achieve really good results. </a:t>
            </a:r>
            <a:br>
              <a:rPr lang="en-US" dirty="0"/>
            </a:br>
            <a:endParaRPr lang="en-US" b="0" i="0" dirty="0">
              <a:solidFill>
                <a:srgbClr val="000000"/>
              </a:solidFill>
              <a:effectLst/>
              <a:latin typeface="inherit"/>
            </a:endParaRPr>
          </a:p>
        </p:txBody>
      </p:sp>
      <p:sp>
        <p:nvSpPr>
          <p:cNvPr id="4" name="Slide Number Placeholder 3"/>
          <p:cNvSpPr>
            <a:spLocks noGrp="1"/>
          </p:cNvSpPr>
          <p:nvPr>
            <p:ph type="sldNum" sz="quarter" idx="5"/>
          </p:nvPr>
        </p:nvSpPr>
        <p:spPr/>
        <p:txBody>
          <a:bodyPr/>
          <a:lstStyle/>
          <a:p>
            <a:fld id="{A8122094-114F-4C82-9C5D-DA7E5737B0F5}" type="slidenum">
              <a:rPr lang="en-IN" smtClean="0"/>
              <a:t>3</a:t>
            </a:fld>
            <a:endParaRPr lang="en-IN"/>
          </a:p>
        </p:txBody>
      </p:sp>
    </p:spTree>
    <p:extLst>
      <p:ext uri="{BB962C8B-B14F-4D97-AF65-F5344CB8AC3E}">
        <p14:creationId xmlns:p14="http://schemas.microsoft.com/office/powerpoint/2010/main" val="3560889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gg sans"/>
              </a:rPr>
              <a:t>For our project we used an extensive dataset from </a:t>
            </a:r>
            <a:r>
              <a:rPr lang="en-US" b="0" i="0" dirty="0" err="1">
                <a:effectLst/>
                <a:latin typeface="gg sans"/>
              </a:rPr>
              <a:t>kaggle</a:t>
            </a:r>
            <a:r>
              <a:rPr lang="en-US" b="0" i="0" dirty="0">
                <a:effectLst/>
                <a:latin typeface="gg sans"/>
              </a:rPr>
              <a:t> that has more than 30 thousand songs and their features. </a:t>
            </a:r>
          </a:p>
          <a:p>
            <a:r>
              <a:rPr lang="en-US" b="0" i="0" dirty="0">
                <a:effectLst/>
                <a:latin typeface="gg sans"/>
              </a:rPr>
              <a:t>When songs are loud fast and noisy they could be a measure of intensity of energy. like loudness is how loud a song is based on decibel levels </a:t>
            </a:r>
          </a:p>
          <a:p>
            <a:r>
              <a:rPr lang="en-US" b="0" i="0" dirty="0" err="1">
                <a:effectLst/>
                <a:latin typeface="gg sans"/>
              </a:rPr>
              <a:t>speechiness</a:t>
            </a:r>
            <a:r>
              <a:rPr lang="en-US" b="0" i="0" dirty="0">
                <a:effectLst/>
                <a:latin typeface="gg sans"/>
              </a:rPr>
              <a:t> determines the presence of spoken words in the track </a:t>
            </a:r>
          </a:p>
          <a:p>
            <a:r>
              <a:rPr lang="en-US" b="0" i="0" dirty="0" err="1">
                <a:effectLst/>
                <a:latin typeface="gg sans"/>
              </a:rPr>
              <a:t>acousticness</a:t>
            </a:r>
            <a:r>
              <a:rPr lang="en-US" b="0" i="0" dirty="0">
                <a:effectLst/>
                <a:latin typeface="gg sans"/>
              </a:rPr>
              <a:t> determines how acoustic a song is </a:t>
            </a:r>
          </a:p>
          <a:p>
            <a:r>
              <a:rPr lang="en-US" b="0" i="0" dirty="0">
                <a:effectLst/>
                <a:latin typeface="gg sans"/>
              </a:rPr>
              <a:t>the tempo is a really good measure of song energy too as it determines the pace of the song</a:t>
            </a:r>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4</a:t>
            </a:fld>
            <a:endParaRPr lang="en-IN"/>
          </a:p>
        </p:txBody>
      </p:sp>
    </p:spTree>
    <p:extLst>
      <p:ext uri="{BB962C8B-B14F-4D97-AF65-F5344CB8AC3E}">
        <p14:creationId xmlns:p14="http://schemas.microsoft.com/office/powerpoint/2010/main" val="30961014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focused on features like tempo, loudness, </a:t>
            </a:r>
            <a:r>
              <a:rPr lang="en-US" dirty="0" err="1"/>
              <a:t>speechiness</a:t>
            </a:r>
            <a:r>
              <a:rPr lang="en-US" dirty="0"/>
              <a:t>, valence, and </a:t>
            </a:r>
            <a:r>
              <a:rPr lang="en-US" dirty="0" err="1"/>
              <a:t>acousticness</a:t>
            </a:r>
            <a:r>
              <a:rPr lang="en-US" dirty="0"/>
              <a:t> because they showed a strong correlation with the target variable (energy) during our analysis. The excluded features either had low relevance, added noise, or did not significantly improve the model's performance.</a:t>
            </a:r>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5</a:t>
            </a:fld>
            <a:endParaRPr lang="en-IN"/>
          </a:p>
        </p:txBody>
      </p:sp>
    </p:spTree>
    <p:extLst>
      <p:ext uri="{BB962C8B-B14F-4D97-AF65-F5344CB8AC3E}">
        <p14:creationId xmlns:p14="http://schemas.microsoft.com/office/powerpoint/2010/main" val="2889180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last decade Spotify has emerged as a prominent music streaming </a:t>
            </a:r>
            <a:r>
              <a:rPr lang="en-US" dirty="0" err="1"/>
              <a:t>platform,providing</a:t>
            </a:r>
            <a:r>
              <a:rPr lang="en-US" dirty="0"/>
              <a:t> a comprehensive dataset for research on music information retrieval (MIR). </a:t>
            </a:r>
            <a:r>
              <a:rPr lang="en-US" dirty="0" err="1"/>
              <a:t>Thisdataset</a:t>
            </a:r>
            <a:r>
              <a:rPr lang="en-US" dirty="0"/>
              <a:t> has been the subject of numerous studies, aimed at extracting crucial insights </a:t>
            </a:r>
            <a:r>
              <a:rPr lang="en-US" dirty="0" err="1"/>
              <a:t>anddeveloping</a:t>
            </a:r>
            <a:r>
              <a:rPr lang="en-US" dirty="0"/>
              <a:t> innovative technological tools that could revolutionize user experience and </a:t>
            </a:r>
            <a:r>
              <a:rPr lang="en-US" dirty="0" err="1"/>
              <a:t>transformthe</a:t>
            </a:r>
            <a:r>
              <a:rPr lang="en-US" dirty="0"/>
              <a:t> music industry. In recent years, machine learning has gained significant traction as </a:t>
            </a:r>
            <a:r>
              <a:rPr lang="en-US" dirty="0" err="1"/>
              <a:t>anapproach</a:t>
            </a:r>
            <a:r>
              <a:rPr lang="en-US" dirty="0"/>
              <a:t> to music analysis and researchers have employed a diverse range of machine </a:t>
            </a:r>
            <a:r>
              <a:rPr lang="en-US" dirty="0" err="1"/>
              <a:t>learningtechniques</a:t>
            </a:r>
            <a:r>
              <a:rPr lang="en-US" dirty="0"/>
              <a:t>, such as neural networks, decision trees, and regression models, to </a:t>
            </a:r>
            <a:r>
              <a:rPr lang="en-US" dirty="0" err="1"/>
              <a:t>investigatedifferent</a:t>
            </a:r>
            <a:r>
              <a:rPr lang="en-US" dirty="0"/>
              <a:t> facets of music. Notably, machine learning algorithms have been extensively used </a:t>
            </a:r>
            <a:r>
              <a:rPr lang="en-US" dirty="0" err="1"/>
              <a:t>topredict</a:t>
            </a:r>
            <a:r>
              <a:rPr lang="en-US" dirty="0"/>
              <a:t> audio features associated with the Spotify dataset and its music tracks but only a </a:t>
            </a:r>
            <a:r>
              <a:rPr lang="en-US" dirty="0" err="1"/>
              <a:t>fewfocused</a:t>
            </a:r>
            <a:r>
              <a:rPr lang="en-US" dirty="0"/>
              <a:t> on predicting the energy level of tracks.</a:t>
            </a:r>
          </a:p>
          <a:p>
            <a:r>
              <a:rPr lang="en-US" dirty="0"/>
              <a:t>A research paper has been published by Roberto Colangelo naming </a:t>
            </a:r>
            <a:r>
              <a:rPr lang="en-US" b="1" i="0" dirty="0">
                <a:solidFill>
                  <a:srgbClr val="131314"/>
                </a:solidFill>
                <a:effectLst/>
                <a:latin typeface="var(--sn-fonts-heading)"/>
              </a:rPr>
              <a:t>Machine Learning and Music: Predicting the level of energy conveyed by a soundtrack</a:t>
            </a:r>
            <a:r>
              <a:rPr lang="en-IN" b="1" i="0" dirty="0">
                <a:solidFill>
                  <a:srgbClr val="131314"/>
                </a:solidFill>
                <a:effectLst/>
                <a:latin typeface="var(--sn-fonts-heading)"/>
              </a:rPr>
              <a:t>.</a:t>
            </a:r>
          </a:p>
          <a:p>
            <a:r>
              <a:rPr lang="en-IN" b="1" i="0" dirty="0">
                <a:solidFill>
                  <a:srgbClr val="131314"/>
                </a:solidFill>
                <a:effectLst/>
                <a:latin typeface="var(--sn-fonts-heading)"/>
              </a:rPr>
              <a:t>Where he has classified the songs based on the genres. </a:t>
            </a:r>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6</a:t>
            </a:fld>
            <a:endParaRPr lang="en-IN"/>
          </a:p>
        </p:txBody>
      </p:sp>
    </p:spTree>
    <p:extLst>
      <p:ext uri="{BB962C8B-B14F-4D97-AF65-F5344CB8AC3E}">
        <p14:creationId xmlns:p14="http://schemas.microsoft.com/office/powerpoint/2010/main" val="4285794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has taken similar dataset as ours and compared every feature to find the correlation between them and </a:t>
            </a:r>
            <a:r>
              <a:rPr lang="en-US" dirty="0" err="1"/>
              <a:t>classifiy</a:t>
            </a:r>
            <a:r>
              <a:rPr lang="en-US" dirty="0"/>
              <a:t> based on their genre.</a:t>
            </a:r>
          </a:p>
          <a:p>
            <a:pPr>
              <a:buFont typeface="Arial" panose="020B0604020202020204" pitchFamily="34" charset="0"/>
              <a:buChar char="•"/>
            </a:pPr>
            <a:r>
              <a:rPr lang="en-US" dirty="0"/>
              <a:t>He has used </a:t>
            </a:r>
          </a:p>
          <a:p>
            <a:pPr>
              <a:buFont typeface="Arial" panose="020B0604020202020204" pitchFamily="34" charset="0"/>
              <a:buChar char="•"/>
            </a:pPr>
            <a:r>
              <a:rPr lang="en-IN" b="1" dirty="0"/>
              <a:t>Linear Models</a:t>
            </a:r>
            <a:r>
              <a:rPr lang="en-IN" dirty="0"/>
              <a:t>: like</a:t>
            </a:r>
          </a:p>
          <a:p>
            <a:pPr>
              <a:buFont typeface="Arial" panose="020B0604020202020204" pitchFamily="34" charset="0"/>
              <a:buChar char="•"/>
            </a:pPr>
            <a:r>
              <a:rPr lang="en-IN" dirty="0"/>
              <a:t>Simple Linear Regression</a:t>
            </a:r>
          </a:p>
          <a:p>
            <a:pPr>
              <a:buFont typeface="Arial" panose="020B0604020202020204" pitchFamily="34" charset="0"/>
              <a:buChar char="•"/>
            </a:pPr>
            <a:r>
              <a:rPr lang="en-IN" dirty="0"/>
              <a:t>Ridge and Lasso Regression</a:t>
            </a:r>
          </a:p>
          <a:p>
            <a:pPr>
              <a:buFont typeface="Arial" panose="020B0604020202020204" pitchFamily="34" charset="0"/>
              <a:buChar char="•"/>
            </a:pPr>
            <a:r>
              <a:rPr lang="en-IN" b="1" dirty="0"/>
              <a:t>Tree-Based and Nonlinear Models</a:t>
            </a:r>
            <a:r>
              <a:rPr lang="en-IN" dirty="0"/>
              <a:t>: like</a:t>
            </a:r>
          </a:p>
          <a:p>
            <a:pPr>
              <a:buFont typeface="Arial" panose="020B0604020202020204" pitchFamily="34" charset="0"/>
              <a:buChar char="•"/>
            </a:pPr>
            <a:r>
              <a:rPr lang="en-IN" dirty="0"/>
              <a:t>Decision Trees</a:t>
            </a:r>
          </a:p>
          <a:p>
            <a:pPr>
              <a:buFont typeface="Arial" panose="020B0604020202020204" pitchFamily="34" charset="0"/>
              <a:buChar char="•"/>
            </a:pPr>
            <a:r>
              <a:rPr lang="en-IN" dirty="0"/>
              <a:t>Random Forest</a:t>
            </a:r>
          </a:p>
          <a:p>
            <a:pPr>
              <a:buFont typeface="Arial" panose="020B0604020202020204" pitchFamily="34" charset="0"/>
              <a:buChar char="•"/>
            </a:pPr>
            <a:r>
              <a:rPr lang="en-IN" dirty="0"/>
              <a:t>Gradient Boosting</a:t>
            </a:r>
          </a:p>
          <a:p>
            <a:pPr>
              <a:buFont typeface="Arial" panose="020B0604020202020204" pitchFamily="34" charset="0"/>
              <a:buChar char="•"/>
            </a:pPr>
            <a:r>
              <a:rPr lang="en-IN" dirty="0" err="1"/>
              <a:t>XGBoost</a:t>
            </a:r>
            <a:endParaRPr lang="en-IN" dirty="0"/>
          </a:p>
          <a:p>
            <a:pPr>
              <a:buFont typeface="Arial" panose="020B0604020202020204" pitchFamily="34" charset="0"/>
              <a:buChar char="•"/>
            </a:pPr>
            <a:r>
              <a:rPr lang="en-IN" b="1" dirty="0"/>
              <a:t>Neural Network-Based Models</a:t>
            </a:r>
            <a:r>
              <a:rPr lang="en-IN" dirty="0"/>
              <a:t>: Multilayer Perceptron (MLP)</a:t>
            </a:r>
          </a:p>
          <a:p>
            <a:pPr>
              <a:buFont typeface="Arial" panose="020B0604020202020204" pitchFamily="34" charset="0"/>
              <a:buChar char="•"/>
            </a:pPr>
            <a:r>
              <a:rPr lang="en-IN" dirty="0"/>
              <a:t>Deep Neural Networks (DNN).</a:t>
            </a:r>
          </a:p>
          <a:p>
            <a:pPr>
              <a:buFont typeface="Arial" panose="020B0604020202020204" pitchFamily="34" charset="0"/>
              <a:buNone/>
            </a:pPr>
            <a:endParaRPr lang="en-IN" dirty="0"/>
          </a:p>
          <a:p>
            <a:pPr>
              <a:buFont typeface="Arial" panose="020B0604020202020204" pitchFamily="34" charset="0"/>
              <a:buNone/>
            </a:pPr>
            <a:r>
              <a:rPr lang="en-IN" dirty="0"/>
              <a:t>Whereas in our works we are using a limited number of features which truly affect the energy of the song and then classify songs based on our </a:t>
            </a:r>
            <a:r>
              <a:rPr lang="en-IN" dirty="0" err="1"/>
              <a:t>tradional</a:t>
            </a:r>
            <a:r>
              <a:rPr lang="en-IN" dirty="0"/>
              <a:t> methods like Linear Regressing, Random forest, SVM, Naïve bayes, and KNN.</a:t>
            </a:r>
          </a:p>
          <a:p>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7</a:t>
            </a:fld>
            <a:endParaRPr lang="en-IN"/>
          </a:p>
        </p:txBody>
      </p:sp>
    </p:spTree>
    <p:extLst>
      <p:ext uri="{BB962C8B-B14F-4D97-AF65-F5344CB8AC3E}">
        <p14:creationId xmlns:p14="http://schemas.microsoft.com/office/powerpoint/2010/main" val="2146007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Random Forest Regressor</a:t>
            </a:r>
            <a:r>
              <a:rPr lang="en-US" dirty="0"/>
              <a:t> builds multiple decision trees, each trained on a random subset of the data. This method is robust, reduces overfitting, and captures complex feature interactions. In his study, Random Forest achieved an </a:t>
            </a:r>
            <a:r>
              <a:rPr lang="en-US" dirty="0" err="1"/>
              <a:t>Rsquared</a:t>
            </a:r>
            <a:r>
              <a:rPr lang="en-US" dirty="0"/>
              <a:t> value of </a:t>
            </a:r>
            <a:r>
              <a:rPr lang="en-US" b="1" dirty="0"/>
              <a:t>0.863</a:t>
            </a:r>
            <a:r>
              <a:rPr lang="en-US" dirty="0"/>
              <a:t> and a Mean Absolute Error (MAE) of </a:t>
            </a:r>
            <a:r>
              <a:rPr lang="en-US" b="1" dirty="0"/>
              <a:t>0.071</a:t>
            </a:r>
            <a:r>
              <a:rPr lang="en-US" dirty="0"/>
              <a:t>.</a:t>
            </a:r>
          </a:p>
          <a:p>
            <a:endParaRPr lang="en-US" dirty="0"/>
          </a:p>
          <a:p>
            <a:r>
              <a:rPr lang="en-US" dirty="0"/>
              <a:t>On the other hand, </a:t>
            </a:r>
            <a:r>
              <a:rPr lang="en-US" b="1" dirty="0" err="1"/>
              <a:t>XGBoost</a:t>
            </a:r>
            <a:r>
              <a:rPr lang="en-US" b="1" dirty="0"/>
              <a:t> Regressor</a:t>
            </a:r>
            <a:r>
              <a:rPr lang="en-US" dirty="0"/>
              <a:t> is an optimized gradient boosting method. It uses advanced techniques like regularization and gradient-based sampling to improve performance and efficiency. This method stood out, achieving the best results: an </a:t>
            </a:r>
            <a:r>
              <a:rPr lang="en-US" dirty="0" err="1"/>
              <a:t>Rsquared</a:t>
            </a:r>
            <a:r>
              <a:rPr lang="en-US" dirty="0"/>
              <a:t> value of </a:t>
            </a:r>
            <a:r>
              <a:rPr lang="en-US" b="1" dirty="0"/>
              <a:t>0.878</a:t>
            </a:r>
            <a:r>
              <a:rPr lang="en-US" dirty="0"/>
              <a:t> and an MAE of </a:t>
            </a:r>
            <a:r>
              <a:rPr lang="en-US" b="1" dirty="0"/>
              <a:t>0.067</a:t>
            </a:r>
            <a:r>
              <a:rPr lang="en-US" dirty="0"/>
              <a:t>.</a:t>
            </a:r>
          </a:p>
          <a:p>
            <a:r>
              <a:rPr lang="en-US" dirty="0"/>
              <a:t>Together, these methods demonstrate the power of tree-based and ensemble approaches in predicting music energy levels with high accuracy."</a:t>
            </a:r>
          </a:p>
          <a:p>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8</a:t>
            </a:fld>
            <a:endParaRPr lang="en-IN"/>
          </a:p>
        </p:txBody>
      </p:sp>
    </p:spTree>
    <p:extLst>
      <p:ext uri="{BB962C8B-B14F-4D97-AF65-F5344CB8AC3E}">
        <p14:creationId xmlns:p14="http://schemas.microsoft.com/office/powerpoint/2010/main" val="6312556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approach involved four major steps:</a:t>
            </a:r>
          </a:p>
          <a:p>
            <a:pPr>
              <a:buFont typeface="+mj-lt"/>
              <a:buAutoNum type="arabicPeriod"/>
            </a:pPr>
            <a:r>
              <a:rPr lang="en-US" dirty="0"/>
              <a:t>Data cleaning and handling missing values.</a:t>
            </a:r>
          </a:p>
          <a:p>
            <a:pPr>
              <a:buFont typeface="+mj-lt"/>
              <a:buAutoNum type="arabicPeriod"/>
            </a:pPr>
            <a:r>
              <a:rPr lang="en-US" dirty="0"/>
              <a:t>Data analysis and visualization to understand feature distributions and relationships.</a:t>
            </a:r>
          </a:p>
          <a:p>
            <a:pPr>
              <a:buFont typeface="+mj-lt"/>
              <a:buAutoNum type="arabicPeriod"/>
            </a:pPr>
            <a:r>
              <a:rPr lang="en-US" dirty="0"/>
              <a:t>Data preprocessing, where we normalized features using Min-Max scaling.</a:t>
            </a:r>
          </a:p>
          <a:p>
            <a:pPr>
              <a:buFont typeface="+mj-lt"/>
              <a:buAutoNum type="arabicPeriod"/>
            </a:pPr>
            <a:r>
              <a:rPr lang="en-US" dirty="0"/>
              <a:t>Finally, applying classification models to predict energy levels.”</a:t>
            </a:r>
          </a:p>
          <a:p>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9</a:t>
            </a:fld>
            <a:endParaRPr lang="en-IN"/>
          </a:p>
        </p:txBody>
      </p:sp>
    </p:spTree>
    <p:extLst>
      <p:ext uri="{BB962C8B-B14F-4D97-AF65-F5344CB8AC3E}">
        <p14:creationId xmlns:p14="http://schemas.microsoft.com/office/powerpoint/2010/main" val="11021531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training and testing data split, 80% of the data we are using for training and rest 20% is used for testing.</a:t>
            </a:r>
          </a:p>
          <a:p>
            <a:r>
              <a:rPr lang="en-US" dirty="0"/>
              <a:t>We have also randomized the data to have a better generalization.</a:t>
            </a:r>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10</a:t>
            </a:fld>
            <a:endParaRPr lang="en-IN"/>
          </a:p>
        </p:txBody>
      </p:sp>
    </p:spTree>
    <p:extLst>
      <p:ext uri="{BB962C8B-B14F-4D97-AF65-F5344CB8AC3E}">
        <p14:creationId xmlns:p14="http://schemas.microsoft.com/office/powerpoint/2010/main" val="640886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rows with missing values and removed them since each song is unique and imputing values wouldn’t make sense.</a:t>
            </a:r>
            <a:br>
              <a:rPr lang="en-US" dirty="0"/>
            </a:br>
            <a:r>
              <a:rPr lang="en-US" dirty="0"/>
              <a:t>This ensured the dataset was complete and consistent for analysis.</a:t>
            </a:r>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11</a:t>
            </a:fld>
            <a:endParaRPr lang="en-IN"/>
          </a:p>
        </p:txBody>
      </p:sp>
    </p:spTree>
    <p:extLst>
      <p:ext uri="{BB962C8B-B14F-4D97-AF65-F5344CB8AC3E}">
        <p14:creationId xmlns:p14="http://schemas.microsoft.com/office/powerpoint/2010/main" val="15973946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then analyzed the data to understand feature distributions and correlations:</a:t>
            </a:r>
          </a:p>
          <a:p>
            <a:pPr>
              <a:buFont typeface="Arial" panose="020B0604020202020204" pitchFamily="34" charset="0"/>
              <a:buChar char="•"/>
            </a:pPr>
            <a:r>
              <a:rPr lang="en-US" dirty="0"/>
              <a:t>Features like tempo, </a:t>
            </a:r>
            <a:r>
              <a:rPr lang="en-US" dirty="0" err="1"/>
              <a:t>speechness</a:t>
            </a:r>
            <a:r>
              <a:rPr lang="en-US" dirty="0"/>
              <a:t> and loudness were found to significantly influence energy levels.</a:t>
            </a:r>
          </a:p>
          <a:p>
            <a:pPr>
              <a:buFont typeface="Arial" panose="020B0604020202020204" pitchFamily="34" charset="0"/>
              <a:buChar char="•"/>
            </a:pPr>
            <a:r>
              <a:rPr lang="en-US" dirty="0"/>
              <a:t>Visualization techniques like histograms helped us identify trends and patterns in the data.</a:t>
            </a:r>
          </a:p>
          <a:p>
            <a:r>
              <a:rPr lang="en-US" dirty="0"/>
              <a:t>These insights guided our preprocessing and modeling decisions.”</a:t>
            </a:r>
          </a:p>
          <a:p>
            <a:r>
              <a:rPr lang="en-US" dirty="0"/>
              <a:t>MEAN provides the average value of a feature, giving a central tendency of the dataset. It helps to understand where most of the data points are concentrated. </a:t>
            </a:r>
          </a:p>
          <a:p>
            <a:r>
              <a:rPr lang="en-US" dirty="0"/>
              <a:t>MEDIAN Identifies the central tendency like when the data has extreme values.</a:t>
            </a:r>
          </a:p>
          <a:p>
            <a:r>
              <a:rPr lang="en-US" dirty="0"/>
              <a:t>STANDARD DEVIATION measures the spread or variability of data around the mean. It helps determine whether a feature has consistent or widely varying values.</a:t>
            </a:r>
          </a:p>
          <a:p>
            <a:r>
              <a:rPr lang="en-US" dirty="0"/>
              <a:t>MEAN, MEDIAN and STANDARAD DEVIATION helps us in normalization. </a:t>
            </a:r>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12</a:t>
            </a:fld>
            <a:endParaRPr lang="en-IN"/>
          </a:p>
        </p:txBody>
      </p:sp>
    </p:spTree>
    <p:extLst>
      <p:ext uri="{BB962C8B-B14F-4D97-AF65-F5344CB8AC3E}">
        <p14:creationId xmlns:p14="http://schemas.microsoft.com/office/powerpoint/2010/main" val="31367612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Coming onto Preprocessing </a:t>
            </a:r>
          </a:p>
          <a:p>
            <a:r>
              <a:rPr lang="en-US" dirty="0"/>
              <a:t>It was crucial to ensure model performance.</a:t>
            </a:r>
          </a:p>
          <a:p>
            <a:pPr>
              <a:buFont typeface="Arial" panose="020B0604020202020204" pitchFamily="34" charset="0"/>
              <a:buChar char="•"/>
            </a:pPr>
            <a:r>
              <a:rPr lang="en-US" dirty="0"/>
              <a:t>We have used </a:t>
            </a:r>
            <a:r>
              <a:rPr lang="en-US" b="1" dirty="0"/>
              <a:t>Min-Max scaling</a:t>
            </a:r>
            <a:r>
              <a:rPr lang="en-US" dirty="0"/>
              <a:t> to normalize features like tempo and loudness to a range of [0, 1].</a:t>
            </a:r>
          </a:p>
          <a:p>
            <a:pPr>
              <a:buFont typeface="Arial" panose="020B0604020202020204" pitchFamily="34" charset="0"/>
              <a:buChar char="•"/>
            </a:pPr>
            <a:r>
              <a:rPr lang="en-US" dirty="0"/>
              <a:t>This prevented features with large ranges from dominating distance-based models like KNN, SVM”</a:t>
            </a:r>
          </a:p>
          <a:p>
            <a:endParaRPr lang="en-US" dirty="0"/>
          </a:p>
          <a:p>
            <a:r>
              <a:rPr lang="en-US" dirty="0"/>
              <a:t>You can see the equation for min max scaling,</a:t>
            </a:r>
          </a:p>
          <a:p>
            <a:r>
              <a:rPr lang="en-US" dirty="0"/>
              <a:t>Where:</a:t>
            </a:r>
          </a:p>
          <a:p>
            <a:pPr>
              <a:buFont typeface="Arial" panose="020B0604020202020204" pitchFamily="34" charset="0"/>
              <a:buChar char="•"/>
            </a:pPr>
            <a:r>
              <a:rPr lang="en-US" dirty="0"/>
              <a:t>X:  is </a:t>
            </a:r>
            <a:r>
              <a:rPr lang="en-US" dirty="0" err="1"/>
              <a:t>theOriginal</a:t>
            </a:r>
            <a:r>
              <a:rPr lang="en-US" dirty="0"/>
              <a:t> feature value</a:t>
            </a:r>
          </a:p>
          <a:p>
            <a:pPr>
              <a:buFont typeface="Arial" panose="020B0604020202020204" pitchFamily="34" charset="0"/>
              <a:buChar char="•"/>
            </a:pPr>
            <a:r>
              <a:rPr lang="en-US" dirty="0" err="1"/>
              <a:t>Xmin</a:t>
            </a:r>
            <a:r>
              <a:rPr lang="en-US" dirty="0"/>
              <a:t> ​: is the Minimum value in the feature</a:t>
            </a:r>
          </a:p>
          <a:p>
            <a:pPr>
              <a:buFont typeface="Arial" panose="020B0604020202020204" pitchFamily="34" charset="0"/>
              <a:buChar char="•"/>
            </a:pPr>
            <a:r>
              <a:rPr lang="en-US" dirty="0"/>
              <a:t>Similarly, </a:t>
            </a:r>
            <a:r>
              <a:rPr lang="en-US" dirty="0" err="1"/>
              <a:t>Xmax</a:t>
            </a:r>
            <a:r>
              <a:rPr lang="en-US" dirty="0"/>
              <a:t> ​:is the Maximum value in the feature</a:t>
            </a:r>
          </a:p>
          <a:p>
            <a:pPr>
              <a:buFont typeface="Arial" panose="020B0604020202020204" pitchFamily="34" charset="0"/>
              <a:buChar char="•"/>
            </a:pPr>
            <a:r>
              <a:rPr lang="en-US" dirty="0"/>
              <a:t>X′: is Scaled feature value  which ranges between 0 and 1.</a:t>
            </a:r>
          </a:p>
          <a:p>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13</a:t>
            </a:fld>
            <a:endParaRPr lang="en-IN"/>
          </a:p>
        </p:txBody>
      </p:sp>
    </p:spTree>
    <p:extLst>
      <p:ext uri="{BB962C8B-B14F-4D97-AF65-F5344CB8AC3E}">
        <p14:creationId xmlns:p14="http://schemas.microsoft.com/office/powerpoint/2010/main" val="1072365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So now coming onto the KNN part it stands for (</a:t>
            </a:r>
            <a:r>
              <a:rPr lang="en-IN" b="1" i="0" dirty="0">
                <a:solidFill>
                  <a:srgbClr val="BFBFBF"/>
                </a:solidFill>
                <a:effectLst/>
                <a:latin typeface="Roboto" panose="02000000000000000000" pitchFamily="2" charset="0"/>
              </a:rPr>
              <a:t>k-nearest </a:t>
            </a:r>
            <a:r>
              <a:rPr lang="en-IN" b="1" i="0" dirty="0" err="1">
                <a:solidFill>
                  <a:srgbClr val="BFBFBF"/>
                </a:solidFill>
                <a:effectLst/>
                <a:latin typeface="Roboto" panose="02000000000000000000" pitchFamily="2" charset="0"/>
              </a:rPr>
              <a:t>neighbors</a:t>
            </a:r>
            <a:r>
              <a:rPr lang="en-IN" b="1" i="0" dirty="0">
                <a:solidFill>
                  <a:srgbClr val="BFBFBF"/>
                </a:solidFill>
                <a:effectLst/>
                <a:latin typeface="Roboto" panose="02000000000000000000" pitchFamily="2" charset="0"/>
              </a:rPr>
              <a:t> algorithm). It</a:t>
            </a:r>
            <a:r>
              <a:rPr lang="en-US" dirty="0"/>
              <a:t> is a simple, non-parametric, instance-based machine learning algorithm used for </a:t>
            </a:r>
            <a:r>
              <a:rPr lang="en-US" b="1" dirty="0"/>
              <a:t>classification</a:t>
            </a:r>
            <a:r>
              <a:rPr lang="en-US" dirty="0"/>
              <a:t> and </a:t>
            </a:r>
            <a:r>
              <a:rPr lang="en-US" b="1" dirty="0"/>
              <a:t>regression</a:t>
            </a:r>
            <a:r>
              <a:rPr lang="en-US" dirty="0"/>
              <a:t> tasks.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makes predictions based on the similarity of data points in the feature space.</a:t>
            </a:r>
          </a:p>
          <a:p>
            <a:r>
              <a:rPr lang="en-US" b="1" dirty="0"/>
              <a:t>Let us see briefly see how KNN Works?</a:t>
            </a:r>
          </a:p>
          <a:p>
            <a:r>
              <a:rPr lang="en-US" b="1" dirty="0"/>
              <a:t>We can see our given point ane we want our point to place in one of the following classes.</a:t>
            </a:r>
          </a:p>
          <a:p>
            <a:pPr>
              <a:buFont typeface="+mj-lt"/>
              <a:buAutoNum type="arabicPeriod"/>
            </a:pPr>
            <a:r>
              <a:rPr lang="en-US" b="1" dirty="0"/>
              <a:t> </a:t>
            </a:r>
            <a:r>
              <a:rPr lang="en-US" b="0" dirty="0"/>
              <a:t>Firstly the</a:t>
            </a:r>
            <a:r>
              <a:rPr lang="en-US" dirty="0"/>
              <a:t>, KNN calculates the distance between our given point and all points in the training dataset.</a:t>
            </a:r>
          </a:p>
          <a:p>
            <a:pPr>
              <a:buFont typeface="+mj-lt"/>
              <a:buAutoNum type="arabicPeriod"/>
            </a:pPr>
            <a:r>
              <a:rPr lang="en-US" dirty="0"/>
              <a:t> then it selects the k closest points to our given point.</a:t>
            </a:r>
          </a:p>
          <a:p>
            <a:pPr>
              <a:buFont typeface="+mj-lt"/>
              <a:buAutoNum type="arabicPeriod"/>
            </a:pPr>
            <a:r>
              <a:rPr lang="en-US" dirty="0"/>
              <a:t> then the class with most number of points closer to our given point. Will be the class which our given point would fall into.</a:t>
            </a:r>
          </a:p>
          <a:p>
            <a:pPr>
              <a:buFont typeface="+mj-lt"/>
              <a:buNone/>
            </a:pPr>
            <a:endParaRPr lang="en-US" dirty="0"/>
          </a:p>
          <a:p>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15</a:t>
            </a:fld>
            <a:endParaRPr lang="en-IN"/>
          </a:p>
        </p:txBody>
      </p:sp>
    </p:spTree>
    <p:extLst>
      <p:ext uri="{BB962C8B-B14F-4D97-AF65-F5344CB8AC3E}">
        <p14:creationId xmlns:p14="http://schemas.microsoft.com/office/powerpoint/2010/main" val="15013483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None/>
            </a:pPr>
            <a:r>
              <a:rPr lang="en-US" dirty="0"/>
              <a:t>You maybe wondering what K and F1 score means</a:t>
            </a:r>
          </a:p>
          <a:p>
            <a:pPr>
              <a:buFont typeface="+mj-lt"/>
              <a:buNone/>
            </a:pPr>
            <a:r>
              <a:rPr lang="en-US" dirty="0"/>
              <a:t>So K is the number of </a:t>
            </a:r>
            <a:r>
              <a:rPr lang="en-US" dirty="0" err="1"/>
              <a:t>neighbours</a:t>
            </a:r>
            <a:r>
              <a:rPr lang="en-US" dirty="0"/>
              <a:t> and,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US" b="1" dirty="0"/>
              <a:t>F1 Score</a:t>
            </a:r>
            <a:r>
              <a:rPr lang="en-US" dirty="0"/>
              <a:t> is the harmonic mean of </a:t>
            </a:r>
            <a:r>
              <a:rPr lang="en-US" b="1" dirty="0"/>
              <a:t>precision</a:t>
            </a:r>
            <a:r>
              <a:rPr lang="en-US" dirty="0"/>
              <a:t> and </a:t>
            </a:r>
            <a:r>
              <a:rPr lang="en-US" b="1" dirty="0"/>
              <a:t>recall</a:t>
            </a:r>
            <a:r>
              <a:rPr lang="en-US" dirty="0"/>
              <a:t>. It is useful when the dataset is imbalanced, as it considers both positives and false negatives for overall model performance.</a:t>
            </a:r>
          </a:p>
          <a:p>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16</a:t>
            </a:fld>
            <a:endParaRPr lang="en-IN"/>
          </a:p>
        </p:txBody>
      </p:sp>
    </p:spTree>
    <p:extLst>
      <p:ext uri="{BB962C8B-B14F-4D97-AF65-F5344CB8AC3E}">
        <p14:creationId xmlns:p14="http://schemas.microsoft.com/office/powerpoint/2010/main" val="38538616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interesting thing we could see in this is the negative coefficient values for some feature this is because the negative values represent the </a:t>
            </a:r>
            <a:r>
              <a:rPr lang="en-US" b="1" dirty="0"/>
              <a:t>direction of the relationship</a:t>
            </a:r>
            <a:r>
              <a:rPr lang="en-US" dirty="0"/>
              <a:t> between the feature and the target variable, which here is energy.</a:t>
            </a:r>
          </a:p>
          <a:p>
            <a:endParaRPr lang="en-US" dirty="0"/>
          </a:p>
          <a:p>
            <a:pPr marL="457200" lvl="1" indent="0">
              <a:buFont typeface="+mj-lt"/>
              <a:buNone/>
            </a:pPr>
            <a:r>
              <a:rPr lang="en-US" dirty="0"/>
              <a:t>So A positive value means the feature has a </a:t>
            </a:r>
            <a:r>
              <a:rPr lang="en-US" b="1" dirty="0"/>
              <a:t>direct relationship</a:t>
            </a:r>
            <a:r>
              <a:rPr lang="en-US" dirty="0"/>
              <a:t> with the target variable. For example ,higher the tempo higher the energy</a:t>
            </a:r>
          </a:p>
          <a:p>
            <a:pPr>
              <a:buFont typeface="+mj-lt"/>
              <a:buNone/>
            </a:pPr>
            <a:endParaRPr lang="en-US" dirty="0"/>
          </a:p>
          <a:p>
            <a:pPr marL="457200" lvl="1" indent="0">
              <a:buFont typeface="+mj-lt"/>
              <a:buNone/>
            </a:pPr>
            <a:r>
              <a:rPr lang="en-US" dirty="0"/>
              <a:t>A negative value means the feature has an </a:t>
            </a:r>
            <a:r>
              <a:rPr lang="en-US" b="1" dirty="0"/>
              <a:t>inverse relationship</a:t>
            </a:r>
            <a:r>
              <a:rPr lang="en-US" dirty="0"/>
              <a:t> with the target variable. For example , higher </a:t>
            </a:r>
            <a:r>
              <a:rPr lang="en-US" dirty="0" err="1"/>
              <a:t>accousticness</a:t>
            </a:r>
            <a:r>
              <a:rPr lang="en-US" dirty="0"/>
              <a:t> leads to lower energy.</a:t>
            </a:r>
          </a:p>
          <a:p>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17</a:t>
            </a:fld>
            <a:endParaRPr lang="en-IN"/>
          </a:p>
        </p:txBody>
      </p:sp>
    </p:spTree>
    <p:extLst>
      <p:ext uri="{BB962C8B-B14F-4D97-AF65-F5344CB8AC3E}">
        <p14:creationId xmlns:p14="http://schemas.microsoft.com/office/powerpoint/2010/main" val="20628343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ROC curve</a:t>
            </a:r>
            <a:r>
              <a:rPr lang="en-US" dirty="0"/>
              <a:t> (Receiver Operating Characteristic curve) is a graphical representation used to evaluate the performance of a binary classification model. It illustrates the trade-off between the </a:t>
            </a:r>
            <a:r>
              <a:rPr lang="en-US" b="1" dirty="0"/>
              <a:t>True Positive Rate (TPR)</a:t>
            </a:r>
            <a:r>
              <a:rPr lang="en-US" dirty="0"/>
              <a:t> and the </a:t>
            </a:r>
            <a:r>
              <a:rPr lang="en-US" b="1" dirty="0"/>
              <a:t>False Positive Rate (FPR)</a:t>
            </a:r>
            <a:r>
              <a:rPr lang="en-US" dirty="0"/>
              <a:t> across different decision thresholds.</a:t>
            </a:r>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18</a:t>
            </a:fld>
            <a:endParaRPr lang="en-IN"/>
          </a:p>
        </p:txBody>
      </p:sp>
    </p:spTree>
    <p:extLst>
      <p:ext uri="{BB962C8B-B14F-4D97-AF65-F5344CB8AC3E}">
        <p14:creationId xmlns:p14="http://schemas.microsoft.com/office/powerpoint/2010/main" val="819312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19</a:t>
            </a:fld>
            <a:endParaRPr lang="en-IN"/>
          </a:p>
        </p:txBody>
      </p:sp>
    </p:spTree>
    <p:extLst>
      <p:ext uri="{BB962C8B-B14F-4D97-AF65-F5344CB8AC3E}">
        <p14:creationId xmlns:p14="http://schemas.microsoft.com/office/powerpoint/2010/main" val="921249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gg sans"/>
              </a:rPr>
              <a:t>From our analysis we can clearly see that KNN performed much better as it focuses on the similarity between closest data points, making it well-suited for datasets where instances with similar features (e.g., tempo, loudness) share the same label (e.g., energetic or non-energetic). Features like loudness and tempo are likely to have clear separations between energetic and non-energetic songs, enabling KNN to classify effectively.</a:t>
            </a:r>
          </a:p>
          <a:p>
            <a:r>
              <a:rPr lang="en-US" b="0" i="0" dirty="0">
                <a:effectLst/>
                <a:latin typeface="gg sans"/>
              </a:rPr>
              <a:t> Normalization is crucial for KNN thus Min-Max scaling ensured that all features contributed equally to the distance metric, preventing large-scale features (e.g., tempo) from dominating small-scale ones (e.g., </a:t>
            </a:r>
            <a:r>
              <a:rPr lang="en-US" b="0" i="0" dirty="0" err="1">
                <a:effectLst/>
                <a:latin typeface="gg sans"/>
              </a:rPr>
              <a:t>speechiness</a:t>
            </a:r>
            <a:r>
              <a:rPr lang="en-US" b="0" i="0" dirty="0">
                <a:effectLst/>
                <a:latin typeface="gg sans"/>
              </a:rPr>
              <a:t>). </a:t>
            </a:r>
          </a:p>
          <a:p>
            <a:r>
              <a:rPr lang="en-US" b="0" i="0" dirty="0">
                <a:effectLst/>
                <a:latin typeface="gg sans"/>
              </a:rPr>
              <a:t>It uses proximity-based voting, making it effective for datasets with clear relationships between features and target labels. </a:t>
            </a:r>
          </a:p>
          <a:p>
            <a:r>
              <a:rPr lang="en-US" b="0" i="0" dirty="0">
                <a:effectLst/>
                <a:latin typeface="gg sans"/>
              </a:rPr>
              <a:t>In summary, our project bridges the gap between the technical attributes of music and the emotional connection listeners experience. By classifying songs based on their 'vibes,' we’ve opened up new possibilities for personalized music discovery. </a:t>
            </a:r>
          </a:p>
          <a:p>
            <a:r>
              <a:rPr lang="en-US" b="0" i="0" dirty="0">
                <a:effectLst/>
                <a:latin typeface="gg sans"/>
              </a:rPr>
              <a:t>Looking ahead, the integration of user feedback and real-time mood detection could make this system even more adaptive and personalized.</a:t>
            </a:r>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21</a:t>
            </a:fld>
            <a:endParaRPr lang="en-IN"/>
          </a:p>
        </p:txBody>
      </p:sp>
    </p:spTree>
    <p:extLst>
      <p:ext uri="{BB962C8B-B14F-4D97-AF65-F5344CB8AC3E}">
        <p14:creationId xmlns:p14="http://schemas.microsoft.com/office/powerpoint/2010/main" val="27675988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CNNs and DNNs are most effective when working with raw, high-dimensional data like images, audio waveforms, or spectrograms. Since you’re not using raw audio data, simpler models like KNN or Logistic Regression are sufficient for classification tasks.</a:t>
            </a:r>
          </a:p>
          <a:p>
            <a:endParaRPr lang="en-IN" dirty="0"/>
          </a:p>
        </p:txBody>
      </p:sp>
      <p:sp>
        <p:nvSpPr>
          <p:cNvPr id="4" name="Slide Number Placeholder 3"/>
          <p:cNvSpPr>
            <a:spLocks noGrp="1"/>
          </p:cNvSpPr>
          <p:nvPr>
            <p:ph type="sldNum" sz="quarter" idx="5"/>
          </p:nvPr>
        </p:nvSpPr>
        <p:spPr/>
        <p:txBody>
          <a:bodyPr/>
          <a:lstStyle/>
          <a:p>
            <a:fld id="{A8122094-114F-4C82-9C5D-DA7E5737B0F5}" type="slidenum">
              <a:rPr lang="en-IN" smtClean="0"/>
              <a:t>22</a:t>
            </a:fld>
            <a:endParaRPr lang="en-IN"/>
          </a:p>
        </p:txBody>
      </p:sp>
    </p:spTree>
    <p:extLst>
      <p:ext uri="{BB962C8B-B14F-4D97-AF65-F5344CB8AC3E}">
        <p14:creationId xmlns:p14="http://schemas.microsoft.com/office/powerpoint/2010/main" val="1194016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12/9/2024</a:t>
            </a:fld>
            <a:endParaRPr lang="en-US" dirty="0"/>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dirty="0"/>
          </a:p>
        </p:txBody>
      </p:sp>
    </p:spTree>
    <p:extLst>
      <p:ext uri="{BB962C8B-B14F-4D97-AF65-F5344CB8AC3E}">
        <p14:creationId xmlns:p14="http://schemas.microsoft.com/office/powerpoint/2010/main" val="43880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12/9/2024</a:t>
            </a:fld>
            <a:endParaRPr lang="en-US"/>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806007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12/9/2024</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592532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12/9/2024</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524852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12/9/2024</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954394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12/9/2024</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608283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12/9/2024</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825499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12/9/2024</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651467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12/9/2024</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063679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12/9/2024</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537502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12/9/2024</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849069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12/9/2024</a:t>
            </a:fld>
            <a:endParaRPr lang="en-US" sz="1000" dirty="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dirty="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40411184"/>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5" Type="http://schemas.openxmlformats.org/officeDocument/2006/relationships/image" Target="../media/image38.png"/><Relationship Id="rId10" Type="http://schemas.openxmlformats.org/officeDocument/2006/relationships/image" Target="../media/image33.png"/><Relationship Id="rId4" Type="http://schemas.openxmlformats.org/officeDocument/2006/relationships/image" Target="../media/image27.jpg"/><Relationship Id="rId9" Type="http://schemas.openxmlformats.org/officeDocument/2006/relationships/image" Target="../media/image32.png"/><Relationship Id="rId14"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1.jpg"/><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svg"/></Relationships>
</file>

<file path=ppt/slides/_rels/slide14.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svg"/><Relationship Id="rId7" Type="http://schemas.openxmlformats.org/officeDocument/2006/relationships/image" Target="../media/image50.sv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 Id="rId9" Type="http://schemas.openxmlformats.org/officeDocument/2006/relationships/image" Target="../media/image52.svg"/></Relationships>
</file>

<file path=ppt/slides/_rels/slide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17.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jpg"/></Relationships>
</file>

<file path=ppt/slides/_rels/slide18.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6.jpg"/><Relationship Id="rId5" Type="http://schemas.openxmlformats.org/officeDocument/2006/relationships/image" Target="../media/image65.png"/><Relationship Id="rId4" Type="http://schemas.openxmlformats.org/officeDocument/2006/relationships/image" Target="../media/image64.jpg"/></Relationships>
</file>

<file path=ppt/slides/_rels/slide19.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20.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2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3.sv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5" name="Rectangle 94">
            <a:extLst>
              <a:ext uri="{FF2B5EF4-FFF2-40B4-BE49-F238E27FC236}">
                <a16:creationId xmlns:a16="http://schemas.microsoft.com/office/drawing/2014/main" id="{1FD5705B-63E0-4364-B909-EC902FEAAC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Rectangle 96">
            <a:extLst>
              <a:ext uri="{FF2B5EF4-FFF2-40B4-BE49-F238E27FC236}">
                <a16:creationId xmlns:a16="http://schemas.microsoft.com/office/drawing/2014/main" id="{0B7E355D-DAEA-4421-B67A-FA13C0FBDC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9F3BCD44-77C1-4652-E58A-D31FE1C9F9AD}"/>
              </a:ext>
            </a:extLst>
          </p:cNvPr>
          <p:cNvSpPr>
            <a:spLocks noGrp="1"/>
          </p:cNvSpPr>
          <p:nvPr>
            <p:ph type="ctrTitle"/>
          </p:nvPr>
        </p:nvSpPr>
        <p:spPr>
          <a:xfrm>
            <a:off x="777239" y="1122363"/>
            <a:ext cx="5047488" cy="2387600"/>
          </a:xfrm>
        </p:spPr>
        <p:txBody>
          <a:bodyPr>
            <a:normAutofit/>
          </a:bodyPr>
          <a:lstStyle/>
          <a:p>
            <a:pPr algn="l"/>
            <a:r>
              <a:rPr lang="en-US" dirty="0">
                <a:solidFill>
                  <a:srgbClr val="C836B7"/>
                </a:solidFill>
                <a:latin typeface="Arial Rounded MT Bold" panose="020F0704030504030204" pitchFamily="34" charset="0"/>
              </a:rPr>
              <a:t>Song Energy Classifier.</a:t>
            </a:r>
            <a:endParaRPr lang="en-IN" dirty="0">
              <a:solidFill>
                <a:srgbClr val="C836B7"/>
              </a:solidFill>
              <a:latin typeface="Arial Rounded MT Bold" panose="020F0704030504030204" pitchFamily="34" charset="0"/>
            </a:endParaRPr>
          </a:p>
        </p:txBody>
      </p:sp>
      <p:sp>
        <p:nvSpPr>
          <p:cNvPr id="3" name="Subtitle 2">
            <a:extLst>
              <a:ext uri="{FF2B5EF4-FFF2-40B4-BE49-F238E27FC236}">
                <a16:creationId xmlns:a16="http://schemas.microsoft.com/office/drawing/2014/main" id="{77077169-5E18-D2FF-536B-50FAB81A9F57}"/>
              </a:ext>
            </a:extLst>
          </p:cNvPr>
          <p:cNvSpPr>
            <a:spLocks noGrp="1"/>
          </p:cNvSpPr>
          <p:nvPr>
            <p:ph type="subTitle" idx="1"/>
          </p:nvPr>
        </p:nvSpPr>
        <p:spPr>
          <a:xfrm>
            <a:off x="777239" y="3602038"/>
            <a:ext cx="5047488" cy="1655762"/>
          </a:xfrm>
        </p:spPr>
        <p:txBody>
          <a:bodyPr>
            <a:normAutofit/>
          </a:bodyPr>
          <a:lstStyle/>
          <a:p>
            <a:pPr algn="l"/>
            <a:r>
              <a:rPr lang="en-US" dirty="0">
                <a:solidFill>
                  <a:srgbClr val="DA74CE"/>
                </a:solidFill>
              </a:rPr>
              <a:t>By: Divyam Patel , Vineet </a:t>
            </a:r>
            <a:r>
              <a:rPr lang="en-US" dirty="0" err="1">
                <a:solidFill>
                  <a:srgbClr val="DA74CE"/>
                </a:solidFill>
              </a:rPr>
              <a:t>Kotian</a:t>
            </a:r>
            <a:r>
              <a:rPr lang="en-US" dirty="0">
                <a:solidFill>
                  <a:srgbClr val="DA74CE"/>
                </a:solidFill>
              </a:rPr>
              <a:t> , Rohan Swain</a:t>
            </a:r>
            <a:endParaRPr lang="en-IN" dirty="0">
              <a:solidFill>
                <a:srgbClr val="DA74CE"/>
              </a:solidFill>
            </a:endParaRPr>
          </a:p>
        </p:txBody>
      </p:sp>
      <p:grpSp>
        <p:nvGrpSpPr>
          <p:cNvPr id="99" name="decorative circles">
            <a:extLst>
              <a:ext uri="{FF2B5EF4-FFF2-40B4-BE49-F238E27FC236}">
                <a16:creationId xmlns:a16="http://schemas.microsoft.com/office/drawing/2014/main" id="{61D9147E-6246-4344-B99C-7E58532D8C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70062" y="289695"/>
            <a:ext cx="4971115" cy="6138399"/>
            <a:chOff x="6870062" y="289695"/>
            <a:chExt cx="4971115" cy="6138399"/>
          </a:xfrm>
        </p:grpSpPr>
        <p:sp>
          <p:nvSpPr>
            <p:cNvPr id="100" name="Oval 99">
              <a:extLst>
                <a:ext uri="{FF2B5EF4-FFF2-40B4-BE49-F238E27FC236}">
                  <a16:creationId xmlns:a16="http://schemas.microsoft.com/office/drawing/2014/main" id="{B9D06285-CD49-4308-BDD4-0AF48D39BE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1D4A3886-A465-4577-99CE-251AA7B92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74736" y="5667686"/>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6B4A1D21-7CBB-44D9-A528-DB74C3107E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27805" y="5275653"/>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73600DE0-90F9-4BD7-A084-ECB65A27B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9847" y="59428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EC243907-3995-49EB-94E9-35C68C13C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1540" y="655922"/>
              <a:ext cx="466441" cy="466441"/>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4629A2DC-7066-4487-A307-68F210722C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D0508B2B-067E-421A-9C09-522CFF39FB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3367" y="6122314"/>
              <a:ext cx="305780" cy="305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889BA730-4DAE-4702-A5C5-013F9CEB0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0062" y="5959435"/>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descr="A group of girls with headphones&#10;&#10;Description automatically generated">
            <a:extLst>
              <a:ext uri="{FF2B5EF4-FFF2-40B4-BE49-F238E27FC236}">
                <a16:creationId xmlns:a16="http://schemas.microsoft.com/office/drawing/2014/main" id="{6257A8A0-A6A4-E983-4574-FDCF6D7B8882}"/>
              </a:ext>
            </a:extLst>
          </p:cNvPr>
          <p:cNvPicPr>
            <a:picLocks noChangeAspect="1"/>
          </p:cNvPicPr>
          <p:nvPr/>
        </p:nvPicPr>
        <p:blipFill>
          <a:blip r:embed="rId3">
            <a:extLst>
              <a:ext uri="{28A0092B-C50C-407E-A947-70E740481C1C}">
                <a14:useLocalDpi xmlns:a14="http://schemas.microsoft.com/office/drawing/2010/main" val="0"/>
              </a:ext>
            </a:extLst>
          </a:blip>
          <a:srcRect l="23871" r="15878" b="-2"/>
          <a:stretch/>
        </p:blipFill>
        <p:spPr>
          <a:xfrm>
            <a:off x="6306574" y="552339"/>
            <a:ext cx="5728174" cy="5728174"/>
          </a:xfrm>
          <a:custGeom>
            <a:avLst/>
            <a:gdLst/>
            <a:ahLst/>
            <a:cxnLst/>
            <a:rect l="l" t="t" r="r" b="b"/>
            <a:pathLst>
              <a:path w="3111160" h="3111160">
                <a:moveTo>
                  <a:pt x="1555580" y="0"/>
                </a:moveTo>
                <a:cubicBezTo>
                  <a:pt x="2414703" y="0"/>
                  <a:pt x="3111160" y="696457"/>
                  <a:pt x="3111160" y="1555580"/>
                </a:cubicBezTo>
                <a:cubicBezTo>
                  <a:pt x="3111160" y="2414703"/>
                  <a:pt x="2414703" y="3111160"/>
                  <a:pt x="1555580" y="3111160"/>
                </a:cubicBezTo>
                <a:cubicBezTo>
                  <a:pt x="696457" y="3111160"/>
                  <a:pt x="0" y="2414703"/>
                  <a:pt x="0" y="1555580"/>
                </a:cubicBezTo>
                <a:cubicBezTo>
                  <a:pt x="0" y="696457"/>
                  <a:pt x="696457" y="0"/>
                  <a:pt x="1555580" y="0"/>
                </a:cubicBezTo>
                <a:close/>
              </a:path>
            </a:pathLst>
          </a:custGeom>
        </p:spPr>
      </p:pic>
    </p:spTree>
    <p:extLst>
      <p:ext uri="{BB962C8B-B14F-4D97-AF65-F5344CB8AC3E}">
        <p14:creationId xmlns:p14="http://schemas.microsoft.com/office/powerpoint/2010/main" val="3618590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1" name="Rectangle 80">
            <a:extLst>
              <a:ext uri="{FF2B5EF4-FFF2-40B4-BE49-F238E27FC236}">
                <a16:creationId xmlns:a16="http://schemas.microsoft.com/office/drawing/2014/main" id="{E174D5FB-8628-46BB-8D03-326CDC959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a:extLst>
              <a:ext uri="{FF2B5EF4-FFF2-40B4-BE49-F238E27FC236}">
                <a16:creationId xmlns:a16="http://schemas.microsoft.com/office/drawing/2014/main" id="{BC13C9C4-B9DC-4669-B764-5269CECF5F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528E574D-7173-642C-85E9-4CA34FB67828}"/>
              </a:ext>
            </a:extLst>
          </p:cNvPr>
          <p:cNvSpPr>
            <a:spLocks noGrp="1"/>
          </p:cNvSpPr>
          <p:nvPr>
            <p:ph type="title"/>
          </p:nvPr>
        </p:nvSpPr>
        <p:spPr>
          <a:xfrm>
            <a:off x="416168" y="0"/>
            <a:ext cx="7376160" cy="2493876"/>
          </a:xfrm>
        </p:spPr>
        <p:txBody>
          <a:bodyPr anchor="b">
            <a:normAutofit/>
          </a:bodyPr>
          <a:lstStyle/>
          <a:p>
            <a:r>
              <a:rPr lang="en-IN" sz="4400" spc="2245" dirty="0"/>
              <a:t>CONTENTS</a:t>
            </a:r>
            <a:endParaRPr lang="en-IN" sz="4400" dirty="0"/>
          </a:p>
        </p:txBody>
      </p:sp>
      <p:sp>
        <p:nvSpPr>
          <p:cNvPr id="3" name="Content Placeholder 2">
            <a:extLst>
              <a:ext uri="{FF2B5EF4-FFF2-40B4-BE49-F238E27FC236}">
                <a16:creationId xmlns:a16="http://schemas.microsoft.com/office/drawing/2014/main" id="{D90DCBE4-DE4B-493F-5F09-0A28BEFE865A}"/>
              </a:ext>
            </a:extLst>
          </p:cNvPr>
          <p:cNvSpPr>
            <a:spLocks noGrp="1"/>
          </p:cNvSpPr>
          <p:nvPr>
            <p:ph idx="1"/>
          </p:nvPr>
        </p:nvSpPr>
        <p:spPr>
          <a:xfrm>
            <a:off x="585350" y="2493876"/>
            <a:ext cx="7376160" cy="3296227"/>
          </a:xfrm>
        </p:spPr>
        <p:txBody>
          <a:bodyPr anchor="t">
            <a:normAutofit fontScale="92500" lnSpcReduction="10000"/>
          </a:bodyPr>
          <a:lstStyle/>
          <a:p>
            <a:pPr algn="just"/>
            <a:r>
              <a:rPr lang="en-US" sz="1500" dirty="0"/>
              <a:t>PROBLEM STATEMENT</a:t>
            </a:r>
          </a:p>
          <a:p>
            <a:pPr algn="just"/>
            <a:r>
              <a:rPr lang="en-US" sz="1500" dirty="0"/>
              <a:t>DESCRIPTION OF DATASET</a:t>
            </a:r>
          </a:p>
          <a:p>
            <a:pPr algn="just"/>
            <a:r>
              <a:rPr lang="en-US" sz="1500" dirty="0"/>
              <a:t>RELATED WORK</a:t>
            </a:r>
          </a:p>
          <a:p>
            <a:pPr algn="just"/>
            <a:r>
              <a:rPr lang="en-US" sz="1500" dirty="0"/>
              <a:t>APPROACH</a:t>
            </a:r>
          </a:p>
          <a:p>
            <a:pPr algn="just"/>
            <a:r>
              <a:rPr lang="en-US" sz="1500" dirty="0"/>
              <a:t>TRAINING AND TESTING DATA</a:t>
            </a:r>
          </a:p>
          <a:p>
            <a:pPr algn="just"/>
            <a:r>
              <a:rPr lang="en-US" sz="1500" dirty="0"/>
              <a:t>STEP 1 : DATA CLEANING AND REPLACEMENT OF VALUES</a:t>
            </a:r>
          </a:p>
          <a:p>
            <a:pPr algn="just"/>
            <a:r>
              <a:rPr lang="en-US" sz="1500" dirty="0"/>
              <a:t>STEP 2 : DATA ANALYSIS AND VISULIZATION </a:t>
            </a:r>
          </a:p>
          <a:p>
            <a:pPr algn="just"/>
            <a:r>
              <a:rPr lang="en-US" sz="1500" dirty="0"/>
              <a:t>STEP 3 : DATA PREPROCESSING</a:t>
            </a:r>
          </a:p>
          <a:p>
            <a:pPr algn="just"/>
            <a:r>
              <a:rPr lang="en-US" sz="1500" dirty="0"/>
              <a:t>STEP 4 : PREDICTION USING CLASSIFICATION MODELS</a:t>
            </a:r>
          </a:p>
          <a:p>
            <a:pPr algn="just"/>
            <a:r>
              <a:rPr lang="en-US" sz="1500" dirty="0"/>
              <a:t>RESULTS</a:t>
            </a:r>
          </a:p>
          <a:p>
            <a:pPr algn="just"/>
            <a:r>
              <a:rPr lang="en-IN" sz="1500" dirty="0"/>
              <a:t>ABLATION STUDY</a:t>
            </a:r>
          </a:p>
        </p:txBody>
      </p:sp>
      <p:sp>
        <p:nvSpPr>
          <p:cNvPr id="85" name="Freeform: Shape 84">
            <a:extLst>
              <a:ext uri="{FF2B5EF4-FFF2-40B4-BE49-F238E27FC236}">
                <a16:creationId xmlns:a16="http://schemas.microsoft.com/office/drawing/2014/main" id="{F49C0767-CDBC-4C58-A929-55BA8FF21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5589" y="1339500"/>
            <a:ext cx="3633363" cy="4114800"/>
          </a:xfrm>
          <a:custGeom>
            <a:avLst/>
            <a:gdLst>
              <a:gd name="connsiteX0" fmla="*/ 2057400 w 3633363"/>
              <a:gd name="connsiteY0" fmla="*/ 0 h 4114800"/>
              <a:gd name="connsiteX1" fmla="*/ 3512202 w 3633363"/>
              <a:gd name="connsiteY1" fmla="*/ 602599 h 4114800"/>
              <a:gd name="connsiteX2" fmla="*/ 3633363 w 3633363"/>
              <a:gd name="connsiteY2" fmla="*/ 735910 h 4114800"/>
              <a:gd name="connsiteX3" fmla="*/ 3633363 w 3633363"/>
              <a:gd name="connsiteY3" fmla="*/ 3378891 h 4114800"/>
              <a:gd name="connsiteX4" fmla="*/ 3512202 w 3633363"/>
              <a:gd name="connsiteY4" fmla="*/ 3512202 h 4114800"/>
              <a:gd name="connsiteX5" fmla="*/ 2057400 w 3633363"/>
              <a:gd name="connsiteY5" fmla="*/ 4114800 h 4114800"/>
              <a:gd name="connsiteX6" fmla="*/ 0 w 3633363"/>
              <a:gd name="connsiteY6" fmla="*/ 2057400 h 4114800"/>
              <a:gd name="connsiteX7" fmla="*/ 2057400 w 3633363"/>
              <a:gd name="connsiteY7" fmla="*/ 0 h 41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3363" h="4114800">
                <a:moveTo>
                  <a:pt x="2057400" y="0"/>
                </a:moveTo>
                <a:cubicBezTo>
                  <a:pt x="2625535" y="0"/>
                  <a:pt x="3139885" y="230282"/>
                  <a:pt x="3512202" y="602599"/>
                </a:cubicBezTo>
                <a:lnTo>
                  <a:pt x="3633363" y="735910"/>
                </a:lnTo>
                <a:lnTo>
                  <a:pt x="3633363" y="3378891"/>
                </a:lnTo>
                <a:lnTo>
                  <a:pt x="3512202" y="3512202"/>
                </a:lnTo>
                <a:cubicBezTo>
                  <a:pt x="3139885" y="3884518"/>
                  <a:pt x="2625535" y="4114800"/>
                  <a:pt x="2057400" y="4114800"/>
                </a:cubicBezTo>
                <a:cubicBezTo>
                  <a:pt x="921129" y="4114800"/>
                  <a:pt x="0" y="3193671"/>
                  <a:pt x="0" y="2057400"/>
                </a:cubicBezTo>
                <a:cubicBezTo>
                  <a:pt x="0" y="921129"/>
                  <a:pt x="921129" y="0"/>
                  <a:pt x="2057400" y="0"/>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87" name="decorative circles">
            <a:extLst>
              <a:ext uri="{FF2B5EF4-FFF2-40B4-BE49-F238E27FC236}">
                <a16:creationId xmlns:a16="http://schemas.microsoft.com/office/drawing/2014/main" id="{1146B482-2685-4CDA-BC29-3BEA195D8D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54795" y="289695"/>
            <a:ext cx="1781986" cy="5842464"/>
            <a:chOff x="9454795" y="289695"/>
            <a:chExt cx="1781986" cy="5842464"/>
          </a:xfrm>
        </p:grpSpPr>
        <p:sp>
          <p:nvSpPr>
            <p:cNvPr id="88" name="Oval 87">
              <a:extLst>
                <a:ext uri="{FF2B5EF4-FFF2-40B4-BE49-F238E27FC236}">
                  <a16:creationId xmlns:a16="http://schemas.microsoft.com/office/drawing/2014/main" id="{F0E24BFD-B78C-451C-A707-279B8E9234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Oval 88">
              <a:extLst>
                <a:ext uri="{FF2B5EF4-FFF2-40B4-BE49-F238E27FC236}">
                  <a16:creationId xmlns:a16="http://schemas.microsoft.com/office/drawing/2014/main" id="{0A39A1E8-EF95-4CAB-A6B6-66554A154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Oval 89">
              <a:extLst>
                <a:ext uri="{FF2B5EF4-FFF2-40B4-BE49-F238E27FC236}">
                  <a16:creationId xmlns:a16="http://schemas.microsoft.com/office/drawing/2014/main" id="{696AF2D8-58C3-4C6D-A876-A8B95A0D3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548949" y="5790103"/>
              <a:ext cx="342056" cy="342056"/>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Oval 90">
              <a:extLst>
                <a:ext uri="{FF2B5EF4-FFF2-40B4-BE49-F238E27FC236}">
                  <a16:creationId xmlns:a16="http://schemas.microsoft.com/office/drawing/2014/main" id="{EC63DA1F-2D4A-4F59-9EF6-AC76FD7BCF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3990" y="674287"/>
              <a:ext cx="342791" cy="34279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val 91">
              <a:extLst>
                <a:ext uri="{FF2B5EF4-FFF2-40B4-BE49-F238E27FC236}">
                  <a16:creationId xmlns:a16="http://schemas.microsoft.com/office/drawing/2014/main" id="{D515F450-A6DC-4C75-BEBA-54F60054B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54795" y="5407668"/>
              <a:ext cx="83136" cy="8313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94" name="Graphic 93">
            <a:extLst>
              <a:ext uri="{FF2B5EF4-FFF2-40B4-BE49-F238E27FC236}">
                <a16:creationId xmlns:a16="http://schemas.microsoft.com/office/drawing/2014/main" id="{73BE819B-0E5C-444B-9817-533A44AC26B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50462" y="1597332"/>
            <a:ext cx="3663333" cy="3663333"/>
          </a:xfrm>
          <a:prstGeom prst="rect">
            <a:avLst/>
          </a:prstGeom>
        </p:spPr>
      </p:pic>
    </p:spTree>
    <p:extLst>
      <p:ext uri="{BB962C8B-B14F-4D97-AF65-F5344CB8AC3E}">
        <p14:creationId xmlns:p14="http://schemas.microsoft.com/office/powerpoint/2010/main" val="592578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08DE9-5647-483E-B731-49D34A839B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26962B4-5DCE-4745-A877-F7237DA68D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13" name="Freeform: Shape 12">
            <a:extLst>
              <a:ext uri="{FF2B5EF4-FFF2-40B4-BE49-F238E27FC236}">
                <a16:creationId xmlns:a16="http://schemas.microsoft.com/office/drawing/2014/main" id="{FFC31C6D-653C-4C57-B226-ED6CE571F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2590" y="0"/>
            <a:ext cx="8389411" cy="6858000"/>
          </a:xfrm>
          <a:custGeom>
            <a:avLst/>
            <a:gdLst>
              <a:gd name="connsiteX0" fmla="*/ 1405847 w 8389411"/>
              <a:gd name="connsiteY0" fmla="*/ 0 h 6858000"/>
              <a:gd name="connsiteX1" fmla="*/ 8389411 w 8389411"/>
              <a:gd name="connsiteY1" fmla="*/ 0 h 6858000"/>
              <a:gd name="connsiteX2" fmla="*/ 8389411 w 8389411"/>
              <a:gd name="connsiteY2" fmla="*/ 6858000 h 6858000"/>
              <a:gd name="connsiteX3" fmla="*/ 1403382 w 8389411"/>
              <a:gd name="connsiteY3" fmla="*/ 6858000 h 6858000"/>
              <a:gd name="connsiteX4" fmla="*/ 1126450 w 8389411"/>
              <a:gd name="connsiteY4" fmla="*/ 6554701 h 6858000"/>
              <a:gd name="connsiteX5" fmla="*/ 0 w 8389411"/>
              <a:gd name="connsiteY5" fmla="*/ 3431347 h 6858000"/>
              <a:gd name="connsiteX6" fmla="*/ 1281495 w 8389411"/>
              <a:gd name="connsiteY6" fmla="*/ 1298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89411" h="6858000">
                <a:moveTo>
                  <a:pt x="1405847" y="0"/>
                </a:moveTo>
                <a:lnTo>
                  <a:pt x="8389411" y="0"/>
                </a:lnTo>
                <a:lnTo>
                  <a:pt x="8389411" y="6858000"/>
                </a:lnTo>
                <a:lnTo>
                  <a:pt x="1403382" y="6858000"/>
                </a:lnTo>
                <a:lnTo>
                  <a:pt x="1126450" y="6554701"/>
                </a:lnTo>
                <a:cubicBezTo>
                  <a:pt x="422736" y="5705928"/>
                  <a:pt x="0" y="4617776"/>
                  <a:pt x="0" y="3431347"/>
                </a:cubicBezTo>
                <a:cubicBezTo>
                  <a:pt x="0" y="2160173"/>
                  <a:pt x="485281" y="1001818"/>
                  <a:pt x="1281495" y="12982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nvGrpSpPr>
          <p:cNvPr id="15" name="decorative circles">
            <a:extLst>
              <a:ext uri="{FF2B5EF4-FFF2-40B4-BE49-F238E27FC236}">
                <a16:creationId xmlns:a16="http://schemas.microsoft.com/office/drawing/2014/main" id="{C310B041-3468-403A-926B-E3C1CF4433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4914" y="299808"/>
            <a:ext cx="11521822" cy="6038357"/>
            <a:chOff x="244914" y="299808"/>
            <a:chExt cx="11521822" cy="6038357"/>
          </a:xfrm>
        </p:grpSpPr>
        <p:sp>
          <p:nvSpPr>
            <p:cNvPr id="16" name="Oval 15">
              <a:extLst>
                <a:ext uri="{FF2B5EF4-FFF2-40B4-BE49-F238E27FC236}">
                  <a16:creationId xmlns:a16="http://schemas.microsoft.com/office/drawing/2014/main" id="{F65CBEB7-29CF-4F21-ABB7-012581304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00295" y="515708"/>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9C900504-84D3-4813-B737-775C16F8F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73902316-BF90-4159-9FD2-6CFCCF7BE2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7F04BF80-E9DB-4641-8EA2-51698324F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5899" y="5741646"/>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234395B9-3F83-49A4-9275-0A315D88F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0333" y="6032385"/>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0E7ABD02-CD92-4D6C-B4BA-984D6688F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4914" y="5821038"/>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A26598E6-D667-C0A2-B7C1-956DA505D4EB}"/>
              </a:ext>
            </a:extLst>
          </p:cNvPr>
          <p:cNvSpPr>
            <a:spLocks noGrp="1"/>
          </p:cNvSpPr>
          <p:nvPr>
            <p:ph type="title"/>
          </p:nvPr>
        </p:nvSpPr>
        <p:spPr>
          <a:xfrm>
            <a:off x="770878" y="952022"/>
            <a:ext cx="2862591" cy="5157049"/>
          </a:xfrm>
        </p:spPr>
        <p:txBody>
          <a:bodyPr anchor="ctr">
            <a:normAutofit/>
          </a:bodyPr>
          <a:lstStyle/>
          <a:p>
            <a:r>
              <a:rPr lang="en-US" sz="3700" dirty="0"/>
              <a:t>PROBLEM STATEMENT</a:t>
            </a:r>
            <a:endParaRPr lang="en-IN" sz="3700" dirty="0"/>
          </a:p>
        </p:txBody>
      </p:sp>
      <p:graphicFrame>
        <p:nvGraphicFramePr>
          <p:cNvPr id="5" name="Content Placeholder 2">
            <a:extLst>
              <a:ext uri="{FF2B5EF4-FFF2-40B4-BE49-F238E27FC236}">
                <a16:creationId xmlns:a16="http://schemas.microsoft.com/office/drawing/2014/main" id="{C570A0C2-454C-C6D6-DBDC-F407189354F8}"/>
              </a:ext>
            </a:extLst>
          </p:cNvPr>
          <p:cNvGraphicFramePr>
            <a:graphicFrameLocks noGrp="1"/>
          </p:cNvGraphicFramePr>
          <p:nvPr>
            <p:ph idx="1"/>
            <p:extLst>
              <p:ext uri="{D42A27DB-BD31-4B8C-83A1-F6EECF244321}">
                <p14:modId xmlns:p14="http://schemas.microsoft.com/office/powerpoint/2010/main" val="3991626529"/>
              </p:ext>
            </p:extLst>
          </p:nvPr>
        </p:nvGraphicFramePr>
        <p:xfrm>
          <a:off x="4629151" y="952022"/>
          <a:ext cx="7117918" cy="51570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13980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08DE9-5647-483E-B731-49D34A839B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26962B4-5DCE-4745-A877-F7237DA68D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13" name="Freeform: Shape 12">
            <a:extLst>
              <a:ext uri="{FF2B5EF4-FFF2-40B4-BE49-F238E27FC236}">
                <a16:creationId xmlns:a16="http://schemas.microsoft.com/office/drawing/2014/main" id="{FFC31C6D-653C-4C57-B226-ED6CE571F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2590" y="0"/>
            <a:ext cx="8389411" cy="6858000"/>
          </a:xfrm>
          <a:custGeom>
            <a:avLst/>
            <a:gdLst>
              <a:gd name="connsiteX0" fmla="*/ 1405847 w 8389411"/>
              <a:gd name="connsiteY0" fmla="*/ 0 h 6858000"/>
              <a:gd name="connsiteX1" fmla="*/ 8389411 w 8389411"/>
              <a:gd name="connsiteY1" fmla="*/ 0 h 6858000"/>
              <a:gd name="connsiteX2" fmla="*/ 8389411 w 8389411"/>
              <a:gd name="connsiteY2" fmla="*/ 6858000 h 6858000"/>
              <a:gd name="connsiteX3" fmla="*/ 1403382 w 8389411"/>
              <a:gd name="connsiteY3" fmla="*/ 6858000 h 6858000"/>
              <a:gd name="connsiteX4" fmla="*/ 1126450 w 8389411"/>
              <a:gd name="connsiteY4" fmla="*/ 6554701 h 6858000"/>
              <a:gd name="connsiteX5" fmla="*/ 0 w 8389411"/>
              <a:gd name="connsiteY5" fmla="*/ 3431347 h 6858000"/>
              <a:gd name="connsiteX6" fmla="*/ 1281495 w 8389411"/>
              <a:gd name="connsiteY6" fmla="*/ 1298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89411" h="6858000">
                <a:moveTo>
                  <a:pt x="1405847" y="0"/>
                </a:moveTo>
                <a:lnTo>
                  <a:pt x="8389411" y="0"/>
                </a:lnTo>
                <a:lnTo>
                  <a:pt x="8389411" y="6858000"/>
                </a:lnTo>
                <a:lnTo>
                  <a:pt x="1403382" y="6858000"/>
                </a:lnTo>
                <a:lnTo>
                  <a:pt x="1126450" y="6554701"/>
                </a:lnTo>
                <a:cubicBezTo>
                  <a:pt x="422736" y="5705928"/>
                  <a:pt x="0" y="4617776"/>
                  <a:pt x="0" y="3431347"/>
                </a:cubicBezTo>
                <a:cubicBezTo>
                  <a:pt x="0" y="2160173"/>
                  <a:pt x="485281" y="1001818"/>
                  <a:pt x="1281495" y="12982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nvGrpSpPr>
          <p:cNvPr id="15" name="decorative circles">
            <a:extLst>
              <a:ext uri="{FF2B5EF4-FFF2-40B4-BE49-F238E27FC236}">
                <a16:creationId xmlns:a16="http://schemas.microsoft.com/office/drawing/2014/main" id="{C310B041-3468-403A-926B-E3C1CF4433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4914" y="299808"/>
            <a:ext cx="11521822" cy="6038357"/>
            <a:chOff x="244914" y="299808"/>
            <a:chExt cx="11521822" cy="6038357"/>
          </a:xfrm>
        </p:grpSpPr>
        <p:sp>
          <p:nvSpPr>
            <p:cNvPr id="16" name="Oval 15">
              <a:extLst>
                <a:ext uri="{FF2B5EF4-FFF2-40B4-BE49-F238E27FC236}">
                  <a16:creationId xmlns:a16="http://schemas.microsoft.com/office/drawing/2014/main" id="{F65CBEB7-29CF-4F21-ABB7-012581304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00295" y="515708"/>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9C900504-84D3-4813-B737-775C16F8F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3902316-BF90-4159-9FD2-6CFCCF7BE2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F04BF80-E9DB-4641-8EA2-51698324F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5899" y="5741646"/>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34395B9-3F83-49A4-9275-0A315D88F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0333" y="6032385"/>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0E7ABD02-CD92-4D6C-B4BA-984D6688F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4914" y="5821038"/>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DC676F0-1D3E-8078-42FB-3D9EA3F2F0EF}"/>
              </a:ext>
            </a:extLst>
          </p:cNvPr>
          <p:cNvSpPr>
            <a:spLocks noGrp="1"/>
          </p:cNvSpPr>
          <p:nvPr>
            <p:ph type="title"/>
          </p:nvPr>
        </p:nvSpPr>
        <p:spPr>
          <a:xfrm>
            <a:off x="770878" y="952022"/>
            <a:ext cx="3031712" cy="5157049"/>
          </a:xfrm>
        </p:spPr>
        <p:txBody>
          <a:bodyPr anchor="ctr">
            <a:normAutofit/>
          </a:bodyPr>
          <a:lstStyle/>
          <a:p>
            <a:r>
              <a:rPr lang="en-US" sz="3400" dirty="0"/>
              <a:t>DESCRIPTION OF DATASET</a:t>
            </a:r>
            <a:endParaRPr lang="en-IN" sz="3400" dirty="0"/>
          </a:p>
        </p:txBody>
      </p:sp>
      <p:graphicFrame>
        <p:nvGraphicFramePr>
          <p:cNvPr id="5" name="Content Placeholder 2">
            <a:extLst>
              <a:ext uri="{FF2B5EF4-FFF2-40B4-BE49-F238E27FC236}">
                <a16:creationId xmlns:a16="http://schemas.microsoft.com/office/drawing/2014/main" id="{255B89F2-C1B4-1B6C-AE29-1220A0432F43}"/>
              </a:ext>
            </a:extLst>
          </p:cNvPr>
          <p:cNvGraphicFramePr>
            <a:graphicFrameLocks noGrp="1"/>
          </p:cNvGraphicFramePr>
          <p:nvPr>
            <p:ph idx="1"/>
            <p:extLst>
              <p:ext uri="{D42A27DB-BD31-4B8C-83A1-F6EECF244321}">
                <p14:modId xmlns:p14="http://schemas.microsoft.com/office/powerpoint/2010/main" val="60050948"/>
              </p:ext>
            </p:extLst>
          </p:nvPr>
        </p:nvGraphicFramePr>
        <p:xfrm>
          <a:off x="4629151" y="952022"/>
          <a:ext cx="7117918" cy="51570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63568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C5760-3433-DA5E-0915-4F518216BF02}"/>
              </a:ext>
            </a:extLst>
          </p:cNvPr>
          <p:cNvSpPr>
            <a:spLocks noGrp="1"/>
          </p:cNvSpPr>
          <p:nvPr>
            <p:ph type="title"/>
          </p:nvPr>
        </p:nvSpPr>
        <p:spPr/>
        <p:txBody>
          <a:bodyPr/>
          <a:lstStyle/>
          <a:p>
            <a:r>
              <a:rPr lang="en-US" dirty="0">
                <a:solidFill>
                  <a:srgbClr val="C836B7"/>
                </a:solidFill>
              </a:rPr>
              <a:t>DATASET</a:t>
            </a:r>
            <a:endParaRPr lang="en-IN" dirty="0">
              <a:solidFill>
                <a:srgbClr val="C836B7"/>
              </a:solidFill>
            </a:endParaRPr>
          </a:p>
        </p:txBody>
      </p:sp>
      <p:pic>
        <p:nvPicPr>
          <p:cNvPr id="5" name="Content Placeholder 4">
            <a:extLst>
              <a:ext uri="{FF2B5EF4-FFF2-40B4-BE49-F238E27FC236}">
                <a16:creationId xmlns:a16="http://schemas.microsoft.com/office/drawing/2014/main" id="{5C6342E1-0245-A62E-E3D0-DC6C4796E9A2}"/>
              </a:ext>
            </a:extLst>
          </p:cNvPr>
          <p:cNvPicPr>
            <a:picLocks noGrp="1" noChangeAspect="1"/>
          </p:cNvPicPr>
          <p:nvPr>
            <p:ph idx="1"/>
          </p:nvPr>
        </p:nvPicPr>
        <p:blipFill>
          <a:blip r:embed="rId3"/>
          <a:stretch>
            <a:fillRect/>
          </a:stretch>
        </p:blipFill>
        <p:spPr>
          <a:xfrm>
            <a:off x="777240" y="1363612"/>
            <a:ext cx="11085391" cy="4931310"/>
          </a:xfrm>
        </p:spPr>
      </p:pic>
    </p:spTree>
    <p:extLst>
      <p:ext uri="{BB962C8B-B14F-4D97-AF65-F5344CB8AC3E}">
        <p14:creationId xmlns:p14="http://schemas.microsoft.com/office/powerpoint/2010/main" val="1937723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FB54-62C7-7EFB-7DC3-D14CCED301E6}"/>
              </a:ext>
            </a:extLst>
          </p:cNvPr>
          <p:cNvSpPr>
            <a:spLocks noGrp="1"/>
          </p:cNvSpPr>
          <p:nvPr>
            <p:ph type="title"/>
          </p:nvPr>
        </p:nvSpPr>
        <p:spPr/>
        <p:txBody>
          <a:bodyPr/>
          <a:lstStyle/>
          <a:p>
            <a:r>
              <a:rPr lang="en-US" dirty="0">
                <a:solidFill>
                  <a:srgbClr val="C836B7"/>
                </a:solidFill>
              </a:rPr>
              <a:t>RELATED WORK</a:t>
            </a:r>
            <a:endParaRPr lang="en-IN" dirty="0">
              <a:solidFill>
                <a:srgbClr val="C836B7"/>
              </a:solidFill>
            </a:endParaRPr>
          </a:p>
        </p:txBody>
      </p:sp>
      <p:sp>
        <p:nvSpPr>
          <p:cNvPr id="3" name="Content Placeholder 2">
            <a:extLst>
              <a:ext uri="{FF2B5EF4-FFF2-40B4-BE49-F238E27FC236}">
                <a16:creationId xmlns:a16="http://schemas.microsoft.com/office/drawing/2014/main" id="{201861D1-0D63-3492-0E42-A7BBA121D9EF}"/>
              </a:ext>
            </a:extLst>
          </p:cNvPr>
          <p:cNvSpPr>
            <a:spLocks noGrp="1"/>
          </p:cNvSpPr>
          <p:nvPr>
            <p:ph idx="1"/>
          </p:nvPr>
        </p:nvSpPr>
        <p:spPr/>
        <p:txBody>
          <a:bodyPr/>
          <a:lstStyle/>
          <a:p>
            <a:r>
              <a:rPr lang="en-US" b="1" i="0" dirty="0">
                <a:solidFill>
                  <a:srgbClr val="131314"/>
                </a:solidFill>
                <a:effectLst/>
                <a:latin typeface="var(--sn-fonts-heading)"/>
              </a:rPr>
              <a:t>Machine Learning and Music: Predicting the level of energy conveyed by a soundtrack</a:t>
            </a:r>
            <a:r>
              <a:rPr lang="en-IN" b="1" i="0" dirty="0">
                <a:solidFill>
                  <a:srgbClr val="131314"/>
                </a:solidFill>
                <a:effectLst/>
                <a:latin typeface="var(--sn-fonts-heading)"/>
              </a:rPr>
              <a:t> - </a:t>
            </a:r>
            <a:br>
              <a:rPr lang="en-IN" dirty="0"/>
            </a:br>
            <a:r>
              <a:rPr lang="en-IN" b="1" i="0" dirty="0">
                <a:solidFill>
                  <a:srgbClr val="131314"/>
                </a:solidFill>
                <a:effectLst/>
                <a:latin typeface="__Manrope_f97f04"/>
              </a:rPr>
              <a:t>Roberto Colangelo.</a:t>
            </a:r>
          </a:p>
          <a:p>
            <a:endParaRPr lang="en-IN" b="1" dirty="0">
              <a:solidFill>
                <a:srgbClr val="131314"/>
              </a:solidFill>
              <a:latin typeface="__Manrope_f97f04"/>
            </a:endParaRPr>
          </a:p>
        </p:txBody>
      </p:sp>
      <p:pic>
        <p:nvPicPr>
          <p:cNvPr id="5" name="Picture 4">
            <a:extLst>
              <a:ext uri="{FF2B5EF4-FFF2-40B4-BE49-F238E27FC236}">
                <a16:creationId xmlns:a16="http://schemas.microsoft.com/office/drawing/2014/main" id="{2D94153F-4955-1E51-47FD-36A6DC2E39F3}"/>
              </a:ext>
            </a:extLst>
          </p:cNvPr>
          <p:cNvPicPr>
            <a:picLocks noChangeAspect="1"/>
          </p:cNvPicPr>
          <p:nvPr/>
        </p:nvPicPr>
        <p:blipFill>
          <a:blip r:embed="rId3"/>
          <a:stretch>
            <a:fillRect/>
          </a:stretch>
        </p:blipFill>
        <p:spPr>
          <a:xfrm>
            <a:off x="2952886" y="2842397"/>
            <a:ext cx="6286228" cy="2818174"/>
          </a:xfrm>
          <a:prstGeom prst="rect">
            <a:avLst/>
          </a:prstGeom>
        </p:spPr>
      </p:pic>
    </p:spTree>
    <p:extLst>
      <p:ext uri="{BB962C8B-B14F-4D97-AF65-F5344CB8AC3E}">
        <p14:creationId xmlns:p14="http://schemas.microsoft.com/office/powerpoint/2010/main" val="1998449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FAB8D-9B6C-3D3A-31E6-3524CDACAA99}"/>
              </a:ext>
            </a:extLst>
          </p:cNvPr>
          <p:cNvSpPr>
            <a:spLocks noGrp="1"/>
          </p:cNvSpPr>
          <p:nvPr>
            <p:ph type="title"/>
          </p:nvPr>
        </p:nvSpPr>
        <p:spPr/>
        <p:txBody>
          <a:bodyPr/>
          <a:lstStyle/>
          <a:p>
            <a:r>
              <a:rPr lang="en-US" dirty="0">
                <a:solidFill>
                  <a:srgbClr val="C836B7"/>
                </a:solidFill>
              </a:rPr>
              <a:t>RELATED WORK</a:t>
            </a:r>
            <a:endParaRPr lang="en-IN" dirty="0">
              <a:solidFill>
                <a:srgbClr val="C836B7"/>
              </a:solidFill>
            </a:endParaRPr>
          </a:p>
        </p:txBody>
      </p:sp>
      <p:pic>
        <p:nvPicPr>
          <p:cNvPr id="5" name="Content Placeholder 4">
            <a:extLst>
              <a:ext uri="{FF2B5EF4-FFF2-40B4-BE49-F238E27FC236}">
                <a16:creationId xmlns:a16="http://schemas.microsoft.com/office/drawing/2014/main" id="{E5F6113B-2C9B-9EA7-664B-4CFF1664048D}"/>
              </a:ext>
            </a:extLst>
          </p:cNvPr>
          <p:cNvPicPr>
            <a:picLocks noGrp="1" noChangeAspect="1"/>
          </p:cNvPicPr>
          <p:nvPr>
            <p:ph idx="1"/>
          </p:nvPr>
        </p:nvPicPr>
        <p:blipFill>
          <a:blip r:embed="rId3"/>
          <a:stretch>
            <a:fillRect/>
          </a:stretch>
        </p:blipFill>
        <p:spPr>
          <a:xfrm>
            <a:off x="795076" y="2375721"/>
            <a:ext cx="5074440" cy="2106557"/>
          </a:xfrm>
        </p:spPr>
      </p:pic>
      <p:pic>
        <p:nvPicPr>
          <p:cNvPr id="7" name="Picture 6">
            <a:extLst>
              <a:ext uri="{FF2B5EF4-FFF2-40B4-BE49-F238E27FC236}">
                <a16:creationId xmlns:a16="http://schemas.microsoft.com/office/drawing/2014/main" id="{57881D9E-8C2D-1235-BFB3-49B077B59DF2}"/>
              </a:ext>
            </a:extLst>
          </p:cNvPr>
          <p:cNvPicPr>
            <a:picLocks noChangeAspect="1"/>
          </p:cNvPicPr>
          <p:nvPr/>
        </p:nvPicPr>
        <p:blipFill>
          <a:blip r:embed="rId4"/>
          <a:stretch>
            <a:fillRect/>
          </a:stretch>
        </p:blipFill>
        <p:spPr>
          <a:xfrm>
            <a:off x="6322486" y="2353470"/>
            <a:ext cx="5056602" cy="2128808"/>
          </a:xfrm>
          <a:prstGeom prst="rect">
            <a:avLst/>
          </a:prstGeom>
        </p:spPr>
      </p:pic>
    </p:spTree>
    <p:extLst>
      <p:ext uri="{BB962C8B-B14F-4D97-AF65-F5344CB8AC3E}">
        <p14:creationId xmlns:p14="http://schemas.microsoft.com/office/powerpoint/2010/main" val="3422451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16493-A4DE-85C9-5782-2E5B0D2E331E}"/>
              </a:ext>
            </a:extLst>
          </p:cNvPr>
          <p:cNvSpPr>
            <a:spLocks noGrp="1"/>
          </p:cNvSpPr>
          <p:nvPr>
            <p:ph type="title"/>
          </p:nvPr>
        </p:nvSpPr>
        <p:spPr/>
        <p:txBody>
          <a:bodyPr/>
          <a:lstStyle/>
          <a:p>
            <a:r>
              <a:rPr lang="en-US" dirty="0">
                <a:solidFill>
                  <a:srgbClr val="C836B7"/>
                </a:solidFill>
              </a:rPr>
              <a:t>EXISTING METHODS</a:t>
            </a:r>
            <a:endParaRPr lang="en-IN" dirty="0">
              <a:solidFill>
                <a:srgbClr val="C836B7"/>
              </a:solidFill>
            </a:endParaRPr>
          </a:p>
        </p:txBody>
      </p:sp>
      <p:sp>
        <p:nvSpPr>
          <p:cNvPr id="4" name="Rectangle 1">
            <a:extLst>
              <a:ext uri="{FF2B5EF4-FFF2-40B4-BE49-F238E27FC236}">
                <a16:creationId xmlns:a16="http://schemas.microsoft.com/office/drawing/2014/main" id="{E4A02CCF-B674-C2DA-C191-D409B69BB2C8}"/>
              </a:ext>
            </a:extLst>
          </p:cNvPr>
          <p:cNvSpPr>
            <a:spLocks noGrp="1" noChangeArrowheads="1"/>
          </p:cNvSpPr>
          <p:nvPr>
            <p:ph idx="1"/>
          </p:nvPr>
        </p:nvSpPr>
        <p:spPr bwMode="auto">
          <a:xfrm>
            <a:off x="777240" y="1785303"/>
            <a:ext cx="9276899"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Random Forest Regressor</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Combines multiple decision trees.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Trees trained on random subsets of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Advantage: Handles complex interactions; reduces overfitting.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Achieved an </a:t>
            </a:r>
            <a:r>
              <a:rPr kumimoji="0" lang="en-US" altLang="en-US" sz="2400" b="0" i="0" u="none" strike="noStrike" cap="none" normalizeH="0" baseline="0" dirty="0" err="1">
                <a:ln>
                  <a:noFill/>
                </a:ln>
                <a:solidFill>
                  <a:schemeClr val="tx1"/>
                </a:solidFill>
                <a:effectLst/>
                <a:latin typeface="Arial" panose="020B0604020202020204" pitchFamily="34" charset="0"/>
              </a:rPr>
              <a:t>Rsquared</a:t>
            </a:r>
            <a:r>
              <a:rPr kumimoji="0" lang="en-US" altLang="en-US" sz="2400" b="0" i="0" u="none" strike="noStrike" cap="none" normalizeH="0" baseline="0" dirty="0">
                <a:ln>
                  <a:noFill/>
                </a:ln>
                <a:solidFill>
                  <a:schemeClr val="tx1"/>
                </a:solidFill>
                <a:effectLst/>
                <a:latin typeface="Arial" panose="020B0604020202020204" pitchFamily="34" charset="0"/>
              </a:rPr>
              <a:t> of </a:t>
            </a:r>
            <a:r>
              <a:rPr kumimoji="0" lang="en-US" altLang="en-US" sz="2400" b="1" i="0" u="none" strike="noStrike" cap="none" normalizeH="0" baseline="0" dirty="0">
                <a:ln>
                  <a:noFill/>
                </a:ln>
                <a:solidFill>
                  <a:schemeClr val="tx1"/>
                </a:solidFill>
                <a:effectLst/>
                <a:latin typeface="Arial" panose="020B0604020202020204" pitchFamily="34" charset="0"/>
              </a:rPr>
              <a:t>0.863</a:t>
            </a:r>
            <a:r>
              <a:rPr kumimoji="0" lang="en-US" altLang="en-US" sz="2400" b="0" i="0" u="none" strike="noStrike" cap="none" normalizeH="0" baseline="0" dirty="0">
                <a:ln>
                  <a:noFill/>
                </a:ln>
                <a:solidFill>
                  <a:schemeClr val="tx1"/>
                </a:solidFill>
                <a:effectLst/>
                <a:latin typeface="Arial" panose="020B0604020202020204" pitchFamily="34" charset="0"/>
              </a:rPr>
              <a:t> and MAE of </a:t>
            </a:r>
            <a:r>
              <a:rPr kumimoji="0" lang="en-US" altLang="en-US" sz="2400" b="1" i="0" u="none" strike="noStrike" cap="none" normalizeH="0" baseline="0" dirty="0">
                <a:ln>
                  <a:noFill/>
                </a:ln>
                <a:solidFill>
                  <a:schemeClr val="tx1"/>
                </a:solidFill>
                <a:effectLst/>
                <a:latin typeface="Arial" panose="020B0604020202020204" pitchFamily="34" charset="0"/>
              </a:rPr>
              <a:t>0.071</a:t>
            </a:r>
            <a:r>
              <a:rPr kumimoji="0" lang="en-US" altLang="en-US" sz="2400" b="0" i="0" u="none" strike="noStrike" cap="none" normalizeH="0" baseline="0" dirty="0">
                <a:ln>
                  <a:noFill/>
                </a:ln>
                <a:solidFill>
                  <a:schemeClr val="tx1"/>
                </a:solidFill>
                <a:effectLst/>
                <a:latin typeface="Arial" panose="020B0604020202020204" pitchFamily="34" charset="0"/>
              </a:rPr>
              <a:t> on the dataset.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a:ln>
                  <a:noFill/>
                </a:ln>
                <a:solidFill>
                  <a:schemeClr val="tx1"/>
                </a:solidFill>
                <a:effectLst/>
                <a:latin typeface="Arial" panose="020B0604020202020204" pitchFamily="34" charset="0"/>
              </a:rPr>
              <a:t>XGBoost</a:t>
            </a:r>
            <a:r>
              <a:rPr kumimoji="0" lang="en-US" altLang="en-US" sz="2400" b="1" i="0" u="none" strike="noStrike" cap="none" normalizeH="0" baseline="0" dirty="0">
                <a:ln>
                  <a:noFill/>
                </a:ln>
                <a:solidFill>
                  <a:schemeClr val="tx1"/>
                </a:solidFill>
                <a:effectLst/>
                <a:latin typeface="Arial" panose="020B0604020202020204" pitchFamily="34" charset="0"/>
              </a:rPr>
              <a:t> Regressor</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Optimized version of Gradient Boosting.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Incorporates regularization to avoid overfitting.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Best performance: </a:t>
            </a:r>
            <a:r>
              <a:rPr kumimoji="0" lang="en-US" altLang="en-US" sz="2400" b="0" i="0" u="none" strike="noStrike" cap="none" normalizeH="0" baseline="0" dirty="0" err="1">
                <a:ln>
                  <a:noFill/>
                </a:ln>
                <a:solidFill>
                  <a:schemeClr val="tx1"/>
                </a:solidFill>
                <a:effectLst/>
                <a:latin typeface="Arial" panose="020B0604020202020204" pitchFamily="34" charset="0"/>
              </a:rPr>
              <a:t>Rsquared</a:t>
            </a:r>
            <a:r>
              <a:rPr kumimoji="0" lang="en-US" altLang="en-US" sz="2400" b="0" i="0" u="none" strike="noStrike" cap="none" normalizeH="0" baseline="0" dirty="0">
                <a:ln>
                  <a:noFill/>
                </a:ln>
                <a:solidFill>
                  <a:schemeClr val="tx1"/>
                </a:solidFill>
                <a:effectLst/>
                <a:latin typeface="Arial" panose="020B0604020202020204" pitchFamily="34" charset="0"/>
              </a:rPr>
              <a:t> of </a:t>
            </a:r>
            <a:r>
              <a:rPr kumimoji="0" lang="en-US" altLang="en-US" sz="2400" b="1" i="0" u="none" strike="noStrike" cap="none" normalizeH="0" baseline="0" dirty="0">
                <a:ln>
                  <a:noFill/>
                </a:ln>
                <a:solidFill>
                  <a:schemeClr val="tx1"/>
                </a:solidFill>
                <a:effectLst/>
                <a:latin typeface="Arial" panose="020B0604020202020204" pitchFamily="34" charset="0"/>
              </a:rPr>
              <a:t>0.878</a:t>
            </a:r>
            <a:r>
              <a:rPr kumimoji="0" lang="en-US" altLang="en-US" sz="2400" b="0" i="0" u="none" strike="noStrike" cap="none" normalizeH="0" baseline="0" dirty="0">
                <a:ln>
                  <a:noFill/>
                </a:ln>
                <a:solidFill>
                  <a:schemeClr val="tx1"/>
                </a:solidFill>
                <a:effectLst/>
                <a:latin typeface="Arial" panose="020B0604020202020204" pitchFamily="34" charset="0"/>
              </a:rPr>
              <a:t> and MAE of </a:t>
            </a:r>
            <a:r>
              <a:rPr kumimoji="0" lang="en-US" altLang="en-US" sz="2400" b="1" i="0" u="none" strike="noStrike" cap="none" normalizeH="0" baseline="0" dirty="0">
                <a:ln>
                  <a:noFill/>
                </a:ln>
                <a:solidFill>
                  <a:schemeClr val="tx1"/>
                </a:solidFill>
                <a:effectLst/>
                <a:latin typeface="Arial" panose="020B0604020202020204" pitchFamily="34" charset="0"/>
              </a:rPr>
              <a:t>0.067</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Highly efficient for large datasets with nonlinear relationships.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76056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94389D"/>
          </a:solidFill>
        </p:spPr>
        <p:txBody>
          <a:bodyPr wrap="square" lIns="0" tIns="0" rIns="0" bIns="0" rtlCol="0"/>
          <a:lstStyle/>
          <a:p>
            <a:endParaRPr sz="1200"/>
          </a:p>
        </p:txBody>
      </p:sp>
      <p:grpSp>
        <p:nvGrpSpPr>
          <p:cNvPr id="3" name="object 3"/>
          <p:cNvGrpSpPr/>
          <p:nvPr/>
        </p:nvGrpSpPr>
        <p:grpSpPr>
          <a:xfrm>
            <a:off x="0" y="0"/>
            <a:ext cx="12192411" cy="6857999"/>
            <a:chOff x="5060" y="0"/>
            <a:chExt cx="18283555" cy="10287000"/>
          </a:xfrm>
        </p:grpSpPr>
        <p:sp>
          <p:nvSpPr>
            <p:cNvPr id="4" name="object 4"/>
            <p:cNvSpPr/>
            <p:nvPr/>
          </p:nvSpPr>
          <p:spPr>
            <a:xfrm>
              <a:off x="1057255" y="2524672"/>
              <a:ext cx="0" cy="5655310"/>
            </a:xfrm>
            <a:custGeom>
              <a:avLst/>
              <a:gdLst/>
              <a:ahLst/>
              <a:cxnLst/>
              <a:rect l="l" t="t" r="r" b="b"/>
              <a:pathLst>
                <a:path h="5655309">
                  <a:moveTo>
                    <a:pt x="0" y="0"/>
                  </a:moveTo>
                  <a:lnTo>
                    <a:pt x="0" y="5655059"/>
                  </a:lnTo>
                </a:path>
              </a:pathLst>
            </a:custGeom>
            <a:ln w="57149">
              <a:solidFill>
                <a:srgbClr val="FFFFFF"/>
              </a:solidFill>
            </a:ln>
          </p:spPr>
          <p:txBody>
            <a:bodyPr wrap="square" lIns="0" tIns="0" rIns="0" bIns="0" rtlCol="0"/>
            <a:lstStyle/>
            <a:p>
              <a:endParaRPr sz="1200"/>
            </a:p>
          </p:txBody>
        </p:sp>
        <p:pic>
          <p:nvPicPr>
            <p:cNvPr id="5" name="object 5"/>
            <p:cNvPicPr/>
            <p:nvPr/>
          </p:nvPicPr>
          <p:blipFill>
            <a:blip r:embed="rId3" cstate="print"/>
            <a:stretch>
              <a:fillRect/>
            </a:stretch>
          </p:blipFill>
          <p:spPr>
            <a:xfrm>
              <a:off x="935901" y="2387495"/>
              <a:ext cx="242747" cy="242747"/>
            </a:xfrm>
            <a:prstGeom prst="rect">
              <a:avLst/>
            </a:prstGeom>
          </p:spPr>
        </p:pic>
        <p:pic>
          <p:nvPicPr>
            <p:cNvPr id="6" name="object 6"/>
            <p:cNvPicPr/>
            <p:nvPr/>
          </p:nvPicPr>
          <p:blipFill>
            <a:blip r:embed="rId3" cstate="print"/>
            <a:stretch>
              <a:fillRect/>
            </a:stretch>
          </p:blipFill>
          <p:spPr>
            <a:xfrm>
              <a:off x="935901" y="3363206"/>
              <a:ext cx="242747" cy="242747"/>
            </a:xfrm>
            <a:prstGeom prst="rect">
              <a:avLst/>
            </a:prstGeom>
          </p:spPr>
        </p:pic>
        <p:pic>
          <p:nvPicPr>
            <p:cNvPr id="7" name="object 7"/>
            <p:cNvPicPr/>
            <p:nvPr/>
          </p:nvPicPr>
          <p:blipFill>
            <a:blip r:embed="rId3" cstate="print"/>
            <a:stretch>
              <a:fillRect/>
            </a:stretch>
          </p:blipFill>
          <p:spPr>
            <a:xfrm>
              <a:off x="935901" y="4294423"/>
              <a:ext cx="242747" cy="242747"/>
            </a:xfrm>
            <a:prstGeom prst="rect">
              <a:avLst/>
            </a:prstGeom>
          </p:spPr>
        </p:pic>
        <p:pic>
          <p:nvPicPr>
            <p:cNvPr id="8" name="object 8"/>
            <p:cNvPicPr/>
            <p:nvPr/>
          </p:nvPicPr>
          <p:blipFill>
            <a:blip r:embed="rId3" cstate="print"/>
            <a:stretch>
              <a:fillRect/>
            </a:stretch>
          </p:blipFill>
          <p:spPr>
            <a:xfrm>
              <a:off x="935901" y="5225640"/>
              <a:ext cx="242747" cy="242747"/>
            </a:xfrm>
            <a:prstGeom prst="rect">
              <a:avLst/>
            </a:prstGeom>
          </p:spPr>
        </p:pic>
        <p:pic>
          <p:nvPicPr>
            <p:cNvPr id="9" name="object 9"/>
            <p:cNvPicPr/>
            <p:nvPr/>
          </p:nvPicPr>
          <p:blipFill>
            <a:blip r:embed="rId3" cstate="print"/>
            <a:stretch>
              <a:fillRect/>
            </a:stretch>
          </p:blipFill>
          <p:spPr>
            <a:xfrm>
              <a:off x="935901" y="6134677"/>
              <a:ext cx="242747" cy="242747"/>
            </a:xfrm>
            <a:prstGeom prst="rect">
              <a:avLst/>
            </a:prstGeom>
          </p:spPr>
        </p:pic>
        <p:pic>
          <p:nvPicPr>
            <p:cNvPr id="10" name="object 10"/>
            <p:cNvPicPr/>
            <p:nvPr/>
          </p:nvPicPr>
          <p:blipFill>
            <a:blip r:embed="rId3" cstate="print"/>
            <a:stretch>
              <a:fillRect/>
            </a:stretch>
          </p:blipFill>
          <p:spPr>
            <a:xfrm>
              <a:off x="935901" y="7045577"/>
              <a:ext cx="242747" cy="242747"/>
            </a:xfrm>
            <a:prstGeom prst="rect">
              <a:avLst/>
            </a:prstGeom>
          </p:spPr>
        </p:pic>
        <p:pic>
          <p:nvPicPr>
            <p:cNvPr id="11" name="object 11"/>
            <p:cNvPicPr/>
            <p:nvPr/>
          </p:nvPicPr>
          <p:blipFill>
            <a:blip r:embed="rId3" cstate="print"/>
            <a:stretch>
              <a:fillRect/>
            </a:stretch>
          </p:blipFill>
          <p:spPr>
            <a:xfrm>
              <a:off x="935901" y="7936966"/>
              <a:ext cx="242747" cy="242747"/>
            </a:xfrm>
            <a:prstGeom prst="rect">
              <a:avLst/>
            </a:prstGeom>
          </p:spPr>
        </p:pic>
        <p:pic>
          <p:nvPicPr>
            <p:cNvPr id="12" name="object 12"/>
            <p:cNvPicPr/>
            <p:nvPr/>
          </p:nvPicPr>
          <p:blipFill>
            <a:blip r:embed="rId4" cstate="print"/>
            <a:stretch>
              <a:fillRect/>
            </a:stretch>
          </p:blipFill>
          <p:spPr>
            <a:xfrm>
              <a:off x="5060" y="0"/>
              <a:ext cx="18282939" cy="10286999"/>
            </a:xfrm>
            <a:prstGeom prst="rect">
              <a:avLst/>
            </a:prstGeom>
          </p:spPr>
        </p:pic>
        <p:sp>
          <p:nvSpPr>
            <p:cNvPr id="13" name="object 13"/>
            <p:cNvSpPr/>
            <p:nvPr/>
          </p:nvSpPr>
          <p:spPr>
            <a:xfrm>
              <a:off x="5341736" y="3737488"/>
              <a:ext cx="2211070" cy="2211070"/>
            </a:xfrm>
            <a:custGeom>
              <a:avLst/>
              <a:gdLst/>
              <a:ahLst/>
              <a:cxnLst/>
              <a:rect l="l" t="t" r="r" b="b"/>
              <a:pathLst>
                <a:path w="2211070" h="2211070">
                  <a:moveTo>
                    <a:pt x="1105387" y="2210776"/>
                  </a:moveTo>
                  <a:lnTo>
                    <a:pt x="1057438" y="2209755"/>
                  </a:lnTo>
                  <a:lnTo>
                    <a:pt x="1010010" y="2206718"/>
                  </a:lnTo>
                  <a:lnTo>
                    <a:pt x="963146" y="2201709"/>
                  </a:lnTo>
                  <a:lnTo>
                    <a:pt x="916886" y="2194767"/>
                  </a:lnTo>
                  <a:lnTo>
                    <a:pt x="871273" y="2185935"/>
                  </a:lnTo>
                  <a:lnTo>
                    <a:pt x="826347" y="2175254"/>
                  </a:lnTo>
                  <a:lnTo>
                    <a:pt x="782150" y="2162766"/>
                  </a:lnTo>
                  <a:lnTo>
                    <a:pt x="738724" y="2148511"/>
                  </a:lnTo>
                  <a:lnTo>
                    <a:pt x="696110" y="2132532"/>
                  </a:lnTo>
                  <a:lnTo>
                    <a:pt x="654350" y="2114870"/>
                  </a:lnTo>
                  <a:lnTo>
                    <a:pt x="613484" y="2095566"/>
                  </a:lnTo>
                  <a:lnTo>
                    <a:pt x="573555" y="2074662"/>
                  </a:lnTo>
                  <a:lnTo>
                    <a:pt x="534605" y="2052200"/>
                  </a:lnTo>
                  <a:lnTo>
                    <a:pt x="496673" y="2028220"/>
                  </a:lnTo>
                  <a:lnTo>
                    <a:pt x="459803" y="2002764"/>
                  </a:lnTo>
                  <a:lnTo>
                    <a:pt x="424035" y="1975875"/>
                  </a:lnTo>
                  <a:lnTo>
                    <a:pt x="389411" y="1947592"/>
                  </a:lnTo>
                  <a:lnTo>
                    <a:pt x="355972" y="1917959"/>
                  </a:lnTo>
                  <a:lnTo>
                    <a:pt x="323760" y="1887015"/>
                  </a:lnTo>
                  <a:lnTo>
                    <a:pt x="292817" y="1854803"/>
                  </a:lnTo>
                  <a:lnTo>
                    <a:pt x="263183" y="1821364"/>
                  </a:lnTo>
                  <a:lnTo>
                    <a:pt x="234900" y="1786740"/>
                  </a:lnTo>
                  <a:lnTo>
                    <a:pt x="208011" y="1750972"/>
                  </a:lnTo>
                  <a:lnTo>
                    <a:pt x="182555" y="1714102"/>
                  </a:lnTo>
                  <a:lnTo>
                    <a:pt x="158575" y="1676170"/>
                  </a:lnTo>
                  <a:lnTo>
                    <a:pt x="136113" y="1637220"/>
                  </a:lnTo>
                  <a:lnTo>
                    <a:pt x="115209" y="1597291"/>
                  </a:lnTo>
                  <a:lnTo>
                    <a:pt x="95905" y="1556425"/>
                  </a:lnTo>
                  <a:lnTo>
                    <a:pt x="78243" y="1514665"/>
                  </a:lnTo>
                  <a:lnTo>
                    <a:pt x="62264" y="1472051"/>
                  </a:lnTo>
                  <a:lnTo>
                    <a:pt x="48009" y="1428625"/>
                  </a:lnTo>
                  <a:lnTo>
                    <a:pt x="35521" y="1384428"/>
                  </a:lnTo>
                  <a:lnTo>
                    <a:pt x="24840" y="1339502"/>
                  </a:lnTo>
                  <a:lnTo>
                    <a:pt x="16008" y="1293889"/>
                  </a:lnTo>
                  <a:lnTo>
                    <a:pt x="9066" y="1247629"/>
                  </a:lnTo>
                  <a:lnTo>
                    <a:pt x="4057" y="1200764"/>
                  </a:lnTo>
                  <a:lnTo>
                    <a:pt x="1021" y="1153337"/>
                  </a:lnTo>
                  <a:lnTo>
                    <a:pt x="0" y="1105392"/>
                  </a:lnTo>
                  <a:lnTo>
                    <a:pt x="1021" y="1057438"/>
                  </a:lnTo>
                  <a:lnTo>
                    <a:pt x="4057" y="1010010"/>
                  </a:lnTo>
                  <a:lnTo>
                    <a:pt x="9066" y="963146"/>
                  </a:lnTo>
                  <a:lnTo>
                    <a:pt x="16008" y="916886"/>
                  </a:lnTo>
                  <a:lnTo>
                    <a:pt x="24840" y="871273"/>
                  </a:lnTo>
                  <a:lnTo>
                    <a:pt x="35521" y="826347"/>
                  </a:lnTo>
                  <a:lnTo>
                    <a:pt x="48009" y="782150"/>
                  </a:lnTo>
                  <a:lnTo>
                    <a:pt x="62264" y="738724"/>
                  </a:lnTo>
                  <a:lnTo>
                    <a:pt x="78243" y="696110"/>
                  </a:lnTo>
                  <a:lnTo>
                    <a:pt x="95905" y="654350"/>
                  </a:lnTo>
                  <a:lnTo>
                    <a:pt x="115209" y="613484"/>
                  </a:lnTo>
                  <a:lnTo>
                    <a:pt x="136113" y="573555"/>
                  </a:lnTo>
                  <a:lnTo>
                    <a:pt x="158575" y="534604"/>
                  </a:lnTo>
                  <a:lnTo>
                    <a:pt x="182555" y="496673"/>
                  </a:lnTo>
                  <a:lnTo>
                    <a:pt x="208011" y="459803"/>
                  </a:lnTo>
                  <a:lnTo>
                    <a:pt x="234900" y="424035"/>
                  </a:lnTo>
                  <a:lnTo>
                    <a:pt x="263183" y="389411"/>
                  </a:lnTo>
                  <a:lnTo>
                    <a:pt x="292817" y="355972"/>
                  </a:lnTo>
                  <a:lnTo>
                    <a:pt x="323760" y="323760"/>
                  </a:lnTo>
                  <a:lnTo>
                    <a:pt x="355972" y="292816"/>
                  </a:lnTo>
                  <a:lnTo>
                    <a:pt x="389411" y="263183"/>
                  </a:lnTo>
                  <a:lnTo>
                    <a:pt x="424035" y="234900"/>
                  </a:lnTo>
                  <a:lnTo>
                    <a:pt x="459803" y="208010"/>
                  </a:lnTo>
                  <a:lnTo>
                    <a:pt x="496673" y="182555"/>
                  </a:lnTo>
                  <a:lnTo>
                    <a:pt x="534605" y="158575"/>
                  </a:lnTo>
                  <a:lnTo>
                    <a:pt x="573555" y="136113"/>
                  </a:lnTo>
                  <a:lnTo>
                    <a:pt x="613484" y="115209"/>
                  </a:lnTo>
                  <a:lnTo>
                    <a:pt x="654350" y="95905"/>
                  </a:lnTo>
                  <a:lnTo>
                    <a:pt x="696110" y="78243"/>
                  </a:lnTo>
                  <a:lnTo>
                    <a:pt x="738724" y="62264"/>
                  </a:lnTo>
                  <a:lnTo>
                    <a:pt x="782150" y="48009"/>
                  </a:lnTo>
                  <a:lnTo>
                    <a:pt x="826347" y="35521"/>
                  </a:lnTo>
                  <a:lnTo>
                    <a:pt x="871273" y="24840"/>
                  </a:lnTo>
                  <a:lnTo>
                    <a:pt x="916886" y="16008"/>
                  </a:lnTo>
                  <a:lnTo>
                    <a:pt x="963146" y="9066"/>
                  </a:lnTo>
                  <a:lnTo>
                    <a:pt x="1010010" y="4057"/>
                  </a:lnTo>
                  <a:lnTo>
                    <a:pt x="1057438" y="1020"/>
                  </a:lnTo>
                  <a:lnTo>
                    <a:pt x="1105371" y="0"/>
                  </a:lnTo>
                  <a:lnTo>
                    <a:pt x="1153337" y="1020"/>
                  </a:lnTo>
                  <a:lnTo>
                    <a:pt x="1200765" y="4057"/>
                  </a:lnTo>
                  <a:lnTo>
                    <a:pt x="1247629" y="9066"/>
                  </a:lnTo>
                  <a:lnTo>
                    <a:pt x="1293889" y="16008"/>
                  </a:lnTo>
                  <a:lnTo>
                    <a:pt x="1339502" y="24840"/>
                  </a:lnTo>
                  <a:lnTo>
                    <a:pt x="1384428" y="35521"/>
                  </a:lnTo>
                  <a:lnTo>
                    <a:pt x="1428625" y="48009"/>
                  </a:lnTo>
                  <a:lnTo>
                    <a:pt x="1472051" y="62264"/>
                  </a:lnTo>
                  <a:lnTo>
                    <a:pt x="1514665" y="78243"/>
                  </a:lnTo>
                  <a:lnTo>
                    <a:pt x="1556425" y="95905"/>
                  </a:lnTo>
                  <a:lnTo>
                    <a:pt x="1597291" y="115209"/>
                  </a:lnTo>
                  <a:lnTo>
                    <a:pt x="1637220" y="136113"/>
                  </a:lnTo>
                  <a:lnTo>
                    <a:pt x="1676171" y="158575"/>
                  </a:lnTo>
                  <a:lnTo>
                    <a:pt x="1714102" y="182555"/>
                  </a:lnTo>
                  <a:lnTo>
                    <a:pt x="1750972" y="208010"/>
                  </a:lnTo>
                  <a:lnTo>
                    <a:pt x="1786740" y="234900"/>
                  </a:lnTo>
                  <a:lnTo>
                    <a:pt x="1821365" y="263183"/>
                  </a:lnTo>
                  <a:lnTo>
                    <a:pt x="1854803" y="292816"/>
                  </a:lnTo>
                  <a:lnTo>
                    <a:pt x="1887015" y="323760"/>
                  </a:lnTo>
                  <a:lnTo>
                    <a:pt x="1917959" y="355972"/>
                  </a:lnTo>
                  <a:lnTo>
                    <a:pt x="1947592" y="389411"/>
                  </a:lnTo>
                  <a:lnTo>
                    <a:pt x="1975875" y="424035"/>
                  </a:lnTo>
                  <a:lnTo>
                    <a:pt x="2002765" y="459803"/>
                  </a:lnTo>
                  <a:lnTo>
                    <a:pt x="2028220" y="496673"/>
                  </a:lnTo>
                  <a:lnTo>
                    <a:pt x="2052200" y="534604"/>
                  </a:lnTo>
                  <a:lnTo>
                    <a:pt x="2074662" y="573555"/>
                  </a:lnTo>
                  <a:lnTo>
                    <a:pt x="2095566" y="613484"/>
                  </a:lnTo>
                  <a:lnTo>
                    <a:pt x="2114870" y="654350"/>
                  </a:lnTo>
                  <a:lnTo>
                    <a:pt x="2132532" y="696110"/>
                  </a:lnTo>
                  <a:lnTo>
                    <a:pt x="2148511" y="738724"/>
                  </a:lnTo>
                  <a:lnTo>
                    <a:pt x="2162766" y="782150"/>
                  </a:lnTo>
                  <a:lnTo>
                    <a:pt x="2175254" y="826347"/>
                  </a:lnTo>
                  <a:lnTo>
                    <a:pt x="2185935" y="871273"/>
                  </a:lnTo>
                  <a:lnTo>
                    <a:pt x="2194767" y="916886"/>
                  </a:lnTo>
                  <a:lnTo>
                    <a:pt x="2201709" y="963146"/>
                  </a:lnTo>
                  <a:lnTo>
                    <a:pt x="2206718" y="1010010"/>
                  </a:lnTo>
                  <a:lnTo>
                    <a:pt x="2209754" y="1057438"/>
                  </a:lnTo>
                  <a:lnTo>
                    <a:pt x="2210776" y="1105383"/>
                  </a:lnTo>
                  <a:lnTo>
                    <a:pt x="2209754" y="1153337"/>
                  </a:lnTo>
                  <a:lnTo>
                    <a:pt x="2206718" y="1200764"/>
                  </a:lnTo>
                  <a:lnTo>
                    <a:pt x="2201709" y="1247629"/>
                  </a:lnTo>
                  <a:lnTo>
                    <a:pt x="2194767" y="1293889"/>
                  </a:lnTo>
                  <a:lnTo>
                    <a:pt x="2185935" y="1339502"/>
                  </a:lnTo>
                  <a:lnTo>
                    <a:pt x="2175254" y="1384428"/>
                  </a:lnTo>
                  <a:lnTo>
                    <a:pt x="2162766" y="1428625"/>
                  </a:lnTo>
                  <a:lnTo>
                    <a:pt x="2148511" y="1472051"/>
                  </a:lnTo>
                  <a:lnTo>
                    <a:pt x="2132532" y="1514665"/>
                  </a:lnTo>
                  <a:lnTo>
                    <a:pt x="2114870" y="1556425"/>
                  </a:lnTo>
                  <a:lnTo>
                    <a:pt x="2095566" y="1597291"/>
                  </a:lnTo>
                  <a:lnTo>
                    <a:pt x="2074662" y="1637220"/>
                  </a:lnTo>
                  <a:lnTo>
                    <a:pt x="2052200" y="1676170"/>
                  </a:lnTo>
                  <a:lnTo>
                    <a:pt x="2028220" y="1714102"/>
                  </a:lnTo>
                  <a:lnTo>
                    <a:pt x="2002765" y="1750972"/>
                  </a:lnTo>
                  <a:lnTo>
                    <a:pt x="1975875" y="1786740"/>
                  </a:lnTo>
                  <a:lnTo>
                    <a:pt x="1947592" y="1821364"/>
                  </a:lnTo>
                  <a:lnTo>
                    <a:pt x="1917959" y="1854803"/>
                  </a:lnTo>
                  <a:lnTo>
                    <a:pt x="1887015" y="1887015"/>
                  </a:lnTo>
                  <a:lnTo>
                    <a:pt x="1854803" y="1917959"/>
                  </a:lnTo>
                  <a:lnTo>
                    <a:pt x="1821365" y="1947592"/>
                  </a:lnTo>
                  <a:lnTo>
                    <a:pt x="1786740" y="1975875"/>
                  </a:lnTo>
                  <a:lnTo>
                    <a:pt x="1750972" y="2002764"/>
                  </a:lnTo>
                  <a:lnTo>
                    <a:pt x="1714102" y="2028220"/>
                  </a:lnTo>
                  <a:lnTo>
                    <a:pt x="1676171" y="2052200"/>
                  </a:lnTo>
                  <a:lnTo>
                    <a:pt x="1637220" y="2074662"/>
                  </a:lnTo>
                  <a:lnTo>
                    <a:pt x="1597291" y="2095566"/>
                  </a:lnTo>
                  <a:lnTo>
                    <a:pt x="1556425" y="2114870"/>
                  </a:lnTo>
                  <a:lnTo>
                    <a:pt x="1514665" y="2132532"/>
                  </a:lnTo>
                  <a:lnTo>
                    <a:pt x="1472051" y="2148511"/>
                  </a:lnTo>
                  <a:lnTo>
                    <a:pt x="1428625" y="2162766"/>
                  </a:lnTo>
                  <a:lnTo>
                    <a:pt x="1384428" y="2175254"/>
                  </a:lnTo>
                  <a:lnTo>
                    <a:pt x="1339502" y="2185935"/>
                  </a:lnTo>
                  <a:lnTo>
                    <a:pt x="1293889" y="2194767"/>
                  </a:lnTo>
                  <a:lnTo>
                    <a:pt x="1247629" y="2201709"/>
                  </a:lnTo>
                  <a:lnTo>
                    <a:pt x="1200765" y="2206718"/>
                  </a:lnTo>
                  <a:lnTo>
                    <a:pt x="1153337" y="2209755"/>
                  </a:lnTo>
                  <a:lnTo>
                    <a:pt x="1105387" y="2210776"/>
                  </a:lnTo>
                  <a:close/>
                </a:path>
              </a:pathLst>
            </a:custGeom>
            <a:solidFill>
              <a:srgbClr val="FFFFFF"/>
            </a:solidFill>
          </p:spPr>
          <p:txBody>
            <a:bodyPr wrap="square" lIns="0" tIns="0" rIns="0" bIns="0" rtlCol="0"/>
            <a:lstStyle/>
            <a:p>
              <a:endParaRPr sz="1200"/>
            </a:p>
          </p:txBody>
        </p:sp>
        <p:pic>
          <p:nvPicPr>
            <p:cNvPr id="14" name="object 14"/>
            <p:cNvPicPr/>
            <p:nvPr/>
          </p:nvPicPr>
          <p:blipFill>
            <a:blip r:embed="rId5" cstate="print"/>
            <a:stretch>
              <a:fillRect/>
            </a:stretch>
          </p:blipFill>
          <p:spPr>
            <a:xfrm>
              <a:off x="5441843" y="3837596"/>
              <a:ext cx="2010561" cy="2010560"/>
            </a:xfrm>
            <a:prstGeom prst="rect">
              <a:avLst/>
            </a:prstGeom>
          </p:spPr>
        </p:pic>
        <p:sp>
          <p:nvSpPr>
            <p:cNvPr id="15" name="object 15"/>
            <p:cNvSpPr/>
            <p:nvPr/>
          </p:nvSpPr>
          <p:spPr>
            <a:xfrm>
              <a:off x="5908040" y="4075480"/>
              <a:ext cx="1235075" cy="1437640"/>
            </a:xfrm>
            <a:custGeom>
              <a:avLst/>
              <a:gdLst/>
              <a:ahLst/>
              <a:cxnLst/>
              <a:rect l="l" t="t" r="r" b="b"/>
              <a:pathLst>
                <a:path w="1235075" h="1437639">
                  <a:moveTo>
                    <a:pt x="100799" y="1361465"/>
                  </a:moveTo>
                  <a:lnTo>
                    <a:pt x="0" y="1361465"/>
                  </a:lnTo>
                  <a:lnTo>
                    <a:pt x="0" y="1437220"/>
                  </a:lnTo>
                  <a:lnTo>
                    <a:pt x="100799" y="1437220"/>
                  </a:lnTo>
                  <a:lnTo>
                    <a:pt x="100799" y="1361465"/>
                  </a:lnTo>
                  <a:close/>
                </a:path>
                <a:path w="1235075" h="1437639">
                  <a:moveTo>
                    <a:pt x="327571" y="1310957"/>
                  </a:moveTo>
                  <a:lnTo>
                    <a:pt x="226783" y="1310957"/>
                  </a:lnTo>
                  <a:lnTo>
                    <a:pt x="226783" y="1437220"/>
                  </a:lnTo>
                  <a:lnTo>
                    <a:pt x="327571" y="1437220"/>
                  </a:lnTo>
                  <a:lnTo>
                    <a:pt x="327571" y="1310957"/>
                  </a:lnTo>
                  <a:close/>
                </a:path>
                <a:path w="1235075" h="1437639">
                  <a:moveTo>
                    <a:pt x="554355" y="1260449"/>
                  </a:moveTo>
                  <a:lnTo>
                    <a:pt x="453567" y="1260449"/>
                  </a:lnTo>
                  <a:lnTo>
                    <a:pt x="453567" y="1437220"/>
                  </a:lnTo>
                  <a:lnTo>
                    <a:pt x="554355" y="1437220"/>
                  </a:lnTo>
                  <a:lnTo>
                    <a:pt x="554355" y="1260449"/>
                  </a:lnTo>
                  <a:close/>
                </a:path>
                <a:path w="1235075" h="1437639">
                  <a:moveTo>
                    <a:pt x="756881" y="393484"/>
                  </a:moveTo>
                  <a:lnTo>
                    <a:pt x="754176" y="349275"/>
                  </a:lnTo>
                  <a:lnTo>
                    <a:pt x="743813" y="306755"/>
                  </a:lnTo>
                  <a:lnTo>
                    <a:pt x="726554" y="266687"/>
                  </a:lnTo>
                  <a:lnTo>
                    <a:pt x="703211" y="229781"/>
                  </a:lnTo>
                  <a:lnTo>
                    <a:pt x="674573" y="196761"/>
                  </a:lnTo>
                  <a:lnTo>
                    <a:pt x="666089" y="189496"/>
                  </a:lnTo>
                  <a:lnTo>
                    <a:pt x="666089" y="393344"/>
                  </a:lnTo>
                  <a:lnTo>
                    <a:pt x="665873" y="402539"/>
                  </a:lnTo>
                  <a:lnTo>
                    <a:pt x="658063" y="447636"/>
                  </a:lnTo>
                  <a:lnTo>
                    <a:pt x="639584" y="489483"/>
                  </a:lnTo>
                  <a:lnTo>
                    <a:pt x="611492" y="525602"/>
                  </a:lnTo>
                  <a:lnTo>
                    <a:pt x="606145" y="529196"/>
                  </a:lnTo>
                  <a:lnTo>
                    <a:pt x="599160" y="529183"/>
                  </a:lnTo>
                  <a:lnTo>
                    <a:pt x="596214" y="527951"/>
                  </a:lnTo>
                  <a:lnTo>
                    <a:pt x="591337" y="523062"/>
                  </a:lnTo>
                  <a:lnTo>
                    <a:pt x="590105" y="520103"/>
                  </a:lnTo>
                  <a:lnTo>
                    <a:pt x="590067" y="513181"/>
                  </a:lnTo>
                  <a:lnTo>
                    <a:pt x="591261" y="510222"/>
                  </a:lnTo>
                  <a:lnTo>
                    <a:pt x="593674" y="507746"/>
                  </a:lnTo>
                  <a:lnTo>
                    <a:pt x="599135" y="501980"/>
                  </a:lnTo>
                  <a:lnTo>
                    <a:pt x="621855" y="469595"/>
                  </a:lnTo>
                  <a:lnTo>
                    <a:pt x="636054" y="432663"/>
                  </a:lnTo>
                  <a:lnTo>
                    <a:pt x="640880" y="393484"/>
                  </a:lnTo>
                  <a:lnTo>
                    <a:pt x="640689" y="385406"/>
                  </a:lnTo>
                  <a:lnTo>
                    <a:pt x="633945" y="346392"/>
                  </a:lnTo>
                  <a:lnTo>
                    <a:pt x="617969" y="310197"/>
                  </a:lnTo>
                  <a:lnTo>
                    <a:pt x="593674" y="278942"/>
                  </a:lnTo>
                  <a:lnTo>
                    <a:pt x="592480" y="277774"/>
                  </a:lnTo>
                  <a:lnTo>
                    <a:pt x="591540" y="276402"/>
                  </a:lnTo>
                  <a:lnTo>
                    <a:pt x="590232" y="273291"/>
                  </a:lnTo>
                  <a:lnTo>
                    <a:pt x="589902" y="271678"/>
                  </a:lnTo>
                  <a:lnTo>
                    <a:pt x="589991" y="267754"/>
                  </a:lnTo>
                  <a:lnTo>
                    <a:pt x="600875" y="257289"/>
                  </a:lnTo>
                  <a:lnTo>
                    <a:pt x="604240" y="257302"/>
                  </a:lnTo>
                  <a:lnTo>
                    <a:pt x="634682" y="289445"/>
                  </a:lnTo>
                  <a:lnTo>
                    <a:pt x="655205" y="330365"/>
                  </a:lnTo>
                  <a:lnTo>
                    <a:pt x="665200" y="375018"/>
                  </a:lnTo>
                  <a:lnTo>
                    <a:pt x="666089" y="393344"/>
                  </a:lnTo>
                  <a:lnTo>
                    <a:pt x="666089" y="189496"/>
                  </a:lnTo>
                  <a:lnTo>
                    <a:pt x="604545" y="145300"/>
                  </a:lnTo>
                  <a:lnTo>
                    <a:pt x="564743" y="128320"/>
                  </a:lnTo>
                  <a:lnTo>
                    <a:pt x="522808" y="118135"/>
                  </a:lnTo>
                  <a:lnTo>
                    <a:pt x="479526" y="115481"/>
                  </a:lnTo>
                  <a:lnTo>
                    <a:pt x="436232" y="118135"/>
                  </a:lnTo>
                  <a:lnTo>
                    <a:pt x="394296" y="128308"/>
                  </a:lnTo>
                  <a:lnTo>
                    <a:pt x="354495" y="145288"/>
                  </a:lnTo>
                  <a:lnTo>
                    <a:pt x="317627" y="168351"/>
                  </a:lnTo>
                  <a:lnTo>
                    <a:pt x="284480" y="196748"/>
                  </a:lnTo>
                  <a:lnTo>
                    <a:pt x="255828" y="229768"/>
                  </a:lnTo>
                  <a:lnTo>
                    <a:pt x="232486" y="266674"/>
                  </a:lnTo>
                  <a:lnTo>
                    <a:pt x="215239" y="306755"/>
                  </a:lnTo>
                  <a:lnTo>
                    <a:pt x="204863" y="349262"/>
                  </a:lnTo>
                  <a:lnTo>
                    <a:pt x="202158" y="393484"/>
                  </a:lnTo>
                  <a:lnTo>
                    <a:pt x="205193" y="437718"/>
                  </a:lnTo>
                  <a:lnTo>
                    <a:pt x="215557" y="480136"/>
                  </a:lnTo>
                  <a:lnTo>
                    <a:pt x="232537" y="520026"/>
                  </a:lnTo>
                  <a:lnTo>
                    <a:pt x="255460" y="556729"/>
                  </a:lnTo>
                  <a:lnTo>
                    <a:pt x="283654" y="589546"/>
                  </a:lnTo>
                  <a:lnTo>
                    <a:pt x="316407" y="617791"/>
                  </a:lnTo>
                  <a:lnTo>
                    <a:pt x="353060" y="640765"/>
                  </a:lnTo>
                  <a:lnTo>
                    <a:pt x="392925" y="657796"/>
                  </a:lnTo>
                  <a:lnTo>
                    <a:pt x="435305" y="668172"/>
                  </a:lnTo>
                  <a:lnTo>
                    <a:pt x="479513" y="671233"/>
                  </a:lnTo>
                  <a:lnTo>
                    <a:pt x="523735" y="668172"/>
                  </a:lnTo>
                  <a:lnTo>
                    <a:pt x="566102" y="657796"/>
                  </a:lnTo>
                  <a:lnTo>
                    <a:pt x="605967" y="640765"/>
                  </a:lnTo>
                  <a:lnTo>
                    <a:pt x="642620" y="617791"/>
                  </a:lnTo>
                  <a:lnTo>
                    <a:pt x="675386" y="589546"/>
                  </a:lnTo>
                  <a:lnTo>
                    <a:pt x="703567" y="556729"/>
                  </a:lnTo>
                  <a:lnTo>
                    <a:pt x="726503" y="520026"/>
                  </a:lnTo>
                  <a:lnTo>
                    <a:pt x="743483" y="480136"/>
                  </a:lnTo>
                  <a:lnTo>
                    <a:pt x="753846" y="437718"/>
                  </a:lnTo>
                  <a:lnTo>
                    <a:pt x="756881" y="393484"/>
                  </a:lnTo>
                  <a:close/>
                </a:path>
                <a:path w="1235075" h="1437639">
                  <a:moveTo>
                    <a:pt x="781138" y="1184694"/>
                  </a:moveTo>
                  <a:lnTo>
                    <a:pt x="680351" y="1184694"/>
                  </a:lnTo>
                  <a:lnTo>
                    <a:pt x="680351" y="1437220"/>
                  </a:lnTo>
                  <a:lnTo>
                    <a:pt x="781138" y="1437220"/>
                  </a:lnTo>
                  <a:lnTo>
                    <a:pt x="781138" y="1184694"/>
                  </a:lnTo>
                  <a:close/>
                </a:path>
                <a:path w="1235075" h="1437639">
                  <a:moveTo>
                    <a:pt x="872274" y="393484"/>
                  </a:moveTo>
                  <a:lnTo>
                    <a:pt x="869950" y="349427"/>
                  </a:lnTo>
                  <a:lnTo>
                    <a:pt x="862939" y="305993"/>
                  </a:lnTo>
                  <a:lnTo>
                    <a:pt x="851268" y="263588"/>
                  </a:lnTo>
                  <a:lnTo>
                    <a:pt x="834923" y="222719"/>
                  </a:lnTo>
                  <a:lnTo>
                    <a:pt x="813917" y="183921"/>
                  </a:lnTo>
                  <a:lnTo>
                    <a:pt x="788238" y="147701"/>
                  </a:lnTo>
                  <a:lnTo>
                    <a:pt x="781494" y="140347"/>
                  </a:lnTo>
                  <a:lnTo>
                    <a:pt x="781494" y="393280"/>
                  </a:lnTo>
                  <a:lnTo>
                    <a:pt x="777989" y="440563"/>
                  </a:lnTo>
                  <a:lnTo>
                    <a:pt x="767435" y="486740"/>
                  </a:lnTo>
                  <a:lnTo>
                    <a:pt x="749846" y="530733"/>
                  </a:lnTo>
                  <a:lnTo>
                    <a:pt x="725208" y="571436"/>
                  </a:lnTo>
                  <a:lnTo>
                    <a:pt x="693521" y="607758"/>
                  </a:lnTo>
                  <a:lnTo>
                    <a:pt x="657402" y="639445"/>
                  </a:lnTo>
                  <a:lnTo>
                    <a:pt x="616839" y="664095"/>
                  </a:lnTo>
                  <a:lnTo>
                    <a:pt x="572935" y="681710"/>
                  </a:lnTo>
                  <a:lnTo>
                    <a:pt x="526808" y="692289"/>
                  </a:lnTo>
                  <a:lnTo>
                    <a:pt x="479577" y="695820"/>
                  </a:lnTo>
                  <a:lnTo>
                    <a:pt x="432333" y="692315"/>
                  </a:lnTo>
                  <a:lnTo>
                    <a:pt x="386194" y="681748"/>
                  </a:lnTo>
                  <a:lnTo>
                    <a:pt x="342265" y="664146"/>
                  </a:lnTo>
                  <a:lnTo>
                    <a:pt x="301663" y="639470"/>
                  </a:lnTo>
                  <a:lnTo>
                    <a:pt x="265506" y="607758"/>
                  </a:lnTo>
                  <a:lnTo>
                    <a:pt x="233832" y="571436"/>
                  </a:lnTo>
                  <a:lnTo>
                    <a:pt x="209194" y="530733"/>
                  </a:lnTo>
                  <a:lnTo>
                    <a:pt x="191604" y="486752"/>
                  </a:lnTo>
                  <a:lnTo>
                    <a:pt x="181051" y="440575"/>
                  </a:lnTo>
                  <a:lnTo>
                    <a:pt x="177546" y="393280"/>
                  </a:lnTo>
                  <a:lnTo>
                    <a:pt x="181063" y="346024"/>
                  </a:lnTo>
                  <a:lnTo>
                    <a:pt x="191630" y="299834"/>
                  </a:lnTo>
                  <a:lnTo>
                    <a:pt x="209219" y="255828"/>
                  </a:lnTo>
                  <a:lnTo>
                    <a:pt x="233845" y="215112"/>
                  </a:lnTo>
                  <a:lnTo>
                    <a:pt x="265506" y="178765"/>
                  </a:lnTo>
                  <a:lnTo>
                    <a:pt x="299262" y="149707"/>
                  </a:lnTo>
                  <a:lnTo>
                    <a:pt x="336905" y="125920"/>
                  </a:lnTo>
                  <a:lnTo>
                    <a:pt x="377609" y="107911"/>
                  </a:lnTo>
                  <a:lnTo>
                    <a:pt x="420509" y="96050"/>
                  </a:lnTo>
                  <a:lnTo>
                    <a:pt x="464680" y="90614"/>
                  </a:lnTo>
                  <a:lnTo>
                    <a:pt x="479513" y="90246"/>
                  </a:lnTo>
                  <a:lnTo>
                    <a:pt x="486943" y="90335"/>
                  </a:lnTo>
                  <a:lnTo>
                    <a:pt x="531215" y="94691"/>
                  </a:lnTo>
                  <a:lnTo>
                    <a:pt x="574395" y="105498"/>
                  </a:lnTo>
                  <a:lnTo>
                    <a:pt x="615530" y="122504"/>
                  </a:lnTo>
                  <a:lnTo>
                    <a:pt x="653732" y="145364"/>
                  </a:lnTo>
                  <a:lnTo>
                    <a:pt x="688200" y="173583"/>
                  </a:lnTo>
                  <a:lnTo>
                    <a:pt x="725182" y="215099"/>
                  </a:lnTo>
                  <a:lnTo>
                    <a:pt x="749808" y="255816"/>
                  </a:lnTo>
                  <a:lnTo>
                    <a:pt x="767410" y="299821"/>
                  </a:lnTo>
                  <a:lnTo>
                    <a:pt x="777976" y="345998"/>
                  </a:lnTo>
                  <a:lnTo>
                    <a:pt x="781494" y="393280"/>
                  </a:lnTo>
                  <a:lnTo>
                    <a:pt x="781494" y="140347"/>
                  </a:lnTo>
                  <a:lnTo>
                    <a:pt x="757885" y="114554"/>
                  </a:lnTo>
                  <a:lnTo>
                    <a:pt x="730364" y="90246"/>
                  </a:lnTo>
                  <a:lnTo>
                    <a:pt x="720852" y="81838"/>
                  </a:lnTo>
                  <a:lnTo>
                    <a:pt x="680935" y="54571"/>
                  </a:lnTo>
                  <a:lnTo>
                    <a:pt x="638644" y="32753"/>
                  </a:lnTo>
                  <a:lnTo>
                    <a:pt x="594525" y="16383"/>
                  </a:lnTo>
                  <a:lnTo>
                    <a:pt x="549084" y="5473"/>
                  </a:lnTo>
                  <a:lnTo>
                    <a:pt x="502869" y="12"/>
                  </a:lnTo>
                  <a:lnTo>
                    <a:pt x="456387" y="0"/>
                  </a:lnTo>
                  <a:lnTo>
                    <a:pt x="410171" y="5448"/>
                  </a:lnTo>
                  <a:lnTo>
                    <a:pt x="364744" y="16357"/>
                  </a:lnTo>
                  <a:lnTo>
                    <a:pt x="320624" y="32715"/>
                  </a:lnTo>
                  <a:lnTo>
                    <a:pt x="278358" y="54533"/>
                  </a:lnTo>
                  <a:lnTo>
                    <a:pt x="238455" y="81813"/>
                  </a:lnTo>
                  <a:lnTo>
                    <a:pt x="201434" y="114554"/>
                  </a:lnTo>
                  <a:lnTo>
                    <a:pt x="170929" y="148513"/>
                  </a:lnTo>
                  <a:lnTo>
                    <a:pt x="145110" y="185204"/>
                  </a:lnTo>
                  <a:lnTo>
                    <a:pt x="123990" y="224142"/>
                  </a:lnTo>
                  <a:lnTo>
                    <a:pt x="107569" y="264896"/>
                  </a:lnTo>
                  <a:lnTo>
                    <a:pt x="95834" y="307009"/>
                  </a:lnTo>
                  <a:lnTo>
                    <a:pt x="88811" y="350024"/>
                  </a:lnTo>
                  <a:lnTo>
                    <a:pt x="86461" y="393484"/>
                  </a:lnTo>
                  <a:lnTo>
                    <a:pt x="88811" y="436943"/>
                  </a:lnTo>
                  <a:lnTo>
                    <a:pt x="95859" y="479945"/>
                  </a:lnTo>
                  <a:lnTo>
                    <a:pt x="107594" y="522046"/>
                  </a:lnTo>
                  <a:lnTo>
                    <a:pt x="124028" y="562762"/>
                  </a:lnTo>
                  <a:lnTo>
                    <a:pt x="145135" y="601675"/>
                  </a:lnTo>
                  <a:lnTo>
                    <a:pt x="170942" y="638314"/>
                  </a:lnTo>
                  <a:lnTo>
                    <a:pt x="201422" y="672198"/>
                  </a:lnTo>
                  <a:lnTo>
                    <a:pt x="238074" y="704837"/>
                  </a:lnTo>
                  <a:lnTo>
                    <a:pt x="277787" y="732028"/>
                  </a:lnTo>
                  <a:lnTo>
                    <a:pt x="320027" y="753783"/>
                  </a:lnTo>
                  <a:lnTo>
                    <a:pt x="364210" y="770102"/>
                  </a:lnTo>
                  <a:lnTo>
                    <a:pt x="409803" y="780986"/>
                  </a:lnTo>
                  <a:lnTo>
                    <a:pt x="456247" y="786434"/>
                  </a:lnTo>
                  <a:lnTo>
                    <a:pt x="502958" y="786447"/>
                  </a:lnTo>
                  <a:lnTo>
                    <a:pt x="549402" y="781011"/>
                  </a:lnTo>
                  <a:lnTo>
                    <a:pt x="595007" y="770140"/>
                  </a:lnTo>
                  <a:lnTo>
                    <a:pt x="639216" y="753833"/>
                  </a:lnTo>
                  <a:lnTo>
                    <a:pt x="681469" y="732066"/>
                  </a:lnTo>
                  <a:lnTo>
                    <a:pt x="721207" y="704862"/>
                  </a:lnTo>
                  <a:lnTo>
                    <a:pt x="731354" y="695820"/>
                  </a:lnTo>
                  <a:lnTo>
                    <a:pt x="757859" y="672223"/>
                  </a:lnTo>
                  <a:lnTo>
                    <a:pt x="788238" y="639051"/>
                  </a:lnTo>
                  <a:lnTo>
                    <a:pt x="813917" y="602830"/>
                  </a:lnTo>
                  <a:lnTo>
                    <a:pt x="834923" y="564019"/>
                  </a:lnTo>
                  <a:lnTo>
                    <a:pt x="851268" y="523163"/>
                  </a:lnTo>
                  <a:lnTo>
                    <a:pt x="862939" y="480758"/>
                  </a:lnTo>
                  <a:lnTo>
                    <a:pt x="869950" y="437324"/>
                  </a:lnTo>
                  <a:lnTo>
                    <a:pt x="872274" y="393484"/>
                  </a:lnTo>
                  <a:close/>
                </a:path>
                <a:path w="1235075" h="1437639">
                  <a:moveTo>
                    <a:pt x="1007922" y="1007922"/>
                  </a:moveTo>
                  <a:lnTo>
                    <a:pt x="907122" y="1007922"/>
                  </a:lnTo>
                  <a:lnTo>
                    <a:pt x="907122" y="1437220"/>
                  </a:lnTo>
                  <a:lnTo>
                    <a:pt x="1007922" y="1437220"/>
                  </a:lnTo>
                  <a:lnTo>
                    <a:pt x="1007922" y="1007922"/>
                  </a:lnTo>
                  <a:close/>
                </a:path>
                <a:path w="1235075" h="1437639">
                  <a:moveTo>
                    <a:pt x="1234694" y="603859"/>
                  </a:moveTo>
                  <a:lnTo>
                    <a:pt x="1133906" y="603859"/>
                  </a:lnTo>
                  <a:lnTo>
                    <a:pt x="1133906" y="1437220"/>
                  </a:lnTo>
                  <a:lnTo>
                    <a:pt x="1234694" y="1437220"/>
                  </a:lnTo>
                  <a:lnTo>
                    <a:pt x="1234694" y="603859"/>
                  </a:lnTo>
                  <a:close/>
                </a:path>
              </a:pathLst>
            </a:custGeom>
            <a:solidFill>
              <a:srgbClr val="000000"/>
            </a:solidFill>
          </p:spPr>
          <p:txBody>
            <a:bodyPr wrap="square" lIns="0" tIns="0" rIns="0" bIns="0" rtlCol="0"/>
            <a:lstStyle/>
            <a:p>
              <a:endParaRPr sz="1200"/>
            </a:p>
          </p:txBody>
        </p:sp>
        <p:pic>
          <p:nvPicPr>
            <p:cNvPr id="16" name="object 16"/>
            <p:cNvPicPr/>
            <p:nvPr/>
          </p:nvPicPr>
          <p:blipFill>
            <a:blip r:embed="rId6" cstate="print"/>
            <a:stretch>
              <a:fillRect/>
            </a:stretch>
          </p:blipFill>
          <p:spPr>
            <a:xfrm>
              <a:off x="5954351" y="4736875"/>
              <a:ext cx="165839" cy="166179"/>
            </a:xfrm>
            <a:prstGeom prst="rect">
              <a:avLst/>
            </a:prstGeom>
          </p:spPr>
        </p:pic>
        <p:sp>
          <p:nvSpPr>
            <p:cNvPr id="17" name="object 17"/>
            <p:cNvSpPr/>
            <p:nvPr/>
          </p:nvSpPr>
          <p:spPr>
            <a:xfrm>
              <a:off x="5706173" y="4325263"/>
              <a:ext cx="1285875" cy="1010919"/>
            </a:xfrm>
            <a:custGeom>
              <a:avLst/>
              <a:gdLst/>
              <a:ahLst/>
              <a:cxnLst/>
              <a:rect l="l" t="t" r="r" b="b"/>
              <a:pathLst>
                <a:path w="1285875" h="1010920">
                  <a:moveTo>
                    <a:pt x="301663" y="614502"/>
                  </a:moveTo>
                  <a:lnTo>
                    <a:pt x="283235" y="593648"/>
                  </a:lnTo>
                  <a:lnTo>
                    <a:pt x="254736" y="565162"/>
                  </a:lnTo>
                  <a:lnTo>
                    <a:pt x="225742" y="536854"/>
                  </a:lnTo>
                  <a:lnTo>
                    <a:pt x="205803" y="516547"/>
                  </a:lnTo>
                  <a:lnTo>
                    <a:pt x="25565" y="695363"/>
                  </a:lnTo>
                  <a:lnTo>
                    <a:pt x="6146" y="735787"/>
                  </a:lnTo>
                  <a:lnTo>
                    <a:pt x="5803" y="740333"/>
                  </a:lnTo>
                  <a:lnTo>
                    <a:pt x="6032" y="749503"/>
                  </a:lnTo>
                  <a:lnTo>
                    <a:pt x="21666" y="786930"/>
                  </a:lnTo>
                  <a:lnTo>
                    <a:pt x="28092" y="793407"/>
                  </a:lnTo>
                  <a:lnTo>
                    <a:pt x="31229" y="796518"/>
                  </a:lnTo>
                  <a:lnTo>
                    <a:pt x="66878" y="812584"/>
                  </a:lnTo>
                  <a:lnTo>
                    <a:pt x="71247" y="813003"/>
                  </a:lnTo>
                  <a:lnTo>
                    <a:pt x="80060" y="813003"/>
                  </a:lnTo>
                  <a:lnTo>
                    <a:pt x="116662" y="799261"/>
                  </a:lnTo>
                  <a:lnTo>
                    <a:pt x="123202" y="793369"/>
                  </a:lnTo>
                  <a:lnTo>
                    <a:pt x="301663" y="614502"/>
                  </a:lnTo>
                  <a:close/>
                </a:path>
                <a:path w="1285875" h="1010920">
                  <a:moveTo>
                    <a:pt x="1285697" y="38976"/>
                  </a:moveTo>
                  <a:lnTo>
                    <a:pt x="1263446" y="3390"/>
                  </a:lnTo>
                  <a:lnTo>
                    <a:pt x="1246174" y="0"/>
                  </a:lnTo>
                  <a:lnTo>
                    <a:pt x="1243241" y="228"/>
                  </a:lnTo>
                  <a:lnTo>
                    <a:pt x="1212151" y="24523"/>
                  </a:lnTo>
                  <a:lnTo>
                    <a:pt x="1209725" y="36068"/>
                  </a:lnTo>
                  <a:lnTo>
                    <a:pt x="1209865" y="41998"/>
                  </a:lnTo>
                  <a:lnTo>
                    <a:pt x="1233703" y="73380"/>
                  </a:lnTo>
                  <a:lnTo>
                    <a:pt x="1226578" y="127838"/>
                  </a:lnTo>
                  <a:lnTo>
                    <a:pt x="1217561" y="180695"/>
                  </a:lnTo>
                  <a:lnTo>
                    <a:pt x="1206665" y="231940"/>
                  </a:lnTo>
                  <a:lnTo>
                    <a:pt x="1193876" y="281571"/>
                  </a:lnTo>
                  <a:lnTo>
                    <a:pt x="1179207" y="329565"/>
                  </a:lnTo>
                  <a:lnTo>
                    <a:pt x="1162659" y="375907"/>
                  </a:lnTo>
                  <a:lnTo>
                    <a:pt x="1144244" y="420611"/>
                  </a:lnTo>
                  <a:lnTo>
                    <a:pt x="1123950" y="463651"/>
                  </a:lnTo>
                  <a:lnTo>
                    <a:pt x="1101801" y="505028"/>
                  </a:lnTo>
                  <a:lnTo>
                    <a:pt x="1077785" y="544715"/>
                  </a:lnTo>
                  <a:lnTo>
                    <a:pt x="1051915" y="582726"/>
                  </a:lnTo>
                  <a:lnTo>
                    <a:pt x="1024191" y="619036"/>
                  </a:lnTo>
                  <a:lnTo>
                    <a:pt x="994625" y="653643"/>
                  </a:lnTo>
                  <a:lnTo>
                    <a:pt x="963206" y="686523"/>
                  </a:lnTo>
                  <a:lnTo>
                    <a:pt x="929944" y="717689"/>
                  </a:lnTo>
                  <a:lnTo>
                    <a:pt x="894854" y="747115"/>
                  </a:lnTo>
                  <a:lnTo>
                    <a:pt x="840854" y="786549"/>
                  </a:lnTo>
                  <a:lnTo>
                    <a:pt x="785164" y="821067"/>
                  </a:lnTo>
                  <a:lnTo>
                    <a:pt x="728281" y="850963"/>
                  </a:lnTo>
                  <a:lnTo>
                    <a:pt x="670725" y="876554"/>
                  </a:lnTo>
                  <a:lnTo>
                    <a:pt x="612978" y="898169"/>
                  </a:lnTo>
                  <a:lnTo>
                    <a:pt x="555561" y="916114"/>
                  </a:lnTo>
                  <a:lnTo>
                    <a:pt x="498957" y="930719"/>
                  </a:lnTo>
                  <a:lnTo>
                    <a:pt x="443674" y="942301"/>
                  </a:lnTo>
                  <a:lnTo>
                    <a:pt x="390207" y="951153"/>
                  </a:lnTo>
                  <a:lnTo>
                    <a:pt x="339077" y="957630"/>
                  </a:lnTo>
                  <a:lnTo>
                    <a:pt x="290766" y="962012"/>
                  </a:lnTo>
                  <a:lnTo>
                    <a:pt x="245783" y="964641"/>
                  </a:lnTo>
                  <a:lnTo>
                    <a:pt x="204635" y="965835"/>
                  </a:lnTo>
                  <a:lnTo>
                    <a:pt x="167817" y="965885"/>
                  </a:lnTo>
                  <a:lnTo>
                    <a:pt x="135826" y="965149"/>
                  </a:lnTo>
                  <a:lnTo>
                    <a:pt x="109181" y="963904"/>
                  </a:lnTo>
                  <a:lnTo>
                    <a:pt x="88366" y="962494"/>
                  </a:lnTo>
                  <a:lnTo>
                    <a:pt x="73888" y="961224"/>
                  </a:lnTo>
                  <a:lnTo>
                    <a:pt x="72453" y="956767"/>
                  </a:lnTo>
                  <a:lnTo>
                    <a:pt x="70269" y="952728"/>
                  </a:lnTo>
                  <a:lnTo>
                    <a:pt x="39306" y="934796"/>
                  </a:lnTo>
                  <a:lnTo>
                    <a:pt x="34721" y="934923"/>
                  </a:lnTo>
                  <a:lnTo>
                    <a:pt x="2768" y="958596"/>
                  </a:lnTo>
                  <a:lnTo>
                    <a:pt x="0" y="972210"/>
                  </a:lnTo>
                  <a:lnTo>
                    <a:pt x="990" y="981506"/>
                  </a:lnTo>
                  <a:lnTo>
                    <a:pt x="28905" y="1009853"/>
                  </a:lnTo>
                  <a:lnTo>
                    <a:pt x="33426" y="1010678"/>
                  </a:lnTo>
                  <a:lnTo>
                    <a:pt x="38087" y="1010666"/>
                  </a:lnTo>
                  <a:lnTo>
                    <a:pt x="45859" y="1010653"/>
                  </a:lnTo>
                  <a:lnTo>
                    <a:pt x="52959" y="1008443"/>
                  </a:lnTo>
                  <a:lnTo>
                    <a:pt x="65786" y="999617"/>
                  </a:lnTo>
                  <a:lnTo>
                    <a:pt x="70396" y="993787"/>
                  </a:lnTo>
                  <a:lnTo>
                    <a:pt x="73215" y="986510"/>
                  </a:lnTo>
                  <a:lnTo>
                    <a:pt x="90525" y="987958"/>
                  </a:lnTo>
                  <a:lnTo>
                    <a:pt x="114960" y="989482"/>
                  </a:lnTo>
                  <a:lnTo>
                    <a:pt x="145986" y="990676"/>
                  </a:lnTo>
                  <a:lnTo>
                    <a:pt x="183032" y="991158"/>
                  </a:lnTo>
                  <a:lnTo>
                    <a:pt x="216369" y="990777"/>
                  </a:lnTo>
                  <a:lnTo>
                    <a:pt x="291922" y="987120"/>
                  </a:lnTo>
                  <a:lnTo>
                    <a:pt x="333514" y="983462"/>
                  </a:lnTo>
                  <a:lnTo>
                    <a:pt x="377253" y="978306"/>
                  </a:lnTo>
                  <a:lnTo>
                    <a:pt x="422808" y="971473"/>
                  </a:lnTo>
                  <a:lnTo>
                    <a:pt x="469874" y="962748"/>
                  </a:lnTo>
                  <a:lnTo>
                    <a:pt x="518147" y="951953"/>
                  </a:lnTo>
                  <a:lnTo>
                    <a:pt x="567309" y="938872"/>
                  </a:lnTo>
                  <a:lnTo>
                    <a:pt x="617054" y="923328"/>
                  </a:lnTo>
                  <a:lnTo>
                    <a:pt x="667067" y="905103"/>
                  </a:lnTo>
                  <a:lnTo>
                    <a:pt x="717042" y="884021"/>
                  </a:lnTo>
                  <a:lnTo>
                    <a:pt x="766660" y="859866"/>
                  </a:lnTo>
                  <a:lnTo>
                    <a:pt x="815632" y="832446"/>
                  </a:lnTo>
                  <a:lnTo>
                    <a:pt x="863625" y="801573"/>
                  </a:lnTo>
                  <a:lnTo>
                    <a:pt x="910323" y="767041"/>
                  </a:lnTo>
                  <a:lnTo>
                    <a:pt x="946505" y="736714"/>
                  </a:lnTo>
                  <a:lnTo>
                    <a:pt x="980795" y="704621"/>
                  </a:lnTo>
                  <a:lnTo>
                    <a:pt x="1013180" y="670763"/>
                  </a:lnTo>
                  <a:lnTo>
                    <a:pt x="1043647" y="635152"/>
                  </a:lnTo>
                  <a:lnTo>
                    <a:pt x="1072210" y="597789"/>
                  </a:lnTo>
                  <a:lnTo>
                    <a:pt x="1098854" y="558698"/>
                  </a:lnTo>
                  <a:lnTo>
                    <a:pt x="1123569" y="517867"/>
                  </a:lnTo>
                  <a:lnTo>
                    <a:pt x="1146365" y="475322"/>
                  </a:lnTo>
                  <a:lnTo>
                    <a:pt x="1167244" y="431076"/>
                  </a:lnTo>
                  <a:lnTo>
                    <a:pt x="1186180" y="385140"/>
                  </a:lnTo>
                  <a:lnTo>
                    <a:pt x="1203172" y="337502"/>
                  </a:lnTo>
                  <a:lnTo>
                    <a:pt x="1218222" y="288188"/>
                  </a:lnTo>
                  <a:lnTo>
                    <a:pt x="1231341" y="237210"/>
                  </a:lnTo>
                  <a:lnTo>
                    <a:pt x="1242491" y="184569"/>
                  </a:lnTo>
                  <a:lnTo>
                    <a:pt x="1251699" y="130276"/>
                  </a:lnTo>
                  <a:lnTo>
                    <a:pt x="1258951" y="74345"/>
                  </a:lnTo>
                  <a:lnTo>
                    <a:pt x="1261783" y="73469"/>
                  </a:lnTo>
                  <a:lnTo>
                    <a:pt x="1285100" y="44894"/>
                  </a:lnTo>
                  <a:lnTo>
                    <a:pt x="1285697" y="38976"/>
                  </a:lnTo>
                  <a:close/>
                </a:path>
              </a:pathLst>
            </a:custGeom>
            <a:solidFill>
              <a:srgbClr val="000000"/>
            </a:solidFill>
          </p:spPr>
          <p:txBody>
            <a:bodyPr wrap="square" lIns="0" tIns="0" rIns="0" bIns="0" rtlCol="0"/>
            <a:lstStyle/>
            <a:p>
              <a:endParaRPr sz="1200"/>
            </a:p>
          </p:txBody>
        </p:sp>
        <p:sp>
          <p:nvSpPr>
            <p:cNvPr id="18" name="object 18"/>
            <p:cNvSpPr/>
            <p:nvPr/>
          </p:nvSpPr>
          <p:spPr>
            <a:xfrm>
              <a:off x="14330954" y="3737488"/>
              <a:ext cx="2211070" cy="2211070"/>
            </a:xfrm>
            <a:custGeom>
              <a:avLst/>
              <a:gdLst/>
              <a:ahLst/>
              <a:cxnLst/>
              <a:rect l="l" t="t" r="r" b="b"/>
              <a:pathLst>
                <a:path w="2211069" h="2211070">
                  <a:moveTo>
                    <a:pt x="1105388" y="2210776"/>
                  </a:moveTo>
                  <a:lnTo>
                    <a:pt x="1057438" y="2209755"/>
                  </a:lnTo>
                  <a:lnTo>
                    <a:pt x="1010011" y="2206718"/>
                  </a:lnTo>
                  <a:lnTo>
                    <a:pt x="963146" y="2201709"/>
                  </a:lnTo>
                  <a:lnTo>
                    <a:pt x="916887" y="2194767"/>
                  </a:lnTo>
                  <a:lnTo>
                    <a:pt x="871273" y="2185935"/>
                  </a:lnTo>
                  <a:lnTo>
                    <a:pt x="826347" y="2175254"/>
                  </a:lnTo>
                  <a:lnTo>
                    <a:pt x="782150" y="2162766"/>
                  </a:lnTo>
                  <a:lnTo>
                    <a:pt x="738724" y="2148511"/>
                  </a:lnTo>
                  <a:lnTo>
                    <a:pt x="696110" y="2132532"/>
                  </a:lnTo>
                  <a:lnTo>
                    <a:pt x="654350" y="2114870"/>
                  </a:lnTo>
                  <a:lnTo>
                    <a:pt x="613485" y="2095566"/>
                  </a:lnTo>
                  <a:lnTo>
                    <a:pt x="573556" y="2074662"/>
                  </a:lnTo>
                  <a:lnTo>
                    <a:pt x="534605" y="2052200"/>
                  </a:lnTo>
                  <a:lnTo>
                    <a:pt x="496673" y="2028220"/>
                  </a:lnTo>
                  <a:lnTo>
                    <a:pt x="459803" y="2002764"/>
                  </a:lnTo>
                  <a:lnTo>
                    <a:pt x="424035" y="1975875"/>
                  </a:lnTo>
                  <a:lnTo>
                    <a:pt x="389411" y="1947592"/>
                  </a:lnTo>
                  <a:lnTo>
                    <a:pt x="355972" y="1917959"/>
                  </a:lnTo>
                  <a:lnTo>
                    <a:pt x="323760" y="1887015"/>
                  </a:lnTo>
                  <a:lnTo>
                    <a:pt x="292817" y="1854803"/>
                  </a:lnTo>
                  <a:lnTo>
                    <a:pt x="263183" y="1821364"/>
                  </a:lnTo>
                  <a:lnTo>
                    <a:pt x="234901" y="1786740"/>
                  </a:lnTo>
                  <a:lnTo>
                    <a:pt x="208011" y="1750972"/>
                  </a:lnTo>
                  <a:lnTo>
                    <a:pt x="182555" y="1714102"/>
                  </a:lnTo>
                  <a:lnTo>
                    <a:pt x="158576" y="1676170"/>
                  </a:lnTo>
                  <a:lnTo>
                    <a:pt x="136113" y="1637220"/>
                  </a:lnTo>
                  <a:lnTo>
                    <a:pt x="115209" y="1597291"/>
                  </a:lnTo>
                  <a:lnTo>
                    <a:pt x="95905" y="1556425"/>
                  </a:lnTo>
                  <a:lnTo>
                    <a:pt x="78243" y="1514665"/>
                  </a:lnTo>
                  <a:lnTo>
                    <a:pt x="62264" y="1472051"/>
                  </a:lnTo>
                  <a:lnTo>
                    <a:pt x="48009" y="1428625"/>
                  </a:lnTo>
                  <a:lnTo>
                    <a:pt x="35521" y="1384428"/>
                  </a:lnTo>
                  <a:lnTo>
                    <a:pt x="24840" y="1339502"/>
                  </a:lnTo>
                  <a:lnTo>
                    <a:pt x="16008" y="1293889"/>
                  </a:lnTo>
                  <a:lnTo>
                    <a:pt x="9066" y="1247629"/>
                  </a:lnTo>
                  <a:lnTo>
                    <a:pt x="4057" y="1200764"/>
                  </a:lnTo>
                  <a:lnTo>
                    <a:pt x="1021" y="1153337"/>
                  </a:lnTo>
                  <a:lnTo>
                    <a:pt x="0" y="1105395"/>
                  </a:lnTo>
                  <a:lnTo>
                    <a:pt x="1021" y="1057438"/>
                  </a:lnTo>
                  <a:lnTo>
                    <a:pt x="4057" y="1010010"/>
                  </a:lnTo>
                  <a:lnTo>
                    <a:pt x="9066" y="963146"/>
                  </a:lnTo>
                  <a:lnTo>
                    <a:pt x="16008" y="916886"/>
                  </a:lnTo>
                  <a:lnTo>
                    <a:pt x="24840" y="871273"/>
                  </a:lnTo>
                  <a:lnTo>
                    <a:pt x="35521" y="826347"/>
                  </a:lnTo>
                  <a:lnTo>
                    <a:pt x="48009" y="782150"/>
                  </a:lnTo>
                  <a:lnTo>
                    <a:pt x="62264" y="738724"/>
                  </a:lnTo>
                  <a:lnTo>
                    <a:pt x="78243" y="696110"/>
                  </a:lnTo>
                  <a:lnTo>
                    <a:pt x="95905" y="654350"/>
                  </a:lnTo>
                  <a:lnTo>
                    <a:pt x="115209" y="613484"/>
                  </a:lnTo>
                  <a:lnTo>
                    <a:pt x="136113" y="573555"/>
                  </a:lnTo>
                  <a:lnTo>
                    <a:pt x="158576" y="534604"/>
                  </a:lnTo>
                  <a:lnTo>
                    <a:pt x="182555" y="496673"/>
                  </a:lnTo>
                  <a:lnTo>
                    <a:pt x="208011" y="459803"/>
                  </a:lnTo>
                  <a:lnTo>
                    <a:pt x="234901" y="424035"/>
                  </a:lnTo>
                  <a:lnTo>
                    <a:pt x="263183" y="389411"/>
                  </a:lnTo>
                  <a:lnTo>
                    <a:pt x="292817" y="355972"/>
                  </a:lnTo>
                  <a:lnTo>
                    <a:pt x="323760" y="323760"/>
                  </a:lnTo>
                  <a:lnTo>
                    <a:pt x="355972" y="292816"/>
                  </a:lnTo>
                  <a:lnTo>
                    <a:pt x="389411" y="263183"/>
                  </a:lnTo>
                  <a:lnTo>
                    <a:pt x="424035" y="234900"/>
                  </a:lnTo>
                  <a:lnTo>
                    <a:pt x="459803" y="208010"/>
                  </a:lnTo>
                  <a:lnTo>
                    <a:pt x="496673" y="182555"/>
                  </a:lnTo>
                  <a:lnTo>
                    <a:pt x="534605" y="158575"/>
                  </a:lnTo>
                  <a:lnTo>
                    <a:pt x="573556" y="136113"/>
                  </a:lnTo>
                  <a:lnTo>
                    <a:pt x="613485" y="115209"/>
                  </a:lnTo>
                  <a:lnTo>
                    <a:pt x="654350" y="95905"/>
                  </a:lnTo>
                  <a:lnTo>
                    <a:pt x="696110" y="78243"/>
                  </a:lnTo>
                  <a:lnTo>
                    <a:pt x="738724" y="62264"/>
                  </a:lnTo>
                  <a:lnTo>
                    <a:pt x="782150" y="48009"/>
                  </a:lnTo>
                  <a:lnTo>
                    <a:pt x="826347" y="35521"/>
                  </a:lnTo>
                  <a:lnTo>
                    <a:pt x="871273" y="24840"/>
                  </a:lnTo>
                  <a:lnTo>
                    <a:pt x="916887" y="16008"/>
                  </a:lnTo>
                  <a:lnTo>
                    <a:pt x="963146" y="9066"/>
                  </a:lnTo>
                  <a:lnTo>
                    <a:pt x="1010011" y="4057"/>
                  </a:lnTo>
                  <a:lnTo>
                    <a:pt x="1057438" y="1020"/>
                  </a:lnTo>
                  <a:lnTo>
                    <a:pt x="1105371" y="0"/>
                  </a:lnTo>
                  <a:lnTo>
                    <a:pt x="1153337" y="1020"/>
                  </a:lnTo>
                  <a:lnTo>
                    <a:pt x="1200765" y="4057"/>
                  </a:lnTo>
                  <a:lnTo>
                    <a:pt x="1247629" y="9066"/>
                  </a:lnTo>
                  <a:lnTo>
                    <a:pt x="1293889" y="16008"/>
                  </a:lnTo>
                  <a:lnTo>
                    <a:pt x="1339502" y="24840"/>
                  </a:lnTo>
                  <a:lnTo>
                    <a:pt x="1384428" y="35521"/>
                  </a:lnTo>
                  <a:lnTo>
                    <a:pt x="1428625" y="48009"/>
                  </a:lnTo>
                  <a:lnTo>
                    <a:pt x="1472051" y="62264"/>
                  </a:lnTo>
                  <a:lnTo>
                    <a:pt x="1514665" y="78243"/>
                  </a:lnTo>
                  <a:lnTo>
                    <a:pt x="1556425" y="95905"/>
                  </a:lnTo>
                  <a:lnTo>
                    <a:pt x="1597291" y="115209"/>
                  </a:lnTo>
                  <a:lnTo>
                    <a:pt x="1637220" y="136113"/>
                  </a:lnTo>
                  <a:lnTo>
                    <a:pt x="1676170" y="158575"/>
                  </a:lnTo>
                  <a:lnTo>
                    <a:pt x="1714102" y="182555"/>
                  </a:lnTo>
                  <a:lnTo>
                    <a:pt x="1750972" y="208010"/>
                  </a:lnTo>
                  <a:lnTo>
                    <a:pt x="1786740" y="234900"/>
                  </a:lnTo>
                  <a:lnTo>
                    <a:pt x="1821364" y="263183"/>
                  </a:lnTo>
                  <a:lnTo>
                    <a:pt x="1854803" y="292816"/>
                  </a:lnTo>
                  <a:lnTo>
                    <a:pt x="1887015" y="323760"/>
                  </a:lnTo>
                  <a:lnTo>
                    <a:pt x="1917958" y="355972"/>
                  </a:lnTo>
                  <a:lnTo>
                    <a:pt x="1947592" y="389411"/>
                  </a:lnTo>
                  <a:lnTo>
                    <a:pt x="1975875" y="424035"/>
                  </a:lnTo>
                  <a:lnTo>
                    <a:pt x="2002764" y="459803"/>
                  </a:lnTo>
                  <a:lnTo>
                    <a:pt x="2028220" y="496673"/>
                  </a:lnTo>
                  <a:lnTo>
                    <a:pt x="2052200" y="534604"/>
                  </a:lnTo>
                  <a:lnTo>
                    <a:pt x="2074662" y="573555"/>
                  </a:lnTo>
                  <a:lnTo>
                    <a:pt x="2095566" y="613484"/>
                  </a:lnTo>
                  <a:lnTo>
                    <a:pt x="2114870" y="654350"/>
                  </a:lnTo>
                  <a:lnTo>
                    <a:pt x="2132532" y="696110"/>
                  </a:lnTo>
                  <a:lnTo>
                    <a:pt x="2148511" y="738724"/>
                  </a:lnTo>
                  <a:lnTo>
                    <a:pt x="2162766" y="782150"/>
                  </a:lnTo>
                  <a:lnTo>
                    <a:pt x="2175254" y="826347"/>
                  </a:lnTo>
                  <a:lnTo>
                    <a:pt x="2185935" y="871273"/>
                  </a:lnTo>
                  <a:lnTo>
                    <a:pt x="2194767" y="916886"/>
                  </a:lnTo>
                  <a:lnTo>
                    <a:pt x="2201709" y="963146"/>
                  </a:lnTo>
                  <a:lnTo>
                    <a:pt x="2206718" y="1010010"/>
                  </a:lnTo>
                  <a:lnTo>
                    <a:pt x="2209754" y="1057438"/>
                  </a:lnTo>
                  <a:lnTo>
                    <a:pt x="2210776" y="1105380"/>
                  </a:lnTo>
                  <a:lnTo>
                    <a:pt x="2209754" y="1153337"/>
                  </a:lnTo>
                  <a:lnTo>
                    <a:pt x="2206718" y="1200764"/>
                  </a:lnTo>
                  <a:lnTo>
                    <a:pt x="2201709" y="1247629"/>
                  </a:lnTo>
                  <a:lnTo>
                    <a:pt x="2194767" y="1293889"/>
                  </a:lnTo>
                  <a:lnTo>
                    <a:pt x="2185935" y="1339502"/>
                  </a:lnTo>
                  <a:lnTo>
                    <a:pt x="2175254" y="1384428"/>
                  </a:lnTo>
                  <a:lnTo>
                    <a:pt x="2162766" y="1428625"/>
                  </a:lnTo>
                  <a:lnTo>
                    <a:pt x="2148511" y="1472051"/>
                  </a:lnTo>
                  <a:lnTo>
                    <a:pt x="2132532" y="1514665"/>
                  </a:lnTo>
                  <a:lnTo>
                    <a:pt x="2114870" y="1556425"/>
                  </a:lnTo>
                  <a:lnTo>
                    <a:pt x="2095566" y="1597291"/>
                  </a:lnTo>
                  <a:lnTo>
                    <a:pt x="2074662" y="1637220"/>
                  </a:lnTo>
                  <a:lnTo>
                    <a:pt x="2052200" y="1676170"/>
                  </a:lnTo>
                  <a:lnTo>
                    <a:pt x="2028220" y="1714102"/>
                  </a:lnTo>
                  <a:lnTo>
                    <a:pt x="2002764" y="1750972"/>
                  </a:lnTo>
                  <a:lnTo>
                    <a:pt x="1975875" y="1786740"/>
                  </a:lnTo>
                  <a:lnTo>
                    <a:pt x="1947592" y="1821364"/>
                  </a:lnTo>
                  <a:lnTo>
                    <a:pt x="1917958" y="1854803"/>
                  </a:lnTo>
                  <a:lnTo>
                    <a:pt x="1887015" y="1887015"/>
                  </a:lnTo>
                  <a:lnTo>
                    <a:pt x="1854803" y="1917959"/>
                  </a:lnTo>
                  <a:lnTo>
                    <a:pt x="1821364" y="1947592"/>
                  </a:lnTo>
                  <a:lnTo>
                    <a:pt x="1786740" y="1975875"/>
                  </a:lnTo>
                  <a:lnTo>
                    <a:pt x="1750972" y="2002764"/>
                  </a:lnTo>
                  <a:lnTo>
                    <a:pt x="1714102" y="2028220"/>
                  </a:lnTo>
                  <a:lnTo>
                    <a:pt x="1676170" y="2052200"/>
                  </a:lnTo>
                  <a:lnTo>
                    <a:pt x="1637220" y="2074662"/>
                  </a:lnTo>
                  <a:lnTo>
                    <a:pt x="1597291" y="2095566"/>
                  </a:lnTo>
                  <a:lnTo>
                    <a:pt x="1556425" y="2114870"/>
                  </a:lnTo>
                  <a:lnTo>
                    <a:pt x="1514665" y="2132532"/>
                  </a:lnTo>
                  <a:lnTo>
                    <a:pt x="1472051" y="2148511"/>
                  </a:lnTo>
                  <a:lnTo>
                    <a:pt x="1428625" y="2162766"/>
                  </a:lnTo>
                  <a:lnTo>
                    <a:pt x="1384428" y="2175254"/>
                  </a:lnTo>
                  <a:lnTo>
                    <a:pt x="1339502" y="2185935"/>
                  </a:lnTo>
                  <a:lnTo>
                    <a:pt x="1293889" y="2194767"/>
                  </a:lnTo>
                  <a:lnTo>
                    <a:pt x="1247629" y="2201709"/>
                  </a:lnTo>
                  <a:lnTo>
                    <a:pt x="1200765" y="2206718"/>
                  </a:lnTo>
                  <a:lnTo>
                    <a:pt x="1153337" y="2209755"/>
                  </a:lnTo>
                  <a:lnTo>
                    <a:pt x="1105388" y="2210776"/>
                  </a:lnTo>
                  <a:close/>
                </a:path>
              </a:pathLst>
            </a:custGeom>
            <a:solidFill>
              <a:srgbClr val="FFFFFF"/>
            </a:solidFill>
          </p:spPr>
          <p:txBody>
            <a:bodyPr wrap="square" lIns="0" tIns="0" rIns="0" bIns="0" rtlCol="0"/>
            <a:lstStyle/>
            <a:p>
              <a:endParaRPr sz="1200"/>
            </a:p>
          </p:txBody>
        </p:sp>
        <p:pic>
          <p:nvPicPr>
            <p:cNvPr id="19" name="object 19"/>
            <p:cNvPicPr/>
            <p:nvPr/>
          </p:nvPicPr>
          <p:blipFill>
            <a:blip r:embed="rId7" cstate="print"/>
            <a:stretch>
              <a:fillRect/>
            </a:stretch>
          </p:blipFill>
          <p:spPr>
            <a:xfrm>
              <a:off x="14431061" y="3837596"/>
              <a:ext cx="2010561" cy="2010560"/>
            </a:xfrm>
            <a:prstGeom prst="rect">
              <a:avLst/>
            </a:prstGeom>
          </p:spPr>
        </p:pic>
        <p:pic>
          <p:nvPicPr>
            <p:cNvPr id="20" name="object 20"/>
            <p:cNvPicPr/>
            <p:nvPr/>
          </p:nvPicPr>
          <p:blipFill>
            <a:blip r:embed="rId8" cstate="print"/>
            <a:stretch>
              <a:fillRect/>
            </a:stretch>
          </p:blipFill>
          <p:spPr>
            <a:xfrm>
              <a:off x="14600284" y="4042996"/>
              <a:ext cx="1600199" cy="1600199"/>
            </a:xfrm>
            <a:prstGeom prst="rect">
              <a:avLst/>
            </a:prstGeom>
          </p:spPr>
        </p:pic>
        <p:sp>
          <p:nvSpPr>
            <p:cNvPr id="21" name="object 21"/>
            <p:cNvSpPr/>
            <p:nvPr/>
          </p:nvSpPr>
          <p:spPr>
            <a:xfrm>
              <a:off x="1055497" y="3737488"/>
              <a:ext cx="2211070" cy="2211070"/>
            </a:xfrm>
            <a:custGeom>
              <a:avLst/>
              <a:gdLst/>
              <a:ahLst/>
              <a:cxnLst/>
              <a:rect l="l" t="t" r="r" b="b"/>
              <a:pathLst>
                <a:path w="2211070" h="2211070">
                  <a:moveTo>
                    <a:pt x="1105388" y="2210776"/>
                  </a:moveTo>
                  <a:lnTo>
                    <a:pt x="1057438" y="2209755"/>
                  </a:lnTo>
                  <a:lnTo>
                    <a:pt x="1010010" y="2206718"/>
                  </a:lnTo>
                  <a:lnTo>
                    <a:pt x="963146" y="2201709"/>
                  </a:lnTo>
                  <a:lnTo>
                    <a:pt x="916886" y="2194767"/>
                  </a:lnTo>
                  <a:lnTo>
                    <a:pt x="871273" y="2185935"/>
                  </a:lnTo>
                  <a:lnTo>
                    <a:pt x="826347" y="2175254"/>
                  </a:lnTo>
                  <a:lnTo>
                    <a:pt x="782150" y="2162766"/>
                  </a:lnTo>
                  <a:lnTo>
                    <a:pt x="738724" y="2148511"/>
                  </a:lnTo>
                  <a:lnTo>
                    <a:pt x="696110" y="2132532"/>
                  </a:lnTo>
                  <a:lnTo>
                    <a:pt x="654350" y="2114870"/>
                  </a:lnTo>
                  <a:lnTo>
                    <a:pt x="613484" y="2095566"/>
                  </a:lnTo>
                  <a:lnTo>
                    <a:pt x="573555" y="2074662"/>
                  </a:lnTo>
                  <a:lnTo>
                    <a:pt x="534605" y="2052200"/>
                  </a:lnTo>
                  <a:lnTo>
                    <a:pt x="496673" y="2028220"/>
                  </a:lnTo>
                  <a:lnTo>
                    <a:pt x="459803" y="2002764"/>
                  </a:lnTo>
                  <a:lnTo>
                    <a:pt x="424035" y="1975875"/>
                  </a:lnTo>
                  <a:lnTo>
                    <a:pt x="389411" y="1947592"/>
                  </a:lnTo>
                  <a:lnTo>
                    <a:pt x="355972" y="1917959"/>
                  </a:lnTo>
                  <a:lnTo>
                    <a:pt x="323760" y="1887015"/>
                  </a:lnTo>
                  <a:lnTo>
                    <a:pt x="292817" y="1854803"/>
                  </a:lnTo>
                  <a:lnTo>
                    <a:pt x="263183" y="1821364"/>
                  </a:lnTo>
                  <a:lnTo>
                    <a:pt x="234900" y="1786740"/>
                  </a:lnTo>
                  <a:lnTo>
                    <a:pt x="208011" y="1750972"/>
                  </a:lnTo>
                  <a:lnTo>
                    <a:pt x="182555" y="1714102"/>
                  </a:lnTo>
                  <a:lnTo>
                    <a:pt x="158575" y="1676170"/>
                  </a:lnTo>
                  <a:lnTo>
                    <a:pt x="136113" y="1637220"/>
                  </a:lnTo>
                  <a:lnTo>
                    <a:pt x="115209" y="1597291"/>
                  </a:lnTo>
                  <a:lnTo>
                    <a:pt x="95905" y="1556425"/>
                  </a:lnTo>
                  <a:lnTo>
                    <a:pt x="78243" y="1514665"/>
                  </a:lnTo>
                  <a:lnTo>
                    <a:pt x="62264" y="1472051"/>
                  </a:lnTo>
                  <a:lnTo>
                    <a:pt x="48009" y="1428625"/>
                  </a:lnTo>
                  <a:lnTo>
                    <a:pt x="35521" y="1384428"/>
                  </a:lnTo>
                  <a:lnTo>
                    <a:pt x="24840" y="1339502"/>
                  </a:lnTo>
                  <a:lnTo>
                    <a:pt x="16008" y="1293889"/>
                  </a:lnTo>
                  <a:lnTo>
                    <a:pt x="9066" y="1247629"/>
                  </a:lnTo>
                  <a:lnTo>
                    <a:pt x="4057" y="1200764"/>
                  </a:lnTo>
                  <a:lnTo>
                    <a:pt x="1021" y="1153337"/>
                  </a:lnTo>
                  <a:lnTo>
                    <a:pt x="0" y="1105395"/>
                  </a:lnTo>
                  <a:lnTo>
                    <a:pt x="1021" y="1057438"/>
                  </a:lnTo>
                  <a:lnTo>
                    <a:pt x="4057" y="1010010"/>
                  </a:lnTo>
                  <a:lnTo>
                    <a:pt x="9066" y="963146"/>
                  </a:lnTo>
                  <a:lnTo>
                    <a:pt x="16008" y="916886"/>
                  </a:lnTo>
                  <a:lnTo>
                    <a:pt x="24840" y="871273"/>
                  </a:lnTo>
                  <a:lnTo>
                    <a:pt x="35521" y="826347"/>
                  </a:lnTo>
                  <a:lnTo>
                    <a:pt x="48009" y="782150"/>
                  </a:lnTo>
                  <a:lnTo>
                    <a:pt x="62264" y="738724"/>
                  </a:lnTo>
                  <a:lnTo>
                    <a:pt x="78243" y="696110"/>
                  </a:lnTo>
                  <a:lnTo>
                    <a:pt x="95905" y="654350"/>
                  </a:lnTo>
                  <a:lnTo>
                    <a:pt x="115209" y="613484"/>
                  </a:lnTo>
                  <a:lnTo>
                    <a:pt x="136113" y="573555"/>
                  </a:lnTo>
                  <a:lnTo>
                    <a:pt x="158575" y="534604"/>
                  </a:lnTo>
                  <a:lnTo>
                    <a:pt x="182555" y="496673"/>
                  </a:lnTo>
                  <a:lnTo>
                    <a:pt x="208011" y="459803"/>
                  </a:lnTo>
                  <a:lnTo>
                    <a:pt x="234900" y="424035"/>
                  </a:lnTo>
                  <a:lnTo>
                    <a:pt x="263183" y="389411"/>
                  </a:lnTo>
                  <a:lnTo>
                    <a:pt x="292817" y="355972"/>
                  </a:lnTo>
                  <a:lnTo>
                    <a:pt x="323760" y="323760"/>
                  </a:lnTo>
                  <a:lnTo>
                    <a:pt x="355972" y="292816"/>
                  </a:lnTo>
                  <a:lnTo>
                    <a:pt x="389411" y="263183"/>
                  </a:lnTo>
                  <a:lnTo>
                    <a:pt x="424035" y="234900"/>
                  </a:lnTo>
                  <a:lnTo>
                    <a:pt x="459803" y="208010"/>
                  </a:lnTo>
                  <a:lnTo>
                    <a:pt x="496673" y="182555"/>
                  </a:lnTo>
                  <a:lnTo>
                    <a:pt x="534605" y="158575"/>
                  </a:lnTo>
                  <a:lnTo>
                    <a:pt x="573555" y="136113"/>
                  </a:lnTo>
                  <a:lnTo>
                    <a:pt x="613484" y="115209"/>
                  </a:lnTo>
                  <a:lnTo>
                    <a:pt x="654350" y="95905"/>
                  </a:lnTo>
                  <a:lnTo>
                    <a:pt x="696110" y="78243"/>
                  </a:lnTo>
                  <a:lnTo>
                    <a:pt x="738724" y="62264"/>
                  </a:lnTo>
                  <a:lnTo>
                    <a:pt x="782150" y="48009"/>
                  </a:lnTo>
                  <a:lnTo>
                    <a:pt x="826347" y="35521"/>
                  </a:lnTo>
                  <a:lnTo>
                    <a:pt x="871273" y="24840"/>
                  </a:lnTo>
                  <a:lnTo>
                    <a:pt x="916886" y="16008"/>
                  </a:lnTo>
                  <a:lnTo>
                    <a:pt x="963146" y="9066"/>
                  </a:lnTo>
                  <a:lnTo>
                    <a:pt x="1010010" y="4057"/>
                  </a:lnTo>
                  <a:lnTo>
                    <a:pt x="1057438" y="1020"/>
                  </a:lnTo>
                  <a:lnTo>
                    <a:pt x="1105371" y="0"/>
                  </a:lnTo>
                  <a:lnTo>
                    <a:pt x="1153337" y="1020"/>
                  </a:lnTo>
                  <a:lnTo>
                    <a:pt x="1200765" y="4057"/>
                  </a:lnTo>
                  <a:lnTo>
                    <a:pt x="1247629" y="9066"/>
                  </a:lnTo>
                  <a:lnTo>
                    <a:pt x="1293889" y="16008"/>
                  </a:lnTo>
                  <a:lnTo>
                    <a:pt x="1339502" y="24840"/>
                  </a:lnTo>
                  <a:lnTo>
                    <a:pt x="1384428" y="35521"/>
                  </a:lnTo>
                  <a:lnTo>
                    <a:pt x="1428625" y="48009"/>
                  </a:lnTo>
                  <a:lnTo>
                    <a:pt x="1472051" y="62264"/>
                  </a:lnTo>
                  <a:lnTo>
                    <a:pt x="1514665" y="78243"/>
                  </a:lnTo>
                  <a:lnTo>
                    <a:pt x="1556426" y="95905"/>
                  </a:lnTo>
                  <a:lnTo>
                    <a:pt x="1597291" y="115209"/>
                  </a:lnTo>
                  <a:lnTo>
                    <a:pt x="1637220" y="136113"/>
                  </a:lnTo>
                  <a:lnTo>
                    <a:pt x="1676171" y="158575"/>
                  </a:lnTo>
                  <a:lnTo>
                    <a:pt x="1714102" y="182555"/>
                  </a:lnTo>
                  <a:lnTo>
                    <a:pt x="1750972" y="208010"/>
                  </a:lnTo>
                  <a:lnTo>
                    <a:pt x="1786740" y="234900"/>
                  </a:lnTo>
                  <a:lnTo>
                    <a:pt x="1821365" y="263183"/>
                  </a:lnTo>
                  <a:lnTo>
                    <a:pt x="1854803" y="292816"/>
                  </a:lnTo>
                  <a:lnTo>
                    <a:pt x="1887015" y="323760"/>
                  </a:lnTo>
                  <a:lnTo>
                    <a:pt x="1917959" y="355972"/>
                  </a:lnTo>
                  <a:lnTo>
                    <a:pt x="1947592" y="389411"/>
                  </a:lnTo>
                  <a:lnTo>
                    <a:pt x="1975875" y="424035"/>
                  </a:lnTo>
                  <a:lnTo>
                    <a:pt x="2002765" y="459803"/>
                  </a:lnTo>
                  <a:lnTo>
                    <a:pt x="2028220" y="496673"/>
                  </a:lnTo>
                  <a:lnTo>
                    <a:pt x="2052200" y="534604"/>
                  </a:lnTo>
                  <a:lnTo>
                    <a:pt x="2074662" y="573555"/>
                  </a:lnTo>
                  <a:lnTo>
                    <a:pt x="2095566" y="613484"/>
                  </a:lnTo>
                  <a:lnTo>
                    <a:pt x="2114870" y="654350"/>
                  </a:lnTo>
                  <a:lnTo>
                    <a:pt x="2132532" y="696110"/>
                  </a:lnTo>
                  <a:lnTo>
                    <a:pt x="2148511" y="738724"/>
                  </a:lnTo>
                  <a:lnTo>
                    <a:pt x="2162766" y="782150"/>
                  </a:lnTo>
                  <a:lnTo>
                    <a:pt x="2175254" y="826347"/>
                  </a:lnTo>
                  <a:lnTo>
                    <a:pt x="2185935" y="871273"/>
                  </a:lnTo>
                  <a:lnTo>
                    <a:pt x="2194767" y="916886"/>
                  </a:lnTo>
                  <a:lnTo>
                    <a:pt x="2201709" y="963146"/>
                  </a:lnTo>
                  <a:lnTo>
                    <a:pt x="2206719" y="1010010"/>
                  </a:lnTo>
                  <a:lnTo>
                    <a:pt x="2209755" y="1057438"/>
                  </a:lnTo>
                  <a:lnTo>
                    <a:pt x="2210776" y="1105380"/>
                  </a:lnTo>
                  <a:lnTo>
                    <a:pt x="2209755" y="1153337"/>
                  </a:lnTo>
                  <a:lnTo>
                    <a:pt x="2206719" y="1200764"/>
                  </a:lnTo>
                  <a:lnTo>
                    <a:pt x="2201709" y="1247629"/>
                  </a:lnTo>
                  <a:lnTo>
                    <a:pt x="2194767" y="1293889"/>
                  </a:lnTo>
                  <a:lnTo>
                    <a:pt x="2185935" y="1339502"/>
                  </a:lnTo>
                  <a:lnTo>
                    <a:pt x="2175254" y="1384428"/>
                  </a:lnTo>
                  <a:lnTo>
                    <a:pt x="2162766" y="1428625"/>
                  </a:lnTo>
                  <a:lnTo>
                    <a:pt x="2148511" y="1472051"/>
                  </a:lnTo>
                  <a:lnTo>
                    <a:pt x="2132532" y="1514665"/>
                  </a:lnTo>
                  <a:lnTo>
                    <a:pt x="2114870" y="1556425"/>
                  </a:lnTo>
                  <a:lnTo>
                    <a:pt x="2095566" y="1597291"/>
                  </a:lnTo>
                  <a:lnTo>
                    <a:pt x="2074662" y="1637220"/>
                  </a:lnTo>
                  <a:lnTo>
                    <a:pt x="2052200" y="1676170"/>
                  </a:lnTo>
                  <a:lnTo>
                    <a:pt x="2028220" y="1714102"/>
                  </a:lnTo>
                  <a:lnTo>
                    <a:pt x="2002765" y="1750972"/>
                  </a:lnTo>
                  <a:lnTo>
                    <a:pt x="1975875" y="1786740"/>
                  </a:lnTo>
                  <a:lnTo>
                    <a:pt x="1947592" y="1821364"/>
                  </a:lnTo>
                  <a:lnTo>
                    <a:pt x="1917959" y="1854803"/>
                  </a:lnTo>
                  <a:lnTo>
                    <a:pt x="1887015" y="1887015"/>
                  </a:lnTo>
                  <a:lnTo>
                    <a:pt x="1854803" y="1917959"/>
                  </a:lnTo>
                  <a:lnTo>
                    <a:pt x="1821365" y="1947592"/>
                  </a:lnTo>
                  <a:lnTo>
                    <a:pt x="1786740" y="1975875"/>
                  </a:lnTo>
                  <a:lnTo>
                    <a:pt x="1750972" y="2002764"/>
                  </a:lnTo>
                  <a:lnTo>
                    <a:pt x="1714102" y="2028220"/>
                  </a:lnTo>
                  <a:lnTo>
                    <a:pt x="1676171" y="2052200"/>
                  </a:lnTo>
                  <a:lnTo>
                    <a:pt x="1637220" y="2074662"/>
                  </a:lnTo>
                  <a:lnTo>
                    <a:pt x="1597291" y="2095566"/>
                  </a:lnTo>
                  <a:lnTo>
                    <a:pt x="1556426" y="2114870"/>
                  </a:lnTo>
                  <a:lnTo>
                    <a:pt x="1514665" y="2132532"/>
                  </a:lnTo>
                  <a:lnTo>
                    <a:pt x="1472051" y="2148511"/>
                  </a:lnTo>
                  <a:lnTo>
                    <a:pt x="1428625" y="2162766"/>
                  </a:lnTo>
                  <a:lnTo>
                    <a:pt x="1384428" y="2175254"/>
                  </a:lnTo>
                  <a:lnTo>
                    <a:pt x="1339502" y="2185935"/>
                  </a:lnTo>
                  <a:lnTo>
                    <a:pt x="1293889" y="2194767"/>
                  </a:lnTo>
                  <a:lnTo>
                    <a:pt x="1247629" y="2201709"/>
                  </a:lnTo>
                  <a:lnTo>
                    <a:pt x="1200765" y="2206718"/>
                  </a:lnTo>
                  <a:lnTo>
                    <a:pt x="1153337" y="2209755"/>
                  </a:lnTo>
                  <a:lnTo>
                    <a:pt x="1105388" y="2210776"/>
                  </a:lnTo>
                  <a:close/>
                </a:path>
              </a:pathLst>
            </a:custGeom>
            <a:solidFill>
              <a:srgbClr val="FFFFFF"/>
            </a:solidFill>
          </p:spPr>
          <p:txBody>
            <a:bodyPr wrap="square" lIns="0" tIns="0" rIns="0" bIns="0" rtlCol="0"/>
            <a:lstStyle/>
            <a:p>
              <a:endParaRPr sz="1200"/>
            </a:p>
          </p:txBody>
        </p:sp>
        <p:pic>
          <p:nvPicPr>
            <p:cNvPr id="22" name="object 22"/>
            <p:cNvPicPr/>
            <p:nvPr/>
          </p:nvPicPr>
          <p:blipFill>
            <a:blip r:embed="rId9" cstate="print"/>
            <a:stretch>
              <a:fillRect/>
            </a:stretch>
          </p:blipFill>
          <p:spPr>
            <a:xfrm>
              <a:off x="1155604" y="3837596"/>
              <a:ext cx="2010561" cy="2010560"/>
            </a:xfrm>
            <a:prstGeom prst="rect">
              <a:avLst/>
            </a:prstGeom>
          </p:spPr>
        </p:pic>
        <p:pic>
          <p:nvPicPr>
            <p:cNvPr id="23" name="object 23"/>
            <p:cNvPicPr/>
            <p:nvPr/>
          </p:nvPicPr>
          <p:blipFill>
            <a:blip r:embed="rId10" cstate="print"/>
            <a:stretch>
              <a:fillRect/>
            </a:stretch>
          </p:blipFill>
          <p:spPr>
            <a:xfrm>
              <a:off x="1539782" y="4207563"/>
              <a:ext cx="1457324" cy="1457324"/>
            </a:xfrm>
            <a:prstGeom prst="rect">
              <a:avLst/>
            </a:prstGeom>
          </p:spPr>
        </p:pic>
      </p:grpSp>
      <p:sp>
        <p:nvSpPr>
          <p:cNvPr id="24" name="object 24"/>
          <p:cNvSpPr txBox="1"/>
          <p:nvPr/>
        </p:nvSpPr>
        <p:spPr>
          <a:xfrm>
            <a:off x="1089782" y="4085741"/>
            <a:ext cx="634153" cy="225703"/>
          </a:xfrm>
          <a:prstGeom prst="rect">
            <a:avLst/>
          </a:prstGeom>
        </p:spPr>
        <p:txBody>
          <a:bodyPr vert="horz" wrap="square" lIns="0" tIns="10160" rIns="0" bIns="0" rtlCol="0">
            <a:spAutoFit/>
          </a:bodyPr>
          <a:lstStyle/>
          <a:p>
            <a:pPr marL="8467">
              <a:spcBef>
                <a:spcPts val="80"/>
              </a:spcBef>
            </a:pPr>
            <a:r>
              <a:rPr sz="1400" b="1" spc="-90" dirty="0">
                <a:solidFill>
                  <a:srgbClr val="FFFFFF"/>
                </a:solidFill>
                <a:latin typeface="Arial"/>
                <a:cs typeface="Arial"/>
              </a:rPr>
              <a:t>S</a:t>
            </a:r>
            <a:r>
              <a:rPr sz="1400" b="1" spc="-20" dirty="0">
                <a:solidFill>
                  <a:srgbClr val="FFFFFF"/>
                </a:solidFill>
                <a:latin typeface="Arial"/>
                <a:cs typeface="Arial"/>
              </a:rPr>
              <a:t>T</a:t>
            </a:r>
            <a:r>
              <a:rPr sz="1400" b="1" spc="-117" dirty="0">
                <a:solidFill>
                  <a:srgbClr val="FFFFFF"/>
                </a:solidFill>
                <a:latin typeface="Arial"/>
                <a:cs typeface="Arial"/>
              </a:rPr>
              <a:t>E</a:t>
            </a:r>
            <a:r>
              <a:rPr sz="1400" b="1" spc="-76" dirty="0">
                <a:solidFill>
                  <a:srgbClr val="FFFFFF"/>
                </a:solidFill>
                <a:latin typeface="Arial"/>
                <a:cs typeface="Arial"/>
              </a:rPr>
              <a:t>P</a:t>
            </a:r>
            <a:r>
              <a:rPr sz="1400" b="1" spc="-53" dirty="0">
                <a:solidFill>
                  <a:srgbClr val="FFFFFF"/>
                </a:solidFill>
                <a:latin typeface="Arial"/>
                <a:cs typeface="Arial"/>
              </a:rPr>
              <a:t> </a:t>
            </a:r>
            <a:r>
              <a:rPr sz="1400" b="1" spc="-293" dirty="0">
                <a:solidFill>
                  <a:srgbClr val="FFFFFF"/>
                </a:solidFill>
                <a:latin typeface="Arial"/>
                <a:cs typeface="Arial"/>
              </a:rPr>
              <a:t>1</a:t>
            </a:r>
            <a:r>
              <a:rPr sz="1400" b="1" spc="-53" dirty="0">
                <a:solidFill>
                  <a:srgbClr val="FFFFFF"/>
                </a:solidFill>
                <a:latin typeface="Arial"/>
                <a:cs typeface="Arial"/>
              </a:rPr>
              <a:t> </a:t>
            </a:r>
            <a:r>
              <a:rPr sz="1400" b="1" spc="-127" dirty="0">
                <a:solidFill>
                  <a:srgbClr val="FFFFFF"/>
                </a:solidFill>
                <a:latin typeface="Arial"/>
                <a:cs typeface="Arial"/>
              </a:rPr>
              <a:t>:</a:t>
            </a:r>
            <a:endParaRPr sz="1400">
              <a:latin typeface="Arial"/>
              <a:cs typeface="Arial"/>
            </a:endParaRPr>
          </a:p>
        </p:txBody>
      </p:sp>
      <p:sp>
        <p:nvSpPr>
          <p:cNvPr id="25" name="object 25"/>
          <p:cNvSpPr txBox="1"/>
          <p:nvPr/>
        </p:nvSpPr>
        <p:spPr>
          <a:xfrm>
            <a:off x="574718" y="4488256"/>
            <a:ext cx="1664547" cy="152969"/>
          </a:xfrm>
          <a:prstGeom prst="rect">
            <a:avLst/>
          </a:prstGeom>
        </p:spPr>
        <p:txBody>
          <a:bodyPr vert="horz" wrap="square" lIns="0" tIns="9313" rIns="0" bIns="0" rtlCol="0">
            <a:spAutoFit/>
          </a:bodyPr>
          <a:lstStyle/>
          <a:p>
            <a:pPr marL="8467">
              <a:spcBef>
                <a:spcPts val="73"/>
              </a:spcBef>
            </a:pPr>
            <a:r>
              <a:rPr sz="933" spc="493" dirty="0">
                <a:solidFill>
                  <a:srgbClr val="FFFFFF"/>
                </a:solidFill>
                <a:latin typeface="Lucida Sans Unicode"/>
                <a:cs typeface="Lucida Sans Unicode"/>
              </a:rPr>
              <a:t>DATA</a:t>
            </a:r>
            <a:r>
              <a:rPr sz="933" spc="140" dirty="0">
                <a:solidFill>
                  <a:srgbClr val="FFFFFF"/>
                </a:solidFill>
                <a:latin typeface="Lucida Sans Unicode"/>
                <a:cs typeface="Lucida Sans Unicode"/>
              </a:rPr>
              <a:t> </a:t>
            </a:r>
            <a:r>
              <a:rPr sz="933" spc="413" dirty="0">
                <a:solidFill>
                  <a:srgbClr val="FFFFFF"/>
                </a:solidFill>
                <a:latin typeface="Lucida Sans Unicode"/>
                <a:cs typeface="Lucida Sans Unicode"/>
              </a:rPr>
              <a:t>CLEANING</a:t>
            </a:r>
            <a:endParaRPr sz="933">
              <a:latin typeface="Lucida Sans Unicode"/>
              <a:cs typeface="Lucida Sans Unicode"/>
            </a:endParaRPr>
          </a:p>
        </p:txBody>
      </p:sp>
      <p:sp>
        <p:nvSpPr>
          <p:cNvPr id="26" name="object 26"/>
          <p:cNvSpPr txBox="1"/>
          <p:nvPr/>
        </p:nvSpPr>
        <p:spPr>
          <a:xfrm>
            <a:off x="3433069" y="4085741"/>
            <a:ext cx="1678940" cy="561629"/>
          </a:xfrm>
          <a:prstGeom prst="rect">
            <a:avLst/>
          </a:prstGeom>
        </p:spPr>
        <p:txBody>
          <a:bodyPr vert="horz" wrap="square" lIns="0" tIns="10160" rIns="0" bIns="0" rtlCol="0">
            <a:spAutoFit/>
          </a:bodyPr>
          <a:lstStyle/>
          <a:p>
            <a:pPr marL="23708" algn="ctr">
              <a:spcBef>
                <a:spcPts val="80"/>
              </a:spcBef>
            </a:pPr>
            <a:r>
              <a:rPr sz="1400" b="1" spc="-90" dirty="0">
                <a:solidFill>
                  <a:srgbClr val="FFFFFF"/>
                </a:solidFill>
                <a:latin typeface="Arial"/>
                <a:cs typeface="Arial"/>
              </a:rPr>
              <a:t>S</a:t>
            </a:r>
            <a:r>
              <a:rPr sz="1400" b="1" spc="-20" dirty="0">
                <a:solidFill>
                  <a:srgbClr val="FFFFFF"/>
                </a:solidFill>
                <a:latin typeface="Arial"/>
                <a:cs typeface="Arial"/>
              </a:rPr>
              <a:t>T</a:t>
            </a:r>
            <a:r>
              <a:rPr sz="1400" b="1" spc="-117" dirty="0">
                <a:solidFill>
                  <a:srgbClr val="FFFFFF"/>
                </a:solidFill>
                <a:latin typeface="Arial"/>
                <a:cs typeface="Arial"/>
              </a:rPr>
              <a:t>E</a:t>
            </a:r>
            <a:r>
              <a:rPr sz="1400" b="1" spc="-76" dirty="0">
                <a:solidFill>
                  <a:srgbClr val="FFFFFF"/>
                </a:solidFill>
                <a:latin typeface="Arial"/>
                <a:cs typeface="Arial"/>
              </a:rPr>
              <a:t>P</a:t>
            </a:r>
            <a:r>
              <a:rPr sz="1400" b="1" spc="-53" dirty="0">
                <a:solidFill>
                  <a:srgbClr val="FFFFFF"/>
                </a:solidFill>
                <a:latin typeface="Arial"/>
                <a:cs typeface="Arial"/>
              </a:rPr>
              <a:t> </a:t>
            </a:r>
            <a:r>
              <a:rPr sz="1400" b="1" spc="27" dirty="0">
                <a:solidFill>
                  <a:srgbClr val="FFFFFF"/>
                </a:solidFill>
                <a:latin typeface="Arial"/>
                <a:cs typeface="Arial"/>
              </a:rPr>
              <a:t>2</a:t>
            </a:r>
            <a:r>
              <a:rPr sz="1400" b="1" spc="-53" dirty="0">
                <a:solidFill>
                  <a:srgbClr val="FFFFFF"/>
                </a:solidFill>
                <a:latin typeface="Arial"/>
                <a:cs typeface="Arial"/>
              </a:rPr>
              <a:t> </a:t>
            </a:r>
            <a:r>
              <a:rPr sz="1400" b="1" spc="-127" dirty="0">
                <a:solidFill>
                  <a:srgbClr val="FFFFFF"/>
                </a:solidFill>
                <a:latin typeface="Arial"/>
                <a:cs typeface="Arial"/>
              </a:rPr>
              <a:t>:</a:t>
            </a:r>
            <a:endParaRPr sz="1400">
              <a:latin typeface="Arial"/>
              <a:cs typeface="Arial"/>
            </a:endParaRPr>
          </a:p>
          <a:p>
            <a:pPr algn="ctr">
              <a:spcBef>
                <a:spcPts val="1483"/>
              </a:spcBef>
            </a:pPr>
            <a:r>
              <a:rPr sz="933" spc="493" dirty="0">
                <a:solidFill>
                  <a:srgbClr val="FFFFFF"/>
                </a:solidFill>
                <a:latin typeface="Lucida Sans Unicode"/>
                <a:cs typeface="Lucida Sans Unicode"/>
              </a:rPr>
              <a:t>DATA</a:t>
            </a:r>
            <a:r>
              <a:rPr sz="933" spc="143" dirty="0">
                <a:solidFill>
                  <a:srgbClr val="FFFFFF"/>
                </a:solidFill>
                <a:latin typeface="Lucida Sans Unicode"/>
                <a:cs typeface="Lucida Sans Unicode"/>
              </a:rPr>
              <a:t> </a:t>
            </a:r>
            <a:r>
              <a:rPr sz="933" spc="463" dirty="0">
                <a:solidFill>
                  <a:srgbClr val="FFFFFF"/>
                </a:solidFill>
                <a:latin typeface="Lucida Sans Unicode"/>
                <a:cs typeface="Lucida Sans Unicode"/>
              </a:rPr>
              <a:t>ANALYSIS</a:t>
            </a:r>
            <a:endParaRPr sz="933">
              <a:latin typeface="Lucida Sans Unicode"/>
              <a:cs typeface="Lucida Sans Unicode"/>
            </a:endParaRPr>
          </a:p>
        </p:txBody>
      </p:sp>
      <p:grpSp>
        <p:nvGrpSpPr>
          <p:cNvPr id="27" name="object 27"/>
          <p:cNvGrpSpPr/>
          <p:nvPr/>
        </p:nvGrpSpPr>
        <p:grpSpPr>
          <a:xfrm>
            <a:off x="2249941" y="2491659"/>
            <a:ext cx="7117503" cy="1474047"/>
            <a:chOff x="3374911" y="3737488"/>
            <a:chExt cx="10676255" cy="2211070"/>
          </a:xfrm>
        </p:grpSpPr>
        <p:sp>
          <p:nvSpPr>
            <p:cNvPr id="28" name="object 28"/>
            <p:cNvSpPr/>
            <p:nvPr/>
          </p:nvSpPr>
          <p:spPr>
            <a:xfrm>
              <a:off x="9755263" y="3737488"/>
              <a:ext cx="2211070" cy="2211070"/>
            </a:xfrm>
            <a:custGeom>
              <a:avLst/>
              <a:gdLst/>
              <a:ahLst/>
              <a:cxnLst/>
              <a:rect l="l" t="t" r="r" b="b"/>
              <a:pathLst>
                <a:path w="2211070" h="2211070">
                  <a:moveTo>
                    <a:pt x="1105387" y="2210776"/>
                  </a:moveTo>
                  <a:lnTo>
                    <a:pt x="1057438" y="2209755"/>
                  </a:lnTo>
                  <a:lnTo>
                    <a:pt x="1010010" y="2206718"/>
                  </a:lnTo>
                  <a:lnTo>
                    <a:pt x="963146" y="2201709"/>
                  </a:lnTo>
                  <a:lnTo>
                    <a:pt x="916886" y="2194767"/>
                  </a:lnTo>
                  <a:lnTo>
                    <a:pt x="871272" y="2185935"/>
                  </a:lnTo>
                  <a:lnTo>
                    <a:pt x="826346" y="2175254"/>
                  </a:lnTo>
                  <a:lnTo>
                    <a:pt x="782150" y="2162766"/>
                  </a:lnTo>
                  <a:lnTo>
                    <a:pt x="738724" y="2148511"/>
                  </a:lnTo>
                  <a:lnTo>
                    <a:pt x="696110" y="2132532"/>
                  </a:lnTo>
                  <a:lnTo>
                    <a:pt x="654349" y="2114870"/>
                  </a:lnTo>
                  <a:lnTo>
                    <a:pt x="613484" y="2095566"/>
                  </a:lnTo>
                  <a:lnTo>
                    <a:pt x="573555" y="2074662"/>
                  </a:lnTo>
                  <a:lnTo>
                    <a:pt x="534604" y="2052200"/>
                  </a:lnTo>
                  <a:lnTo>
                    <a:pt x="496673" y="2028220"/>
                  </a:lnTo>
                  <a:lnTo>
                    <a:pt x="459802" y="2002764"/>
                  </a:lnTo>
                  <a:lnTo>
                    <a:pt x="424034" y="1975875"/>
                  </a:lnTo>
                  <a:lnTo>
                    <a:pt x="389410" y="1947592"/>
                  </a:lnTo>
                  <a:lnTo>
                    <a:pt x="355971" y="1917959"/>
                  </a:lnTo>
                  <a:lnTo>
                    <a:pt x="323760" y="1887015"/>
                  </a:lnTo>
                  <a:lnTo>
                    <a:pt x="292816" y="1854803"/>
                  </a:lnTo>
                  <a:lnTo>
                    <a:pt x="263182" y="1821364"/>
                  </a:lnTo>
                  <a:lnTo>
                    <a:pt x="234900" y="1786740"/>
                  </a:lnTo>
                  <a:lnTo>
                    <a:pt x="208010" y="1750972"/>
                  </a:lnTo>
                  <a:lnTo>
                    <a:pt x="182555" y="1714102"/>
                  </a:lnTo>
                  <a:lnTo>
                    <a:pt x="158575" y="1676170"/>
                  </a:lnTo>
                  <a:lnTo>
                    <a:pt x="136112" y="1637220"/>
                  </a:lnTo>
                  <a:lnTo>
                    <a:pt x="115208" y="1597291"/>
                  </a:lnTo>
                  <a:lnTo>
                    <a:pt x="95905" y="1556425"/>
                  </a:lnTo>
                  <a:lnTo>
                    <a:pt x="78243" y="1514665"/>
                  </a:lnTo>
                  <a:lnTo>
                    <a:pt x="62263" y="1472051"/>
                  </a:lnTo>
                  <a:lnTo>
                    <a:pt x="48009" y="1428625"/>
                  </a:lnTo>
                  <a:lnTo>
                    <a:pt x="35520" y="1384428"/>
                  </a:lnTo>
                  <a:lnTo>
                    <a:pt x="24839" y="1339502"/>
                  </a:lnTo>
                  <a:lnTo>
                    <a:pt x="16007" y="1293889"/>
                  </a:lnTo>
                  <a:lnTo>
                    <a:pt x="9066" y="1247629"/>
                  </a:lnTo>
                  <a:lnTo>
                    <a:pt x="4056" y="1200764"/>
                  </a:lnTo>
                  <a:lnTo>
                    <a:pt x="1020" y="1153337"/>
                  </a:lnTo>
                  <a:lnTo>
                    <a:pt x="0" y="1105414"/>
                  </a:lnTo>
                  <a:lnTo>
                    <a:pt x="1020" y="1057438"/>
                  </a:lnTo>
                  <a:lnTo>
                    <a:pt x="4056" y="1010010"/>
                  </a:lnTo>
                  <a:lnTo>
                    <a:pt x="9066" y="963146"/>
                  </a:lnTo>
                  <a:lnTo>
                    <a:pt x="16007" y="916886"/>
                  </a:lnTo>
                  <a:lnTo>
                    <a:pt x="24839" y="871273"/>
                  </a:lnTo>
                  <a:lnTo>
                    <a:pt x="35520" y="826347"/>
                  </a:lnTo>
                  <a:lnTo>
                    <a:pt x="48009" y="782150"/>
                  </a:lnTo>
                  <a:lnTo>
                    <a:pt x="62263" y="738724"/>
                  </a:lnTo>
                  <a:lnTo>
                    <a:pt x="78243" y="696110"/>
                  </a:lnTo>
                  <a:lnTo>
                    <a:pt x="95905" y="654350"/>
                  </a:lnTo>
                  <a:lnTo>
                    <a:pt x="115208" y="613484"/>
                  </a:lnTo>
                  <a:lnTo>
                    <a:pt x="136112" y="573555"/>
                  </a:lnTo>
                  <a:lnTo>
                    <a:pt x="158575" y="534604"/>
                  </a:lnTo>
                  <a:lnTo>
                    <a:pt x="182555" y="496673"/>
                  </a:lnTo>
                  <a:lnTo>
                    <a:pt x="208010" y="459803"/>
                  </a:lnTo>
                  <a:lnTo>
                    <a:pt x="234900" y="424035"/>
                  </a:lnTo>
                  <a:lnTo>
                    <a:pt x="263182" y="389411"/>
                  </a:lnTo>
                  <a:lnTo>
                    <a:pt x="292816" y="355972"/>
                  </a:lnTo>
                  <a:lnTo>
                    <a:pt x="323760" y="323760"/>
                  </a:lnTo>
                  <a:lnTo>
                    <a:pt x="355971" y="292816"/>
                  </a:lnTo>
                  <a:lnTo>
                    <a:pt x="389410" y="263183"/>
                  </a:lnTo>
                  <a:lnTo>
                    <a:pt x="424034" y="234900"/>
                  </a:lnTo>
                  <a:lnTo>
                    <a:pt x="459802" y="208010"/>
                  </a:lnTo>
                  <a:lnTo>
                    <a:pt x="496673" y="182555"/>
                  </a:lnTo>
                  <a:lnTo>
                    <a:pt x="534604" y="158575"/>
                  </a:lnTo>
                  <a:lnTo>
                    <a:pt x="573555" y="136113"/>
                  </a:lnTo>
                  <a:lnTo>
                    <a:pt x="613484" y="115209"/>
                  </a:lnTo>
                  <a:lnTo>
                    <a:pt x="654349" y="95905"/>
                  </a:lnTo>
                  <a:lnTo>
                    <a:pt x="696110" y="78243"/>
                  </a:lnTo>
                  <a:lnTo>
                    <a:pt x="738724" y="62264"/>
                  </a:lnTo>
                  <a:lnTo>
                    <a:pt x="782150" y="48009"/>
                  </a:lnTo>
                  <a:lnTo>
                    <a:pt x="826346" y="35521"/>
                  </a:lnTo>
                  <a:lnTo>
                    <a:pt x="871272" y="24840"/>
                  </a:lnTo>
                  <a:lnTo>
                    <a:pt x="916886" y="16008"/>
                  </a:lnTo>
                  <a:lnTo>
                    <a:pt x="963146" y="9066"/>
                  </a:lnTo>
                  <a:lnTo>
                    <a:pt x="1010010" y="4057"/>
                  </a:lnTo>
                  <a:lnTo>
                    <a:pt x="1057438" y="1020"/>
                  </a:lnTo>
                  <a:lnTo>
                    <a:pt x="1105371" y="0"/>
                  </a:lnTo>
                  <a:lnTo>
                    <a:pt x="1153337" y="1020"/>
                  </a:lnTo>
                  <a:lnTo>
                    <a:pt x="1200764" y="4057"/>
                  </a:lnTo>
                  <a:lnTo>
                    <a:pt x="1247629" y="9066"/>
                  </a:lnTo>
                  <a:lnTo>
                    <a:pt x="1293889" y="16008"/>
                  </a:lnTo>
                  <a:lnTo>
                    <a:pt x="1339502" y="24840"/>
                  </a:lnTo>
                  <a:lnTo>
                    <a:pt x="1384428" y="35521"/>
                  </a:lnTo>
                  <a:lnTo>
                    <a:pt x="1428625" y="48009"/>
                  </a:lnTo>
                  <a:lnTo>
                    <a:pt x="1472051" y="62264"/>
                  </a:lnTo>
                  <a:lnTo>
                    <a:pt x="1514665" y="78243"/>
                  </a:lnTo>
                  <a:lnTo>
                    <a:pt x="1556425" y="95905"/>
                  </a:lnTo>
                  <a:lnTo>
                    <a:pt x="1597291" y="115209"/>
                  </a:lnTo>
                  <a:lnTo>
                    <a:pt x="1637219" y="136113"/>
                  </a:lnTo>
                  <a:lnTo>
                    <a:pt x="1676170" y="158575"/>
                  </a:lnTo>
                  <a:lnTo>
                    <a:pt x="1714102" y="182555"/>
                  </a:lnTo>
                  <a:lnTo>
                    <a:pt x="1750972" y="208010"/>
                  </a:lnTo>
                  <a:lnTo>
                    <a:pt x="1786740" y="234900"/>
                  </a:lnTo>
                  <a:lnTo>
                    <a:pt x="1821364" y="263183"/>
                  </a:lnTo>
                  <a:lnTo>
                    <a:pt x="1854803" y="292816"/>
                  </a:lnTo>
                  <a:lnTo>
                    <a:pt x="1887015" y="323760"/>
                  </a:lnTo>
                  <a:lnTo>
                    <a:pt x="1917958" y="355972"/>
                  </a:lnTo>
                  <a:lnTo>
                    <a:pt x="1947592" y="389411"/>
                  </a:lnTo>
                  <a:lnTo>
                    <a:pt x="1975874" y="424035"/>
                  </a:lnTo>
                  <a:lnTo>
                    <a:pt x="2002764" y="459803"/>
                  </a:lnTo>
                  <a:lnTo>
                    <a:pt x="2028220" y="496673"/>
                  </a:lnTo>
                  <a:lnTo>
                    <a:pt x="2052199" y="534604"/>
                  </a:lnTo>
                  <a:lnTo>
                    <a:pt x="2074662" y="573555"/>
                  </a:lnTo>
                  <a:lnTo>
                    <a:pt x="2095566" y="613484"/>
                  </a:lnTo>
                  <a:lnTo>
                    <a:pt x="2114870" y="654350"/>
                  </a:lnTo>
                  <a:lnTo>
                    <a:pt x="2132532" y="696110"/>
                  </a:lnTo>
                  <a:lnTo>
                    <a:pt x="2148511" y="738724"/>
                  </a:lnTo>
                  <a:lnTo>
                    <a:pt x="2162765" y="782150"/>
                  </a:lnTo>
                  <a:lnTo>
                    <a:pt x="2175254" y="826347"/>
                  </a:lnTo>
                  <a:lnTo>
                    <a:pt x="2185935" y="871273"/>
                  </a:lnTo>
                  <a:lnTo>
                    <a:pt x="2194767" y="916886"/>
                  </a:lnTo>
                  <a:lnTo>
                    <a:pt x="2201708" y="963146"/>
                  </a:lnTo>
                  <a:lnTo>
                    <a:pt x="2206718" y="1010010"/>
                  </a:lnTo>
                  <a:lnTo>
                    <a:pt x="2209754" y="1057438"/>
                  </a:lnTo>
                  <a:lnTo>
                    <a:pt x="2210775" y="1105361"/>
                  </a:lnTo>
                  <a:lnTo>
                    <a:pt x="2209754" y="1153337"/>
                  </a:lnTo>
                  <a:lnTo>
                    <a:pt x="2206718" y="1200764"/>
                  </a:lnTo>
                  <a:lnTo>
                    <a:pt x="2201708" y="1247629"/>
                  </a:lnTo>
                  <a:lnTo>
                    <a:pt x="2194767" y="1293889"/>
                  </a:lnTo>
                  <a:lnTo>
                    <a:pt x="2185935" y="1339502"/>
                  </a:lnTo>
                  <a:lnTo>
                    <a:pt x="2175254" y="1384428"/>
                  </a:lnTo>
                  <a:lnTo>
                    <a:pt x="2162765" y="1428625"/>
                  </a:lnTo>
                  <a:lnTo>
                    <a:pt x="2148511" y="1472051"/>
                  </a:lnTo>
                  <a:lnTo>
                    <a:pt x="2132532" y="1514665"/>
                  </a:lnTo>
                  <a:lnTo>
                    <a:pt x="2114870" y="1556425"/>
                  </a:lnTo>
                  <a:lnTo>
                    <a:pt x="2095566" y="1597291"/>
                  </a:lnTo>
                  <a:lnTo>
                    <a:pt x="2074662" y="1637220"/>
                  </a:lnTo>
                  <a:lnTo>
                    <a:pt x="2052199" y="1676170"/>
                  </a:lnTo>
                  <a:lnTo>
                    <a:pt x="2028220" y="1714102"/>
                  </a:lnTo>
                  <a:lnTo>
                    <a:pt x="2002764" y="1750972"/>
                  </a:lnTo>
                  <a:lnTo>
                    <a:pt x="1975874" y="1786740"/>
                  </a:lnTo>
                  <a:lnTo>
                    <a:pt x="1947592" y="1821364"/>
                  </a:lnTo>
                  <a:lnTo>
                    <a:pt x="1917958" y="1854803"/>
                  </a:lnTo>
                  <a:lnTo>
                    <a:pt x="1887015" y="1887015"/>
                  </a:lnTo>
                  <a:lnTo>
                    <a:pt x="1854803" y="1917959"/>
                  </a:lnTo>
                  <a:lnTo>
                    <a:pt x="1821364" y="1947592"/>
                  </a:lnTo>
                  <a:lnTo>
                    <a:pt x="1786740" y="1975875"/>
                  </a:lnTo>
                  <a:lnTo>
                    <a:pt x="1750972" y="2002764"/>
                  </a:lnTo>
                  <a:lnTo>
                    <a:pt x="1714102" y="2028220"/>
                  </a:lnTo>
                  <a:lnTo>
                    <a:pt x="1676170" y="2052200"/>
                  </a:lnTo>
                  <a:lnTo>
                    <a:pt x="1637219" y="2074662"/>
                  </a:lnTo>
                  <a:lnTo>
                    <a:pt x="1597291" y="2095566"/>
                  </a:lnTo>
                  <a:lnTo>
                    <a:pt x="1556425" y="2114870"/>
                  </a:lnTo>
                  <a:lnTo>
                    <a:pt x="1514665" y="2132532"/>
                  </a:lnTo>
                  <a:lnTo>
                    <a:pt x="1472051" y="2148511"/>
                  </a:lnTo>
                  <a:lnTo>
                    <a:pt x="1428625" y="2162766"/>
                  </a:lnTo>
                  <a:lnTo>
                    <a:pt x="1384428" y="2175254"/>
                  </a:lnTo>
                  <a:lnTo>
                    <a:pt x="1339502" y="2185935"/>
                  </a:lnTo>
                  <a:lnTo>
                    <a:pt x="1293889" y="2194767"/>
                  </a:lnTo>
                  <a:lnTo>
                    <a:pt x="1247629" y="2201709"/>
                  </a:lnTo>
                  <a:lnTo>
                    <a:pt x="1200764" y="2206718"/>
                  </a:lnTo>
                  <a:lnTo>
                    <a:pt x="1153337" y="2209755"/>
                  </a:lnTo>
                  <a:lnTo>
                    <a:pt x="1105387" y="2210776"/>
                  </a:lnTo>
                  <a:close/>
                </a:path>
              </a:pathLst>
            </a:custGeom>
            <a:solidFill>
              <a:srgbClr val="FFFFFF"/>
            </a:solidFill>
          </p:spPr>
          <p:txBody>
            <a:bodyPr wrap="square" lIns="0" tIns="0" rIns="0" bIns="0" rtlCol="0"/>
            <a:lstStyle/>
            <a:p>
              <a:endParaRPr sz="1200"/>
            </a:p>
          </p:txBody>
        </p:sp>
        <p:pic>
          <p:nvPicPr>
            <p:cNvPr id="29" name="object 29"/>
            <p:cNvPicPr/>
            <p:nvPr/>
          </p:nvPicPr>
          <p:blipFill>
            <a:blip r:embed="rId11" cstate="print"/>
            <a:stretch>
              <a:fillRect/>
            </a:stretch>
          </p:blipFill>
          <p:spPr>
            <a:xfrm>
              <a:off x="9855370" y="3837596"/>
              <a:ext cx="2010560" cy="2010560"/>
            </a:xfrm>
            <a:prstGeom prst="rect">
              <a:avLst/>
            </a:prstGeom>
          </p:spPr>
        </p:pic>
        <p:sp>
          <p:nvSpPr>
            <p:cNvPr id="30" name="object 30"/>
            <p:cNvSpPr/>
            <p:nvPr/>
          </p:nvSpPr>
          <p:spPr>
            <a:xfrm>
              <a:off x="10400576" y="4382820"/>
              <a:ext cx="494030" cy="1095375"/>
            </a:xfrm>
            <a:custGeom>
              <a:avLst/>
              <a:gdLst/>
              <a:ahLst/>
              <a:cxnLst/>
              <a:rect l="l" t="t" r="r" b="b"/>
              <a:pathLst>
                <a:path w="494029" h="1095375">
                  <a:moveTo>
                    <a:pt x="64414" y="343547"/>
                  </a:moveTo>
                  <a:lnTo>
                    <a:pt x="21475" y="343547"/>
                  </a:lnTo>
                  <a:lnTo>
                    <a:pt x="21475" y="751497"/>
                  </a:lnTo>
                  <a:lnTo>
                    <a:pt x="64414" y="751497"/>
                  </a:lnTo>
                  <a:lnTo>
                    <a:pt x="64414" y="343547"/>
                  </a:lnTo>
                  <a:close/>
                </a:path>
                <a:path w="494029" h="1095375">
                  <a:moveTo>
                    <a:pt x="85890" y="815911"/>
                  </a:moveTo>
                  <a:lnTo>
                    <a:pt x="84201" y="807567"/>
                  </a:lnTo>
                  <a:lnTo>
                    <a:pt x="79590" y="800735"/>
                  </a:lnTo>
                  <a:lnTo>
                    <a:pt x="72771" y="796137"/>
                  </a:lnTo>
                  <a:lnTo>
                    <a:pt x="64414" y="794448"/>
                  </a:lnTo>
                  <a:lnTo>
                    <a:pt x="21475" y="794448"/>
                  </a:lnTo>
                  <a:lnTo>
                    <a:pt x="13119" y="796137"/>
                  </a:lnTo>
                  <a:lnTo>
                    <a:pt x="6299" y="800735"/>
                  </a:lnTo>
                  <a:lnTo>
                    <a:pt x="1689" y="807567"/>
                  </a:lnTo>
                  <a:lnTo>
                    <a:pt x="0" y="815911"/>
                  </a:lnTo>
                  <a:lnTo>
                    <a:pt x="0" y="1095044"/>
                  </a:lnTo>
                  <a:lnTo>
                    <a:pt x="85890" y="1095044"/>
                  </a:lnTo>
                  <a:lnTo>
                    <a:pt x="85890" y="815911"/>
                  </a:lnTo>
                  <a:close/>
                </a:path>
                <a:path w="494029" h="1095375">
                  <a:moveTo>
                    <a:pt x="493852" y="0"/>
                  </a:moveTo>
                  <a:lnTo>
                    <a:pt x="322072" y="0"/>
                  </a:lnTo>
                  <a:lnTo>
                    <a:pt x="322072" y="42938"/>
                  </a:lnTo>
                  <a:lnTo>
                    <a:pt x="493852" y="42938"/>
                  </a:lnTo>
                  <a:lnTo>
                    <a:pt x="493852" y="0"/>
                  </a:lnTo>
                  <a:close/>
                </a:path>
              </a:pathLst>
            </a:custGeom>
            <a:solidFill>
              <a:srgbClr val="000000"/>
            </a:solidFill>
          </p:spPr>
          <p:txBody>
            <a:bodyPr wrap="square" lIns="0" tIns="0" rIns="0" bIns="0" rtlCol="0"/>
            <a:lstStyle/>
            <a:p>
              <a:endParaRPr sz="1200"/>
            </a:p>
          </p:txBody>
        </p:sp>
        <p:pic>
          <p:nvPicPr>
            <p:cNvPr id="31" name="object 31"/>
            <p:cNvPicPr/>
            <p:nvPr/>
          </p:nvPicPr>
          <p:blipFill>
            <a:blip r:embed="rId12" cstate="print"/>
            <a:stretch>
              <a:fillRect/>
            </a:stretch>
          </p:blipFill>
          <p:spPr>
            <a:xfrm>
              <a:off x="10228811" y="5306089"/>
              <a:ext cx="85886" cy="171772"/>
            </a:xfrm>
            <a:prstGeom prst="rect">
              <a:avLst/>
            </a:prstGeom>
          </p:spPr>
        </p:pic>
        <p:sp>
          <p:nvSpPr>
            <p:cNvPr id="32" name="object 32"/>
            <p:cNvSpPr/>
            <p:nvPr/>
          </p:nvSpPr>
          <p:spPr>
            <a:xfrm>
              <a:off x="10250272" y="4211040"/>
              <a:ext cx="1245870" cy="1266825"/>
            </a:xfrm>
            <a:custGeom>
              <a:avLst/>
              <a:gdLst/>
              <a:ahLst/>
              <a:cxnLst/>
              <a:rect l="l" t="t" r="r" b="b"/>
              <a:pathLst>
                <a:path w="1245870" h="1266825">
                  <a:moveTo>
                    <a:pt x="407962" y="858862"/>
                  </a:moveTo>
                  <a:lnTo>
                    <a:pt x="406273" y="850506"/>
                  </a:lnTo>
                  <a:lnTo>
                    <a:pt x="401675" y="843686"/>
                  </a:lnTo>
                  <a:lnTo>
                    <a:pt x="394843" y="839089"/>
                  </a:lnTo>
                  <a:lnTo>
                    <a:pt x="386499" y="837399"/>
                  </a:lnTo>
                  <a:lnTo>
                    <a:pt x="343547" y="837399"/>
                  </a:lnTo>
                  <a:lnTo>
                    <a:pt x="335191" y="839089"/>
                  </a:lnTo>
                  <a:lnTo>
                    <a:pt x="328371" y="843686"/>
                  </a:lnTo>
                  <a:lnTo>
                    <a:pt x="323761" y="850506"/>
                  </a:lnTo>
                  <a:lnTo>
                    <a:pt x="322084" y="858862"/>
                  </a:lnTo>
                  <a:lnTo>
                    <a:pt x="322084" y="1266825"/>
                  </a:lnTo>
                  <a:lnTo>
                    <a:pt x="407962" y="1266825"/>
                  </a:lnTo>
                  <a:lnTo>
                    <a:pt x="407962" y="858862"/>
                  </a:lnTo>
                  <a:close/>
                </a:path>
                <a:path w="1245870" h="1266825">
                  <a:moveTo>
                    <a:pt x="429475" y="386080"/>
                  </a:moveTo>
                  <a:lnTo>
                    <a:pt x="429463" y="344170"/>
                  </a:lnTo>
                  <a:lnTo>
                    <a:pt x="429463" y="343547"/>
                  </a:lnTo>
                  <a:lnTo>
                    <a:pt x="429463" y="300990"/>
                  </a:lnTo>
                  <a:lnTo>
                    <a:pt x="300609" y="300990"/>
                  </a:lnTo>
                  <a:lnTo>
                    <a:pt x="300609" y="344170"/>
                  </a:lnTo>
                  <a:lnTo>
                    <a:pt x="300609" y="386080"/>
                  </a:lnTo>
                  <a:lnTo>
                    <a:pt x="257670" y="386080"/>
                  </a:lnTo>
                  <a:lnTo>
                    <a:pt x="257670" y="344170"/>
                  </a:lnTo>
                  <a:lnTo>
                    <a:pt x="300609" y="344170"/>
                  </a:lnTo>
                  <a:lnTo>
                    <a:pt x="300609" y="300990"/>
                  </a:lnTo>
                  <a:lnTo>
                    <a:pt x="214718" y="300990"/>
                  </a:lnTo>
                  <a:lnTo>
                    <a:pt x="214718" y="344170"/>
                  </a:lnTo>
                  <a:lnTo>
                    <a:pt x="214718" y="386080"/>
                  </a:lnTo>
                  <a:lnTo>
                    <a:pt x="171780" y="386080"/>
                  </a:lnTo>
                  <a:lnTo>
                    <a:pt x="171780" y="344170"/>
                  </a:lnTo>
                  <a:lnTo>
                    <a:pt x="214718" y="344170"/>
                  </a:lnTo>
                  <a:lnTo>
                    <a:pt x="214718" y="300990"/>
                  </a:lnTo>
                  <a:lnTo>
                    <a:pt x="128828" y="300990"/>
                  </a:lnTo>
                  <a:lnTo>
                    <a:pt x="128828" y="344170"/>
                  </a:lnTo>
                  <a:lnTo>
                    <a:pt x="128828" y="386080"/>
                  </a:lnTo>
                  <a:lnTo>
                    <a:pt x="85890" y="386080"/>
                  </a:lnTo>
                  <a:lnTo>
                    <a:pt x="85890" y="344170"/>
                  </a:lnTo>
                  <a:lnTo>
                    <a:pt x="128828" y="344170"/>
                  </a:lnTo>
                  <a:lnTo>
                    <a:pt x="128828" y="300990"/>
                  </a:lnTo>
                  <a:lnTo>
                    <a:pt x="85890" y="300990"/>
                  </a:lnTo>
                  <a:lnTo>
                    <a:pt x="85890" y="257810"/>
                  </a:lnTo>
                  <a:lnTo>
                    <a:pt x="343547" y="257810"/>
                  </a:lnTo>
                  <a:lnTo>
                    <a:pt x="343547" y="300609"/>
                  </a:lnTo>
                  <a:lnTo>
                    <a:pt x="429463" y="300609"/>
                  </a:lnTo>
                  <a:lnTo>
                    <a:pt x="429463" y="257810"/>
                  </a:lnTo>
                  <a:lnTo>
                    <a:pt x="429463" y="257657"/>
                  </a:lnTo>
                  <a:lnTo>
                    <a:pt x="429463" y="214630"/>
                  </a:lnTo>
                  <a:lnTo>
                    <a:pt x="429450" y="171780"/>
                  </a:lnTo>
                  <a:lnTo>
                    <a:pt x="343547" y="171780"/>
                  </a:lnTo>
                  <a:lnTo>
                    <a:pt x="343547" y="214630"/>
                  </a:lnTo>
                  <a:lnTo>
                    <a:pt x="85890" y="214630"/>
                  </a:lnTo>
                  <a:lnTo>
                    <a:pt x="85890" y="171450"/>
                  </a:lnTo>
                  <a:lnTo>
                    <a:pt x="429450" y="171450"/>
                  </a:lnTo>
                  <a:lnTo>
                    <a:pt x="429450" y="128828"/>
                  </a:lnTo>
                  <a:lnTo>
                    <a:pt x="429450" y="128270"/>
                  </a:lnTo>
                  <a:lnTo>
                    <a:pt x="429450" y="85890"/>
                  </a:lnTo>
                  <a:lnTo>
                    <a:pt x="429437" y="0"/>
                  </a:lnTo>
                  <a:lnTo>
                    <a:pt x="343547" y="0"/>
                  </a:lnTo>
                  <a:lnTo>
                    <a:pt x="343547" y="86360"/>
                  </a:lnTo>
                  <a:lnTo>
                    <a:pt x="343547" y="128270"/>
                  </a:lnTo>
                  <a:lnTo>
                    <a:pt x="214718" y="128270"/>
                  </a:lnTo>
                  <a:lnTo>
                    <a:pt x="214718" y="86360"/>
                  </a:lnTo>
                  <a:lnTo>
                    <a:pt x="343547" y="86360"/>
                  </a:lnTo>
                  <a:lnTo>
                    <a:pt x="343547" y="0"/>
                  </a:lnTo>
                  <a:lnTo>
                    <a:pt x="171780" y="0"/>
                  </a:lnTo>
                  <a:lnTo>
                    <a:pt x="171780" y="86360"/>
                  </a:lnTo>
                  <a:lnTo>
                    <a:pt x="171780" y="128270"/>
                  </a:lnTo>
                  <a:lnTo>
                    <a:pt x="85890" y="128270"/>
                  </a:lnTo>
                  <a:lnTo>
                    <a:pt x="85890" y="86360"/>
                  </a:lnTo>
                  <a:lnTo>
                    <a:pt x="171780" y="86360"/>
                  </a:lnTo>
                  <a:lnTo>
                    <a:pt x="171780" y="0"/>
                  </a:lnTo>
                  <a:lnTo>
                    <a:pt x="0" y="0"/>
                  </a:lnTo>
                  <a:lnTo>
                    <a:pt x="0" y="86360"/>
                  </a:lnTo>
                  <a:lnTo>
                    <a:pt x="0" y="128270"/>
                  </a:lnTo>
                  <a:lnTo>
                    <a:pt x="0" y="472440"/>
                  </a:lnTo>
                  <a:lnTo>
                    <a:pt x="429475" y="472440"/>
                  </a:lnTo>
                  <a:lnTo>
                    <a:pt x="429475" y="386486"/>
                  </a:lnTo>
                  <a:lnTo>
                    <a:pt x="429475" y="386080"/>
                  </a:lnTo>
                  <a:close/>
                </a:path>
                <a:path w="1245870" h="1266825">
                  <a:moveTo>
                    <a:pt x="1245362" y="558266"/>
                  </a:moveTo>
                  <a:lnTo>
                    <a:pt x="1241856" y="509358"/>
                  </a:lnTo>
                  <a:lnTo>
                    <a:pt x="1231569" y="462000"/>
                  </a:lnTo>
                  <a:lnTo>
                    <a:pt x="1214793" y="416826"/>
                  </a:lnTo>
                  <a:lnTo>
                    <a:pt x="1191831" y="374446"/>
                  </a:lnTo>
                  <a:lnTo>
                    <a:pt x="1162989" y="335495"/>
                  </a:lnTo>
                  <a:lnTo>
                    <a:pt x="1128598" y="300609"/>
                  </a:lnTo>
                  <a:lnTo>
                    <a:pt x="1109167" y="300609"/>
                  </a:lnTo>
                  <a:lnTo>
                    <a:pt x="1144727" y="336181"/>
                  </a:lnTo>
                  <a:lnTo>
                    <a:pt x="1109167" y="371741"/>
                  </a:lnTo>
                  <a:lnTo>
                    <a:pt x="1139151" y="411657"/>
                  </a:lnTo>
                  <a:lnTo>
                    <a:pt x="1161745" y="456641"/>
                  </a:lnTo>
                  <a:lnTo>
                    <a:pt x="1175981" y="505790"/>
                  </a:lnTo>
                  <a:lnTo>
                    <a:pt x="1180947" y="558266"/>
                  </a:lnTo>
                  <a:lnTo>
                    <a:pt x="1177290" y="603542"/>
                  </a:lnTo>
                  <a:lnTo>
                    <a:pt x="1166710" y="646493"/>
                  </a:lnTo>
                  <a:lnTo>
                    <a:pt x="1149794" y="686549"/>
                  </a:lnTo>
                  <a:lnTo>
                    <a:pt x="1127086" y="723125"/>
                  </a:lnTo>
                  <a:lnTo>
                    <a:pt x="1099185" y="755637"/>
                  </a:lnTo>
                  <a:lnTo>
                    <a:pt x="1066660" y="783539"/>
                  </a:lnTo>
                  <a:lnTo>
                    <a:pt x="1030097" y="806246"/>
                  </a:lnTo>
                  <a:lnTo>
                    <a:pt x="990041" y="823163"/>
                  </a:lnTo>
                  <a:lnTo>
                    <a:pt x="947089" y="833742"/>
                  </a:lnTo>
                  <a:lnTo>
                    <a:pt x="901814" y="837399"/>
                  </a:lnTo>
                  <a:lnTo>
                    <a:pt x="856538" y="833742"/>
                  </a:lnTo>
                  <a:lnTo>
                    <a:pt x="813587" y="823163"/>
                  </a:lnTo>
                  <a:lnTo>
                    <a:pt x="773531" y="806246"/>
                  </a:lnTo>
                  <a:lnTo>
                    <a:pt x="736955" y="783539"/>
                  </a:lnTo>
                  <a:lnTo>
                    <a:pt x="704430" y="755637"/>
                  </a:lnTo>
                  <a:lnTo>
                    <a:pt x="676541" y="723125"/>
                  </a:lnTo>
                  <a:lnTo>
                    <a:pt x="653834" y="686549"/>
                  </a:lnTo>
                  <a:lnTo>
                    <a:pt x="636917" y="646493"/>
                  </a:lnTo>
                  <a:lnTo>
                    <a:pt x="626338" y="603542"/>
                  </a:lnTo>
                  <a:lnTo>
                    <a:pt x="622681" y="558266"/>
                  </a:lnTo>
                  <a:lnTo>
                    <a:pt x="627634" y="505790"/>
                  </a:lnTo>
                  <a:lnTo>
                    <a:pt x="641883" y="456641"/>
                  </a:lnTo>
                  <a:lnTo>
                    <a:pt x="664464" y="411657"/>
                  </a:lnTo>
                  <a:lnTo>
                    <a:pt x="694461" y="371741"/>
                  </a:lnTo>
                  <a:lnTo>
                    <a:pt x="658901" y="336181"/>
                  </a:lnTo>
                  <a:lnTo>
                    <a:pt x="694461" y="300609"/>
                  </a:lnTo>
                  <a:lnTo>
                    <a:pt x="675030" y="300609"/>
                  </a:lnTo>
                  <a:lnTo>
                    <a:pt x="640626" y="335495"/>
                  </a:lnTo>
                  <a:lnTo>
                    <a:pt x="611797" y="374446"/>
                  </a:lnTo>
                  <a:lnTo>
                    <a:pt x="588835" y="416826"/>
                  </a:lnTo>
                  <a:lnTo>
                    <a:pt x="572058" y="462000"/>
                  </a:lnTo>
                  <a:lnTo>
                    <a:pt x="561771" y="509358"/>
                  </a:lnTo>
                  <a:lnTo>
                    <a:pt x="558266" y="558266"/>
                  </a:lnTo>
                  <a:lnTo>
                    <a:pt x="561403" y="604812"/>
                  </a:lnTo>
                  <a:lnTo>
                    <a:pt x="570560" y="649490"/>
                  </a:lnTo>
                  <a:lnTo>
                    <a:pt x="585304" y="691857"/>
                  </a:lnTo>
                  <a:lnTo>
                    <a:pt x="605243" y="731520"/>
                  </a:lnTo>
                  <a:lnTo>
                    <a:pt x="629945" y="768057"/>
                  </a:lnTo>
                  <a:lnTo>
                    <a:pt x="659003" y="801065"/>
                  </a:lnTo>
                  <a:lnTo>
                    <a:pt x="692010" y="830135"/>
                  </a:lnTo>
                  <a:lnTo>
                    <a:pt x="728560" y="854837"/>
                  </a:lnTo>
                  <a:lnTo>
                    <a:pt x="768223" y="874763"/>
                  </a:lnTo>
                  <a:lnTo>
                    <a:pt x="810590" y="889520"/>
                  </a:lnTo>
                  <a:lnTo>
                    <a:pt x="855256" y="898664"/>
                  </a:lnTo>
                  <a:lnTo>
                    <a:pt x="901814" y="901814"/>
                  </a:lnTo>
                  <a:lnTo>
                    <a:pt x="948359" y="898664"/>
                  </a:lnTo>
                  <a:lnTo>
                    <a:pt x="993038" y="889520"/>
                  </a:lnTo>
                  <a:lnTo>
                    <a:pt x="1035405" y="874763"/>
                  </a:lnTo>
                  <a:lnTo>
                    <a:pt x="1075067" y="854837"/>
                  </a:lnTo>
                  <a:lnTo>
                    <a:pt x="1111605" y="830135"/>
                  </a:lnTo>
                  <a:lnTo>
                    <a:pt x="1144612" y="801065"/>
                  </a:lnTo>
                  <a:lnTo>
                    <a:pt x="1173683" y="768057"/>
                  </a:lnTo>
                  <a:lnTo>
                    <a:pt x="1198384" y="731520"/>
                  </a:lnTo>
                  <a:lnTo>
                    <a:pt x="1218311" y="691857"/>
                  </a:lnTo>
                  <a:lnTo>
                    <a:pt x="1233068" y="649490"/>
                  </a:lnTo>
                  <a:lnTo>
                    <a:pt x="1242212" y="604812"/>
                  </a:lnTo>
                  <a:lnTo>
                    <a:pt x="1245362" y="558266"/>
                  </a:lnTo>
                  <a:close/>
                </a:path>
              </a:pathLst>
            </a:custGeom>
            <a:solidFill>
              <a:srgbClr val="000000"/>
            </a:solidFill>
          </p:spPr>
          <p:txBody>
            <a:bodyPr wrap="square" lIns="0" tIns="0" rIns="0" bIns="0" rtlCol="0"/>
            <a:lstStyle/>
            <a:p>
              <a:endParaRPr sz="1200"/>
            </a:p>
          </p:txBody>
        </p:sp>
        <p:pic>
          <p:nvPicPr>
            <p:cNvPr id="33" name="object 33"/>
            <p:cNvPicPr/>
            <p:nvPr/>
          </p:nvPicPr>
          <p:blipFill>
            <a:blip r:embed="rId13" cstate="print"/>
            <a:stretch>
              <a:fillRect/>
            </a:stretch>
          </p:blipFill>
          <p:spPr>
            <a:xfrm>
              <a:off x="11087675" y="5241674"/>
              <a:ext cx="128829" cy="214716"/>
            </a:xfrm>
            <a:prstGeom prst="rect">
              <a:avLst/>
            </a:prstGeom>
          </p:spPr>
        </p:pic>
        <p:sp>
          <p:nvSpPr>
            <p:cNvPr id="34" name="object 34"/>
            <p:cNvSpPr/>
            <p:nvPr/>
          </p:nvSpPr>
          <p:spPr>
            <a:xfrm>
              <a:off x="10937368" y="4211040"/>
              <a:ext cx="429895" cy="988060"/>
            </a:xfrm>
            <a:custGeom>
              <a:avLst/>
              <a:gdLst/>
              <a:ahLst/>
              <a:cxnLst/>
              <a:rect l="l" t="t" r="r" b="b"/>
              <a:pathLst>
                <a:path w="429895" h="988060">
                  <a:moveTo>
                    <a:pt x="236194" y="943660"/>
                  </a:moveTo>
                  <a:lnTo>
                    <a:pt x="229044" y="944067"/>
                  </a:lnTo>
                  <a:lnTo>
                    <a:pt x="221970" y="944753"/>
                  </a:lnTo>
                  <a:lnTo>
                    <a:pt x="207454" y="944753"/>
                  </a:lnTo>
                  <a:lnTo>
                    <a:pt x="200393" y="944067"/>
                  </a:lnTo>
                  <a:lnTo>
                    <a:pt x="193243" y="943660"/>
                  </a:lnTo>
                  <a:lnTo>
                    <a:pt x="193243" y="987691"/>
                  </a:lnTo>
                  <a:lnTo>
                    <a:pt x="236194" y="987691"/>
                  </a:lnTo>
                  <a:lnTo>
                    <a:pt x="236194" y="943660"/>
                  </a:lnTo>
                  <a:close/>
                </a:path>
                <a:path w="429895" h="988060">
                  <a:moveTo>
                    <a:pt x="429437" y="171780"/>
                  </a:moveTo>
                  <a:lnTo>
                    <a:pt x="422071" y="171780"/>
                  </a:lnTo>
                  <a:lnTo>
                    <a:pt x="409435" y="169900"/>
                  </a:lnTo>
                  <a:lnTo>
                    <a:pt x="398208" y="164566"/>
                  </a:lnTo>
                  <a:lnTo>
                    <a:pt x="388937" y="156197"/>
                  </a:lnTo>
                  <a:lnTo>
                    <a:pt x="382371" y="145262"/>
                  </a:lnTo>
                  <a:lnTo>
                    <a:pt x="379272" y="132892"/>
                  </a:lnTo>
                  <a:lnTo>
                    <a:pt x="379907" y="120446"/>
                  </a:lnTo>
                  <a:lnTo>
                    <a:pt x="384098" y="108712"/>
                  </a:lnTo>
                  <a:lnTo>
                    <a:pt x="391693" y="98475"/>
                  </a:lnTo>
                  <a:lnTo>
                    <a:pt x="396900" y="93256"/>
                  </a:lnTo>
                  <a:lnTo>
                    <a:pt x="389534" y="85890"/>
                  </a:lnTo>
                  <a:lnTo>
                    <a:pt x="353809" y="50165"/>
                  </a:lnTo>
                  <a:lnTo>
                    <a:pt x="343547" y="39903"/>
                  </a:lnTo>
                  <a:lnTo>
                    <a:pt x="343547" y="214718"/>
                  </a:lnTo>
                  <a:lnTo>
                    <a:pt x="333425" y="264871"/>
                  </a:lnTo>
                  <a:lnTo>
                    <a:pt x="305816" y="305816"/>
                  </a:lnTo>
                  <a:lnTo>
                    <a:pt x="264871" y="333425"/>
                  </a:lnTo>
                  <a:lnTo>
                    <a:pt x="214718" y="343547"/>
                  </a:lnTo>
                  <a:lnTo>
                    <a:pt x="164566" y="333425"/>
                  </a:lnTo>
                  <a:lnTo>
                    <a:pt x="123621" y="305816"/>
                  </a:lnTo>
                  <a:lnTo>
                    <a:pt x="96024" y="264883"/>
                  </a:lnTo>
                  <a:lnTo>
                    <a:pt x="85890" y="214718"/>
                  </a:lnTo>
                  <a:lnTo>
                    <a:pt x="96012" y="164566"/>
                  </a:lnTo>
                  <a:lnTo>
                    <a:pt x="123621" y="123621"/>
                  </a:lnTo>
                  <a:lnTo>
                    <a:pt x="164566" y="96012"/>
                  </a:lnTo>
                  <a:lnTo>
                    <a:pt x="214718" y="85890"/>
                  </a:lnTo>
                  <a:lnTo>
                    <a:pt x="264871" y="96012"/>
                  </a:lnTo>
                  <a:lnTo>
                    <a:pt x="305816" y="123621"/>
                  </a:lnTo>
                  <a:lnTo>
                    <a:pt x="333413" y="164553"/>
                  </a:lnTo>
                  <a:lnTo>
                    <a:pt x="343547" y="214718"/>
                  </a:lnTo>
                  <a:lnTo>
                    <a:pt x="343547" y="39903"/>
                  </a:lnTo>
                  <a:lnTo>
                    <a:pt x="336181" y="32537"/>
                  </a:lnTo>
                  <a:lnTo>
                    <a:pt x="330962" y="37731"/>
                  </a:lnTo>
                  <a:lnTo>
                    <a:pt x="320725" y="45326"/>
                  </a:lnTo>
                  <a:lnTo>
                    <a:pt x="308991" y="49504"/>
                  </a:lnTo>
                  <a:lnTo>
                    <a:pt x="296557" y="50139"/>
                  </a:lnTo>
                  <a:lnTo>
                    <a:pt x="284175" y="47066"/>
                  </a:lnTo>
                  <a:lnTo>
                    <a:pt x="273240" y="40500"/>
                  </a:lnTo>
                  <a:lnTo>
                    <a:pt x="264883" y="31254"/>
                  </a:lnTo>
                  <a:lnTo>
                    <a:pt x="259537" y="20002"/>
                  </a:lnTo>
                  <a:lnTo>
                    <a:pt x="257657" y="7366"/>
                  </a:lnTo>
                  <a:lnTo>
                    <a:pt x="257657" y="0"/>
                  </a:lnTo>
                  <a:lnTo>
                    <a:pt x="171780" y="0"/>
                  </a:lnTo>
                  <a:lnTo>
                    <a:pt x="171780" y="7366"/>
                  </a:lnTo>
                  <a:lnTo>
                    <a:pt x="169900" y="19989"/>
                  </a:lnTo>
                  <a:lnTo>
                    <a:pt x="164553" y="31254"/>
                  </a:lnTo>
                  <a:lnTo>
                    <a:pt x="156197" y="40500"/>
                  </a:lnTo>
                  <a:lnTo>
                    <a:pt x="145262" y="47066"/>
                  </a:lnTo>
                  <a:lnTo>
                    <a:pt x="132880" y="50165"/>
                  </a:lnTo>
                  <a:lnTo>
                    <a:pt x="120446" y="49530"/>
                  </a:lnTo>
                  <a:lnTo>
                    <a:pt x="108712" y="45339"/>
                  </a:lnTo>
                  <a:lnTo>
                    <a:pt x="98450" y="37731"/>
                  </a:lnTo>
                  <a:lnTo>
                    <a:pt x="93256" y="32537"/>
                  </a:lnTo>
                  <a:lnTo>
                    <a:pt x="32524" y="93256"/>
                  </a:lnTo>
                  <a:lnTo>
                    <a:pt x="37706" y="98450"/>
                  </a:lnTo>
                  <a:lnTo>
                    <a:pt x="45326" y="108712"/>
                  </a:lnTo>
                  <a:lnTo>
                    <a:pt x="49517" y="120434"/>
                  </a:lnTo>
                  <a:lnTo>
                    <a:pt x="50152" y="132880"/>
                  </a:lnTo>
                  <a:lnTo>
                    <a:pt x="47066" y="145262"/>
                  </a:lnTo>
                  <a:lnTo>
                    <a:pt x="40513" y="156197"/>
                  </a:lnTo>
                  <a:lnTo>
                    <a:pt x="31254" y="164553"/>
                  </a:lnTo>
                  <a:lnTo>
                    <a:pt x="19989" y="169900"/>
                  </a:lnTo>
                  <a:lnTo>
                    <a:pt x="7366" y="171780"/>
                  </a:lnTo>
                  <a:lnTo>
                    <a:pt x="0" y="171780"/>
                  </a:lnTo>
                  <a:lnTo>
                    <a:pt x="0" y="257657"/>
                  </a:lnTo>
                  <a:lnTo>
                    <a:pt x="7366" y="257657"/>
                  </a:lnTo>
                  <a:lnTo>
                    <a:pt x="19989" y="259537"/>
                  </a:lnTo>
                  <a:lnTo>
                    <a:pt x="31216" y="264871"/>
                  </a:lnTo>
                  <a:lnTo>
                    <a:pt x="40487" y="273240"/>
                  </a:lnTo>
                  <a:lnTo>
                    <a:pt x="47040" y="284175"/>
                  </a:lnTo>
                  <a:lnTo>
                    <a:pt x="50139" y="296557"/>
                  </a:lnTo>
                  <a:lnTo>
                    <a:pt x="49504" y="308991"/>
                  </a:lnTo>
                  <a:lnTo>
                    <a:pt x="45313" y="320725"/>
                  </a:lnTo>
                  <a:lnTo>
                    <a:pt x="37719" y="330962"/>
                  </a:lnTo>
                  <a:lnTo>
                    <a:pt x="32512" y="336181"/>
                  </a:lnTo>
                  <a:lnTo>
                    <a:pt x="93230" y="396900"/>
                  </a:lnTo>
                  <a:lnTo>
                    <a:pt x="98450" y="391706"/>
                  </a:lnTo>
                  <a:lnTo>
                    <a:pt x="108686" y="384124"/>
                  </a:lnTo>
                  <a:lnTo>
                    <a:pt x="120408" y="379933"/>
                  </a:lnTo>
                  <a:lnTo>
                    <a:pt x="132854" y="379310"/>
                  </a:lnTo>
                  <a:lnTo>
                    <a:pt x="145237" y="382371"/>
                  </a:lnTo>
                  <a:lnTo>
                    <a:pt x="156184" y="388937"/>
                  </a:lnTo>
                  <a:lnTo>
                    <a:pt x="164541" y="398183"/>
                  </a:lnTo>
                  <a:lnTo>
                    <a:pt x="169887" y="409448"/>
                  </a:lnTo>
                  <a:lnTo>
                    <a:pt x="171780" y="422071"/>
                  </a:lnTo>
                  <a:lnTo>
                    <a:pt x="171780" y="429437"/>
                  </a:lnTo>
                  <a:lnTo>
                    <a:pt x="257657" y="429437"/>
                  </a:lnTo>
                  <a:lnTo>
                    <a:pt x="257657" y="422071"/>
                  </a:lnTo>
                  <a:lnTo>
                    <a:pt x="259537" y="409448"/>
                  </a:lnTo>
                  <a:lnTo>
                    <a:pt x="264871" y="398183"/>
                  </a:lnTo>
                  <a:lnTo>
                    <a:pt x="273240" y="388937"/>
                  </a:lnTo>
                  <a:lnTo>
                    <a:pt x="284175" y="382371"/>
                  </a:lnTo>
                  <a:lnTo>
                    <a:pt x="296545" y="379310"/>
                  </a:lnTo>
                  <a:lnTo>
                    <a:pt x="296799" y="379310"/>
                  </a:lnTo>
                  <a:lnTo>
                    <a:pt x="309003" y="379933"/>
                  </a:lnTo>
                  <a:lnTo>
                    <a:pt x="320725" y="384111"/>
                  </a:lnTo>
                  <a:lnTo>
                    <a:pt x="330987" y="391706"/>
                  </a:lnTo>
                  <a:lnTo>
                    <a:pt x="336181" y="396900"/>
                  </a:lnTo>
                  <a:lnTo>
                    <a:pt x="353783" y="379298"/>
                  </a:lnTo>
                  <a:lnTo>
                    <a:pt x="389534" y="343547"/>
                  </a:lnTo>
                  <a:lnTo>
                    <a:pt x="396900" y="336181"/>
                  </a:lnTo>
                  <a:lnTo>
                    <a:pt x="391731" y="330987"/>
                  </a:lnTo>
                  <a:lnTo>
                    <a:pt x="384111" y="320725"/>
                  </a:lnTo>
                  <a:lnTo>
                    <a:pt x="379920" y="309003"/>
                  </a:lnTo>
                  <a:lnTo>
                    <a:pt x="379285" y="296557"/>
                  </a:lnTo>
                  <a:lnTo>
                    <a:pt x="382371" y="284175"/>
                  </a:lnTo>
                  <a:lnTo>
                    <a:pt x="388924" y="273240"/>
                  </a:lnTo>
                  <a:lnTo>
                    <a:pt x="398170" y="264883"/>
                  </a:lnTo>
                  <a:lnTo>
                    <a:pt x="409448" y="259537"/>
                  </a:lnTo>
                  <a:lnTo>
                    <a:pt x="422071" y="257657"/>
                  </a:lnTo>
                  <a:lnTo>
                    <a:pt x="429437" y="257657"/>
                  </a:lnTo>
                  <a:lnTo>
                    <a:pt x="429437" y="171780"/>
                  </a:lnTo>
                  <a:close/>
                </a:path>
              </a:pathLst>
            </a:custGeom>
            <a:solidFill>
              <a:srgbClr val="000000"/>
            </a:solidFill>
          </p:spPr>
          <p:txBody>
            <a:bodyPr wrap="square" lIns="0" tIns="0" rIns="0" bIns="0" rtlCol="0"/>
            <a:lstStyle/>
            <a:p>
              <a:endParaRPr sz="1200"/>
            </a:p>
          </p:txBody>
        </p:sp>
        <p:pic>
          <p:nvPicPr>
            <p:cNvPr id="35" name="object 35"/>
            <p:cNvPicPr/>
            <p:nvPr/>
          </p:nvPicPr>
          <p:blipFill>
            <a:blip r:embed="rId14" cstate="print"/>
            <a:stretch>
              <a:fillRect/>
            </a:stretch>
          </p:blipFill>
          <p:spPr>
            <a:xfrm>
              <a:off x="11109147" y="4382810"/>
              <a:ext cx="85886" cy="85886"/>
            </a:xfrm>
            <a:prstGeom prst="rect">
              <a:avLst/>
            </a:prstGeom>
          </p:spPr>
        </p:pic>
        <p:pic>
          <p:nvPicPr>
            <p:cNvPr id="36" name="object 36"/>
            <p:cNvPicPr/>
            <p:nvPr/>
          </p:nvPicPr>
          <p:blipFill>
            <a:blip r:embed="rId15" cstate="print"/>
            <a:stretch>
              <a:fillRect/>
            </a:stretch>
          </p:blipFill>
          <p:spPr>
            <a:xfrm>
              <a:off x="11388278" y="5391975"/>
              <a:ext cx="85886" cy="85886"/>
            </a:xfrm>
            <a:prstGeom prst="rect">
              <a:avLst/>
            </a:prstGeom>
          </p:spPr>
        </p:pic>
        <p:pic>
          <p:nvPicPr>
            <p:cNvPr id="37" name="object 37"/>
            <p:cNvPicPr/>
            <p:nvPr/>
          </p:nvPicPr>
          <p:blipFill>
            <a:blip r:embed="rId15" cstate="print"/>
            <a:stretch>
              <a:fillRect/>
            </a:stretch>
          </p:blipFill>
          <p:spPr>
            <a:xfrm>
              <a:off x="11388278" y="5220202"/>
              <a:ext cx="85886" cy="85886"/>
            </a:xfrm>
            <a:prstGeom prst="rect">
              <a:avLst/>
            </a:prstGeom>
          </p:spPr>
        </p:pic>
        <p:sp>
          <p:nvSpPr>
            <p:cNvPr id="38" name="object 38"/>
            <p:cNvSpPr/>
            <p:nvPr/>
          </p:nvSpPr>
          <p:spPr>
            <a:xfrm>
              <a:off x="10722648" y="5198731"/>
              <a:ext cx="257810" cy="215265"/>
            </a:xfrm>
            <a:custGeom>
              <a:avLst/>
              <a:gdLst/>
              <a:ahLst/>
              <a:cxnLst/>
              <a:rect l="l" t="t" r="r" b="b"/>
              <a:pathLst>
                <a:path w="257809" h="215264">
                  <a:moveTo>
                    <a:pt x="42951" y="171780"/>
                  </a:moveTo>
                  <a:lnTo>
                    <a:pt x="0" y="171780"/>
                  </a:lnTo>
                  <a:lnTo>
                    <a:pt x="0" y="214718"/>
                  </a:lnTo>
                  <a:lnTo>
                    <a:pt x="42951" y="214718"/>
                  </a:lnTo>
                  <a:lnTo>
                    <a:pt x="42951" y="171780"/>
                  </a:lnTo>
                  <a:close/>
                </a:path>
                <a:path w="257809" h="215264">
                  <a:moveTo>
                    <a:pt x="85890" y="0"/>
                  </a:moveTo>
                  <a:lnTo>
                    <a:pt x="0" y="0"/>
                  </a:lnTo>
                  <a:lnTo>
                    <a:pt x="0" y="42951"/>
                  </a:lnTo>
                  <a:lnTo>
                    <a:pt x="85890" y="42951"/>
                  </a:lnTo>
                  <a:lnTo>
                    <a:pt x="85890" y="0"/>
                  </a:lnTo>
                  <a:close/>
                </a:path>
                <a:path w="257809" h="215264">
                  <a:moveTo>
                    <a:pt x="128828" y="171780"/>
                  </a:moveTo>
                  <a:lnTo>
                    <a:pt x="85890" y="171780"/>
                  </a:lnTo>
                  <a:lnTo>
                    <a:pt x="85890" y="214718"/>
                  </a:lnTo>
                  <a:lnTo>
                    <a:pt x="128828" y="214718"/>
                  </a:lnTo>
                  <a:lnTo>
                    <a:pt x="128828" y="171780"/>
                  </a:lnTo>
                  <a:close/>
                </a:path>
                <a:path w="257809" h="215264">
                  <a:moveTo>
                    <a:pt x="214718" y="171780"/>
                  </a:moveTo>
                  <a:lnTo>
                    <a:pt x="171780" y="171780"/>
                  </a:lnTo>
                  <a:lnTo>
                    <a:pt x="171780" y="214718"/>
                  </a:lnTo>
                  <a:lnTo>
                    <a:pt x="214718" y="214718"/>
                  </a:lnTo>
                  <a:lnTo>
                    <a:pt x="214718" y="171780"/>
                  </a:lnTo>
                  <a:close/>
                </a:path>
                <a:path w="257809" h="215264">
                  <a:moveTo>
                    <a:pt x="257657" y="85890"/>
                  </a:moveTo>
                  <a:lnTo>
                    <a:pt x="0" y="85890"/>
                  </a:lnTo>
                  <a:lnTo>
                    <a:pt x="0" y="128841"/>
                  </a:lnTo>
                  <a:lnTo>
                    <a:pt x="257657" y="128841"/>
                  </a:lnTo>
                  <a:lnTo>
                    <a:pt x="257657" y="85890"/>
                  </a:lnTo>
                  <a:close/>
                </a:path>
                <a:path w="257809" h="215264">
                  <a:moveTo>
                    <a:pt x="257657" y="0"/>
                  </a:moveTo>
                  <a:lnTo>
                    <a:pt x="128828" y="0"/>
                  </a:lnTo>
                  <a:lnTo>
                    <a:pt x="128828" y="42951"/>
                  </a:lnTo>
                  <a:lnTo>
                    <a:pt x="257657" y="42951"/>
                  </a:lnTo>
                  <a:lnTo>
                    <a:pt x="257657" y="0"/>
                  </a:lnTo>
                  <a:close/>
                </a:path>
              </a:pathLst>
            </a:custGeom>
            <a:solidFill>
              <a:srgbClr val="000000"/>
            </a:solidFill>
          </p:spPr>
          <p:txBody>
            <a:bodyPr wrap="square" lIns="0" tIns="0" rIns="0" bIns="0" rtlCol="0"/>
            <a:lstStyle/>
            <a:p>
              <a:endParaRPr sz="1200"/>
            </a:p>
          </p:txBody>
        </p:sp>
        <p:sp>
          <p:nvSpPr>
            <p:cNvPr id="39" name="object 39"/>
            <p:cNvSpPr/>
            <p:nvPr/>
          </p:nvSpPr>
          <p:spPr>
            <a:xfrm>
              <a:off x="3374911" y="4848694"/>
              <a:ext cx="1910080" cy="0"/>
            </a:xfrm>
            <a:custGeom>
              <a:avLst/>
              <a:gdLst/>
              <a:ahLst/>
              <a:cxnLst/>
              <a:rect l="l" t="t" r="r" b="b"/>
              <a:pathLst>
                <a:path w="1910079">
                  <a:moveTo>
                    <a:pt x="0" y="0"/>
                  </a:moveTo>
                  <a:lnTo>
                    <a:pt x="1909967" y="0"/>
                  </a:lnTo>
                </a:path>
              </a:pathLst>
            </a:custGeom>
            <a:ln w="66674">
              <a:solidFill>
                <a:srgbClr val="FFFFFF"/>
              </a:solidFill>
            </a:ln>
          </p:spPr>
          <p:txBody>
            <a:bodyPr wrap="square" lIns="0" tIns="0" rIns="0" bIns="0" rtlCol="0"/>
            <a:lstStyle/>
            <a:p>
              <a:endParaRPr sz="1200"/>
            </a:p>
          </p:txBody>
        </p:sp>
        <p:sp>
          <p:nvSpPr>
            <p:cNvPr id="40" name="object 40"/>
            <p:cNvSpPr/>
            <p:nvPr/>
          </p:nvSpPr>
          <p:spPr>
            <a:xfrm>
              <a:off x="5151529" y="4748682"/>
              <a:ext cx="133350" cy="200025"/>
            </a:xfrm>
            <a:custGeom>
              <a:avLst/>
              <a:gdLst/>
              <a:ahLst/>
              <a:cxnLst/>
              <a:rect l="l" t="t" r="r" b="b"/>
              <a:pathLst>
                <a:path w="133350" h="200025">
                  <a:moveTo>
                    <a:pt x="0" y="0"/>
                  </a:moveTo>
                  <a:lnTo>
                    <a:pt x="133349" y="100012"/>
                  </a:lnTo>
                  <a:lnTo>
                    <a:pt x="0" y="200024"/>
                  </a:lnTo>
                </a:path>
              </a:pathLst>
            </a:custGeom>
            <a:ln w="66674">
              <a:solidFill>
                <a:srgbClr val="FFFFFF"/>
              </a:solidFill>
            </a:ln>
          </p:spPr>
          <p:txBody>
            <a:bodyPr wrap="square" lIns="0" tIns="0" rIns="0" bIns="0" rtlCol="0"/>
            <a:lstStyle/>
            <a:p>
              <a:endParaRPr sz="1200"/>
            </a:p>
          </p:txBody>
        </p:sp>
        <p:sp>
          <p:nvSpPr>
            <p:cNvPr id="41" name="object 41"/>
            <p:cNvSpPr/>
            <p:nvPr/>
          </p:nvSpPr>
          <p:spPr>
            <a:xfrm>
              <a:off x="7670516" y="4848694"/>
              <a:ext cx="1910080" cy="0"/>
            </a:xfrm>
            <a:custGeom>
              <a:avLst/>
              <a:gdLst/>
              <a:ahLst/>
              <a:cxnLst/>
              <a:rect l="l" t="t" r="r" b="b"/>
              <a:pathLst>
                <a:path w="1910079">
                  <a:moveTo>
                    <a:pt x="0" y="0"/>
                  </a:moveTo>
                  <a:lnTo>
                    <a:pt x="1909967" y="0"/>
                  </a:lnTo>
                </a:path>
              </a:pathLst>
            </a:custGeom>
            <a:ln w="66674">
              <a:solidFill>
                <a:srgbClr val="FFFFFF"/>
              </a:solidFill>
            </a:ln>
          </p:spPr>
          <p:txBody>
            <a:bodyPr wrap="square" lIns="0" tIns="0" rIns="0" bIns="0" rtlCol="0"/>
            <a:lstStyle/>
            <a:p>
              <a:endParaRPr sz="1200"/>
            </a:p>
          </p:txBody>
        </p:sp>
        <p:sp>
          <p:nvSpPr>
            <p:cNvPr id="42" name="object 42"/>
            <p:cNvSpPr/>
            <p:nvPr/>
          </p:nvSpPr>
          <p:spPr>
            <a:xfrm>
              <a:off x="9447133" y="4748682"/>
              <a:ext cx="133350" cy="200025"/>
            </a:xfrm>
            <a:custGeom>
              <a:avLst/>
              <a:gdLst/>
              <a:ahLst/>
              <a:cxnLst/>
              <a:rect l="l" t="t" r="r" b="b"/>
              <a:pathLst>
                <a:path w="133350" h="200025">
                  <a:moveTo>
                    <a:pt x="0" y="0"/>
                  </a:moveTo>
                  <a:lnTo>
                    <a:pt x="133349" y="100012"/>
                  </a:lnTo>
                  <a:lnTo>
                    <a:pt x="0" y="200024"/>
                  </a:lnTo>
                </a:path>
              </a:pathLst>
            </a:custGeom>
            <a:ln w="66674">
              <a:solidFill>
                <a:srgbClr val="FFFFFF"/>
              </a:solidFill>
            </a:ln>
          </p:spPr>
          <p:txBody>
            <a:bodyPr wrap="square" lIns="0" tIns="0" rIns="0" bIns="0" rtlCol="0"/>
            <a:lstStyle/>
            <a:p>
              <a:endParaRPr sz="1200"/>
            </a:p>
          </p:txBody>
        </p:sp>
        <p:sp>
          <p:nvSpPr>
            <p:cNvPr id="43" name="object 43"/>
            <p:cNvSpPr/>
            <p:nvPr/>
          </p:nvSpPr>
          <p:spPr>
            <a:xfrm>
              <a:off x="12107608" y="4848694"/>
              <a:ext cx="1910080" cy="0"/>
            </a:xfrm>
            <a:custGeom>
              <a:avLst/>
              <a:gdLst/>
              <a:ahLst/>
              <a:cxnLst/>
              <a:rect l="l" t="t" r="r" b="b"/>
              <a:pathLst>
                <a:path w="1910080">
                  <a:moveTo>
                    <a:pt x="0" y="0"/>
                  </a:moveTo>
                  <a:lnTo>
                    <a:pt x="1909967" y="0"/>
                  </a:lnTo>
                </a:path>
              </a:pathLst>
            </a:custGeom>
            <a:ln w="66674">
              <a:solidFill>
                <a:srgbClr val="FFFFFF"/>
              </a:solidFill>
            </a:ln>
          </p:spPr>
          <p:txBody>
            <a:bodyPr wrap="square" lIns="0" tIns="0" rIns="0" bIns="0" rtlCol="0"/>
            <a:lstStyle/>
            <a:p>
              <a:endParaRPr sz="1200"/>
            </a:p>
          </p:txBody>
        </p:sp>
        <p:sp>
          <p:nvSpPr>
            <p:cNvPr id="44" name="object 44"/>
            <p:cNvSpPr/>
            <p:nvPr/>
          </p:nvSpPr>
          <p:spPr>
            <a:xfrm>
              <a:off x="13884225" y="4748682"/>
              <a:ext cx="133350" cy="200025"/>
            </a:xfrm>
            <a:custGeom>
              <a:avLst/>
              <a:gdLst/>
              <a:ahLst/>
              <a:cxnLst/>
              <a:rect l="l" t="t" r="r" b="b"/>
              <a:pathLst>
                <a:path w="133350" h="200025">
                  <a:moveTo>
                    <a:pt x="0" y="0"/>
                  </a:moveTo>
                  <a:lnTo>
                    <a:pt x="133349" y="100012"/>
                  </a:lnTo>
                  <a:lnTo>
                    <a:pt x="0" y="200024"/>
                  </a:lnTo>
                </a:path>
              </a:pathLst>
            </a:custGeom>
            <a:ln w="66674">
              <a:solidFill>
                <a:srgbClr val="FFFFFF"/>
              </a:solidFill>
            </a:ln>
          </p:spPr>
          <p:txBody>
            <a:bodyPr wrap="square" lIns="0" tIns="0" rIns="0" bIns="0" rtlCol="0"/>
            <a:lstStyle/>
            <a:p>
              <a:endParaRPr sz="1200"/>
            </a:p>
          </p:txBody>
        </p:sp>
      </p:grpSp>
      <p:sp>
        <p:nvSpPr>
          <p:cNvPr id="45" name="object 45"/>
          <p:cNvSpPr txBox="1"/>
          <p:nvPr/>
        </p:nvSpPr>
        <p:spPr>
          <a:xfrm>
            <a:off x="6014904" y="4085741"/>
            <a:ext cx="2361353" cy="561629"/>
          </a:xfrm>
          <a:prstGeom prst="rect">
            <a:avLst/>
          </a:prstGeom>
        </p:spPr>
        <p:txBody>
          <a:bodyPr vert="horz" wrap="square" lIns="0" tIns="10160" rIns="0" bIns="0" rtlCol="0">
            <a:spAutoFit/>
          </a:bodyPr>
          <a:lstStyle/>
          <a:p>
            <a:pPr marL="67313" algn="ctr">
              <a:spcBef>
                <a:spcPts val="80"/>
              </a:spcBef>
            </a:pPr>
            <a:r>
              <a:rPr sz="1400" b="1" spc="-90" dirty="0">
                <a:solidFill>
                  <a:srgbClr val="FFFFFF"/>
                </a:solidFill>
                <a:latin typeface="Arial"/>
                <a:cs typeface="Arial"/>
              </a:rPr>
              <a:t>S</a:t>
            </a:r>
            <a:r>
              <a:rPr sz="1400" b="1" spc="-20" dirty="0">
                <a:solidFill>
                  <a:srgbClr val="FFFFFF"/>
                </a:solidFill>
                <a:latin typeface="Arial"/>
                <a:cs typeface="Arial"/>
              </a:rPr>
              <a:t>T</a:t>
            </a:r>
            <a:r>
              <a:rPr sz="1400" b="1" spc="-117" dirty="0">
                <a:solidFill>
                  <a:srgbClr val="FFFFFF"/>
                </a:solidFill>
                <a:latin typeface="Arial"/>
                <a:cs typeface="Arial"/>
              </a:rPr>
              <a:t>E</a:t>
            </a:r>
            <a:r>
              <a:rPr sz="1400" b="1" spc="-76" dirty="0">
                <a:solidFill>
                  <a:srgbClr val="FFFFFF"/>
                </a:solidFill>
                <a:latin typeface="Arial"/>
                <a:cs typeface="Arial"/>
              </a:rPr>
              <a:t>P</a:t>
            </a:r>
            <a:r>
              <a:rPr sz="1400" b="1" spc="-53" dirty="0">
                <a:solidFill>
                  <a:srgbClr val="FFFFFF"/>
                </a:solidFill>
                <a:latin typeface="Arial"/>
                <a:cs typeface="Arial"/>
              </a:rPr>
              <a:t> </a:t>
            </a:r>
            <a:r>
              <a:rPr sz="1400" b="1" spc="63" dirty="0">
                <a:solidFill>
                  <a:srgbClr val="FFFFFF"/>
                </a:solidFill>
                <a:latin typeface="Arial"/>
                <a:cs typeface="Arial"/>
              </a:rPr>
              <a:t>3</a:t>
            </a:r>
            <a:r>
              <a:rPr sz="1400" b="1" spc="-53" dirty="0">
                <a:solidFill>
                  <a:srgbClr val="FFFFFF"/>
                </a:solidFill>
                <a:latin typeface="Arial"/>
                <a:cs typeface="Arial"/>
              </a:rPr>
              <a:t> </a:t>
            </a:r>
            <a:r>
              <a:rPr sz="1400" b="1" spc="-127" dirty="0">
                <a:solidFill>
                  <a:srgbClr val="FFFFFF"/>
                </a:solidFill>
                <a:latin typeface="Arial"/>
                <a:cs typeface="Arial"/>
              </a:rPr>
              <a:t>:</a:t>
            </a:r>
            <a:endParaRPr sz="1400">
              <a:latin typeface="Arial"/>
              <a:cs typeface="Arial"/>
            </a:endParaRPr>
          </a:p>
          <a:p>
            <a:pPr marL="8467">
              <a:spcBef>
                <a:spcPts val="1483"/>
              </a:spcBef>
            </a:pPr>
            <a:r>
              <a:rPr sz="933" spc="493" dirty="0">
                <a:solidFill>
                  <a:srgbClr val="FFFFFF"/>
                </a:solidFill>
                <a:latin typeface="Lucida Sans Unicode"/>
                <a:cs typeface="Lucida Sans Unicode"/>
              </a:rPr>
              <a:t>DATA</a:t>
            </a:r>
            <a:r>
              <a:rPr sz="933" spc="160" dirty="0">
                <a:solidFill>
                  <a:srgbClr val="FFFFFF"/>
                </a:solidFill>
                <a:latin typeface="Lucida Sans Unicode"/>
                <a:cs typeface="Lucida Sans Unicode"/>
              </a:rPr>
              <a:t> </a:t>
            </a:r>
            <a:r>
              <a:rPr sz="933" spc="473" dirty="0">
                <a:solidFill>
                  <a:srgbClr val="FFFFFF"/>
                </a:solidFill>
                <a:latin typeface="Lucida Sans Unicode"/>
                <a:cs typeface="Lucida Sans Unicode"/>
              </a:rPr>
              <a:t>PREPROCESSING</a:t>
            </a:r>
            <a:endParaRPr sz="933">
              <a:latin typeface="Lucida Sans Unicode"/>
              <a:cs typeface="Lucida Sans Unicode"/>
            </a:endParaRPr>
          </a:p>
        </p:txBody>
      </p:sp>
      <p:sp>
        <p:nvSpPr>
          <p:cNvPr id="46" name="object 46"/>
          <p:cNvSpPr txBox="1"/>
          <p:nvPr/>
        </p:nvSpPr>
        <p:spPr>
          <a:xfrm>
            <a:off x="8586710" y="4085741"/>
            <a:ext cx="3313853" cy="561629"/>
          </a:xfrm>
          <a:prstGeom prst="rect">
            <a:avLst/>
          </a:prstGeom>
        </p:spPr>
        <p:txBody>
          <a:bodyPr vert="horz" wrap="square" lIns="0" tIns="10160" rIns="0" bIns="0" rtlCol="0">
            <a:spAutoFit/>
          </a:bodyPr>
          <a:lstStyle/>
          <a:p>
            <a:pPr marL="176539" algn="ctr">
              <a:spcBef>
                <a:spcPts val="80"/>
              </a:spcBef>
            </a:pPr>
            <a:r>
              <a:rPr sz="1400" b="1" spc="-90" dirty="0">
                <a:solidFill>
                  <a:srgbClr val="FFFFFF"/>
                </a:solidFill>
                <a:latin typeface="Arial"/>
                <a:cs typeface="Arial"/>
              </a:rPr>
              <a:t>S</a:t>
            </a:r>
            <a:r>
              <a:rPr sz="1400" b="1" spc="-20" dirty="0">
                <a:solidFill>
                  <a:srgbClr val="FFFFFF"/>
                </a:solidFill>
                <a:latin typeface="Arial"/>
                <a:cs typeface="Arial"/>
              </a:rPr>
              <a:t>T</a:t>
            </a:r>
            <a:r>
              <a:rPr sz="1400" b="1" spc="-117" dirty="0">
                <a:solidFill>
                  <a:srgbClr val="FFFFFF"/>
                </a:solidFill>
                <a:latin typeface="Arial"/>
                <a:cs typeface="Arial"/>
              </a:rPr>
              <a:t>E</a:t>
            </a:r>
            <a:r>
              <a:rPr sz="1400" b="1" spc="-76" dirty="0">
                <a:solidFill>
                  <a:srgbClr val="FFFFFF"/>
                </a:solidFill>
                <a:latin typeface="Arial"/>
                <a:cs typeface="Arial"/>
              </a:rPr>
              <a:t>P</a:t>
            </a:r>
            <a:r>
              <a:rPr sz="1400" b="1" spc="-53" dirty="0">
                <a:solidFill>
                  <a:srgbClr val="FFFFFF"/>
                </a:solidFill>
                <a:latin typeface="Arial"/>
                <a:cs typeface="Arial"/>
              </a:rPr>
              <a:t> </a:t>
            </a:r>
            <a:r>
              <a:rPr sz="1400" b="1" spc="127" dirty="0">
                <a:solidFill>
                  <a:srgbClr val="FFFFFF"/>
                </a:solidFill>
                <a:latin typeface="Arial"/>
                <a:cs typeface="Arial"/>
              </a:rPr>
              <a:t>4</a:t>
            </a:r>
            <a:r>
              <a:rPr sz="1400" b="1" spc="-53" dirty="0">
                <a:solidFill>
                  <a:srgbClr val="FFFFFF"/>
                </a:solidFill>
                <a:latin typeface="Arial"/>
                <a:cs typeface="Arial"/>
              </a:rPr>
              <a:t> </a:t>
            </a:r>
            <a:r>
              <a:rPr sz="1400" b="1" spc="-127" dirty="0">
                <a:solidFill>
                  <a:srgbClr val="FFFFFF"/>
                </a:solidFill>
                <a:latin typeface="Arial"/>
                <a:cs typeface="Arial"/>
              </a:rPr>
              <a:t>:</a:t>
            </a:r>
            <a:endParaRPr sz="1400" dirty="0">
              <a:latin typeface="Arial"/>
              <a:cs typeface="Arial"/>
            </a:endParaRPr>
          </a:p>
          <a:p>
            <a:pPr marL="8467">
              <a:spcBef>
                <a:spcPts val="1483"/>
              </a:spcBef>
              <a:tabLst>
                <a:tab pos="2448258" algn="l"/>
              </a:tabLst>
            </a:pPr>
            <a:r>
              <a:rPr lang="en-US" sz="933" spc="390" dirty="0">
                <a:solidFill>
                  <a:srgbClr val="FFFFFF"/>
                </a:solidFill>
                <a:latin typeface="Lucida Sans Unicode"/>
                <a:cs typeface="Lucida Sans Unicode"/>
              </a:rPr>
              <a:t>CLASSIFICATION </a:t>
            </a:r>
            <a:r>
              <a:rPr sz="933" spc="390" dirty="0">
                <a:solidFill>
                  <a:srgbClr val="FFFFFF"/>
                </a:solidFill>
                <a:latin typeface="Lucida Sans Unicode"/>
                <a:cs typeface="Lucida Sans Unicode"/>
              </a:rPr>
              <a:t>U</a:t>
            </a:r>
            <a:r>
              <a:rPr lang="en-US" sz="933" spc="590" dirty="0">
                <a:solidFill>
                  <a:srgbClr val="FFFFFF"/>
                </a:solidFill>
                <a:latin typeface="Lucida Sans Unicode"/>
                <a:cs typeface="Lucida Sans Unicode"/>
              </a:rPr>
              <a:t>SING</a:t>
            </a:r>
            <a:r>
              <a:rPr sz="933" dirty="0">
                <a:solidFill>
                  <a:srgbClr val="FFFFFF"/>
                </a:solidFill>
                <a:latin typeface="Lucida Sans Unicode"/>
                <a:cs typeface="Lucida Sans Unicode"/>
              </a:rPr>
              <a:t>	</a:t>
            </a:r>
            <a:r>
              <a:rPr sz="933" spc="573" dirty="0">
                <a:solidFill>
                  <a:srgbClr val="FFFFFF"/>
                </a:solidFill>
                <a:latin typeface="Lucida Sans Unicode"/>
                <a:cs typeface="Lucida Sans Unicode"/>
              </a:rPr>
              <a:t>M</a:t>
            </a:r>
            <a:r>
              <a:rPr sz="933" spc="530" dirty="0">
                <a:solidFill>
                  <a:srgbClr val="FFFFFF"/>
                </a:solidFill>
                <a:latin typeface="Lucida Sans Unicode"/>
                <a:cs typeface="Lucida Sans Unicode"/>
              </a:rPr>
              <a:t>O</a:t>
            </a:r>
            <a:r>
              <a:rPr sz="933" spc="377" dirty="0">
                <a:solidFill>
                  <a:srgbClr val="FFFFFF"/>
                </a:solidFill>
                <a:latin typeface="Lucida Sans Unicode"/>
                <a:cs typeface="Lucida Sans Unicode"/>
              </a:rPr>
              <a:t>D</a:t>
            </a:r>
            <a:r>
              <a:rPr sz="933" spc="447" dirty="0">
                <a:solidFill>
                  <a:srgbClr val="FFFFFF"/>
                </a:solidFill>
                <a:latin typeface="Lucida Sans Unicode"/>
                <a:cs typeface="Lucida Sans Unicode"/>
              </a:rPr>
              <a:t>E</a:t>
            </a:r>
            <a:r>
              <a:rPr sz="933" spc="487" dirty="0">
                <a:solidFill>
                  <a:srgbClr val="FFFFFF"/>
                </a:solidFill>
                <a:latin typeface="Lucida Sans Unicode"/>
                <a:cs typeface="Lucida Sans Unicode"/>
              </a:rPr>
              <a:t>L</a:t>
            </a:r>
            <a:r>
              <a:rPr sz="933" spc="590" dirty="0">
                <a:solidFill>
                  <a:srgbClr val="FFFFFF"/>
                </a:solidFill>
                <a:latin typeface="Lucida Sans Unicode"/>
                <a:cs typeface="Lucida Sans Unicode"/>
              </a:rPr>
              <a:t>S</a:t>
            </a:r>
            <a:endParaRPr sz="933" dirty="0">
              <a:latin typeface="Lucida Sans Unicode"/>
              <a:cs typeface="Lucida Sans Unicode"/>
            </a:endParaRPr>
          </a:p>
        </p:txBody>
      </p:sp>
      <p:sp>
        <p:nvSpPr>
          <p:cNvPr id="47" name="object 47"/>
          <p:cNvSpPr txBox="1">
            <a:spLocks noGrp="1"/>
          </p:cNvSpPr>
          <p:nvPr>
            <p:ph type="title"/>
          </p:nvPr>
        </p:nvSpPr>
        <p:spPr>
          <a:xfrm>
            <a:off x="677334" y="870744"/>
            <a:ext cx="3738457" cy="470215"/>
          </a:xfrm>
          <a:prstGeom prst="rect">
            <a:avLst/>
          </a:prstGeom>
        </p:spPr>
        <p:txBody>
          <a:bodyPr vert="horz" wrap="square" lIns="0" tIns="8467" rIns="0" bIns="0" rtlCol="0" anchor="ctr">
            <a:spAutoFit/>
          </a:bodyPr>
          <a:lstStyle/>
          <a:p>
            <a:pPr marL="8467">
              <a:lnSpc>
                <a:spcPct val="100000"/>
              </a:lnSpc>
              <a:spcBef>
                <a:spcPts val="67"/>
              </a:spcBef>
            </a:pPr>
            <a:r>
              <a:rPr sz="3000" spc="1663" dirty="0"/>
              <a:t>APPROACH</a:t>
            </a:r>
            <a:endParaRPr sz="3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08DE9-5647-483E-B731-49D34A839B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26962B4-5DCE-4745-A877-F7237DA68D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13" name="Freeform: Shape 12">
            <a:extLst>
              <a:ext uri="{FF2B5EF4-FFF2-40B4-BE49-F238E27FC236}">
                <a16:creationId xmlns:a16="http://schemas.microsoft.com/office/drawing/2014/main" id="{FFC31C6D-653C-4C57-B226-ED6CE571F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2590" y="0"/>
            <a:ext cx="8389411" cy="6858000"/>
          </a:xfrm>
          <a:custGeom>
            <a:avLst/>
            <a:gdLst>
              <a:gd name="connsiteX0" fmla="*/ 1405847 w 8389411"/>
              <a:gd name="connsiteY0" fmla="*/ 0 h 6858000"/>
              <a:gd name="connsiteX1" fmla="*/ 8389411 w 8389411"/>
              <a:gd name="connsiteY1" fmla="*/ 0 h 6858000"/>
              <a:gd name="connsiteX2" fmla="*/ 8389411 w 8389411"/>
              <a:gd name="connsiteY2" fmla="*/ 6858000 h 6858000"/>
              <a:gd name="connsiteX3" fmla="*/ 1403382 w 8389411"/>
              <a:gd name="connsiteY3" fmla="*/ 6858000 h 6858000"/>
              <a:gd name="connsiteX4" fmla="*/ 1126450 w 8389411"/>
              <a:gd name="connsiteY4" fmla="*/ 6554701 h 6858000"/>
              <a:gd name="connsiteX5" fmla="*/ 0 w 8389411"/>
              <a:gd name="connsiteY5" fmla="*/ 3431347 h 6858000"/>
              <a:gd name="connsiteX6" fmla="*/ 1281495 w 8389411"/>
              <a:gd name="connsiteY6" fmla="*/ 1298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89411" h="6858000">
                <a:moveTo>
                  <a:pt x="1405847" y="0"/>
                </a:moveTo>
                <a:lnTo>
                  <a:pt x="8389411" y="0"/>
                </a:lnTo>
                <a:lnTo>
                  <a:pt x="8389411" y="6858000"/>
                </a:lnTo>
                <a:lnTo>
                  <a:pt x="1403382" y="6858000"/>
                </a:lnTo>
                <a:lnTo>
                  <a:pt x="1126450" y="6554701"/>
                </a:lnTo>
                <a:cubicBezTo>
                  <a:pt x="422736" y="5705928"/>
                  <a:pt x="0" y="4617776"/>
                  <a:pt x="0" y="3431347"/>
                </a:cubicBezTo>
                <a:cubicBezTo>
                  <a:pt x="0" y="2160173"/>
                  <a:pt x="485281" y="1001818"/>
                  <a:pt x="1281495" y="12982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nvGrpSpPr>
          <p:cNvPr id="15" name="decorative circles">
            <a:extLst>
              <a:ext uri="{FF2B5EF4-FFF2-40B4-BE49-F238E27FC236}">
                <a16:creationId xmlns:a16="http://schemas.microsoft.com/office/drawing/2014/main" id="{C310B041-3468-403A-926B-E3C1CF4433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4914" y="299808"/>
            <a:ext cx="11521822" cy="6038357"/>
            <a:chOff x="244914" y="299808"/>
            <a:chExt cx="11521822" cy="6038357"/>
          </a:xfrm>
        </p:grpSpPr>
        <p:sp>
          <p:nvSpPr>
            <p:cNvPr id="16" name="Oval 15">
              <a:extLst>
                <a:ext uri="{FF2B5EF4-FFF2-40B4-BE49-F238E27FC236}">
                  <a16:creationId xmlns:a16="http://schemas.microsoft.com/office/drawing/2014/main" id="{F65CBEB7-29CF-4F21-ABB7-012581304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00295" y="515708"/>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9C900504-84D3-4813-B737-775C16F8F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3902316-BF90-4159-9FD2-6CFCCF7BE2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F04BF80-E9DB-4641-8EA2-51698324F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5899" y="5741646"/>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34395B9-3F83-49A4-9275-0A315D88F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0333" y="6032385"/>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0E7ABD02-CD92-4D6C-B4BA-984D6688F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4914" y="5821038"/>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81266A9-CB7D-7042-8380-D9AA94D2AFC3}"/>
              </a:ext>
            </a:extLst>
          </p:cNvPr>
          <p:cNvSpPr>
            <a:spLocks noGrp="1"/>
          </p:cNvSpPr>
          <p:nvPr>
            <p:ph type="title"/>
          </p:nvPr>
        </p:nvSpPr>
        <p:spPr>
          <a:xfrm>
            <a:off x="770878" y="952022"/>
            <a:ext cx="2862591" cy="5157049"/>
          </a:xfrm>
        </p:spPr>
        <p:txBody>
          <a:bodyPr anchor="ctr">
            <a:normAutofit/>
          </a:bodyPr>
          <a:lstStyle/>
          <a:p>
            <a:r>
              <a:rPr lang="en-US" sz="4400"/>
              <a:t>TEST &amp; TRAINING DATA</a:t>
            </a:r>
            <a:endParaRPr lang="en-IN" sz="4400"/>
          </a:p>
        </p:txBody>
      </p:sp>
      <p:graphicFrame>
        <p:nvGraphicFramePr>
          <p:cNvPr id="4" name="Content Placeholder 3">
            <a:extLst>
              <a:ext uri="{FF2B5EF4-FFF2-40B4-BE49-F238E27FC236}">
                <a16:creationId xmlns:a16="http://schemas.microsoft.com/office/drawing/2014/main" id="{9F9612F8-A771-141B-2209-5459B402B97D}"/>
              </a:ext>
            </a:extLst>
          </p:cNvPr>
          <p:cNvGraphicFramePr>
            <a:graphicFrameLocks noGrp="1"/>
          </p:cNvGraphicFramePr>
          <p:nvPr>
            <p:ph idx="1"/>
            <p:extLst>
              <p:ext uri="{D42A27DB-BD31-4B8C-83A1-F6EECF244321}">
                <p14:modId xmlns:p14="http://schemas.microsoft.com/office/powerpoint/2010/main" val="3982871207"/>
              </p:ext>
            </p:extLst>
          </p:nvPr>
        </p:nvGraphicFramePr>
        <p:xfrm>
          <a:off x="4629151" y="952022"/>
          <a:ext cx="7117918" cy="515704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75174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F8E18AC-903E-4B46-8CC0-FE20E612C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3DEE38FB-0763-470C-8A5E-44456B513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03DA7C5E-2081-05B6-D0F9-0503F0979368}"/>
              </a:ext>
            </a:extLst>
          </p:cNvPr>
          <p:cNvSpPr>
            <a:spLocks noGrp="1"/>
          </p:cNvSpPr>
          <p:nvPr>
            <p:ph type="title"/>
          </p:nvPr>
        </p:nvSpPr>
        <p:spPr>
          <a:xfrm>
            <a:off x="777240" y="777240"/>
            <a:ext cx="4606280" cy="2493876"/>
          </a:xfrm>
        </p:spPr>
        <p:txBody>
          <a:bodyPr anchor="b">
            <a:normAutofit/>
          </a:bodyPr>
          <a:lstStyle/>
          <a:p>
            <a:r>
              <a:rPr lang="en-US" sz="4400"/>
              <a:t>STEP 1 : DATA CLEANING</a:t>
            </a:r>
            <a:endParaRPr lang="en-IN" sz="4400"/>
          </a:p>
        </p:txBody>
      </p:sp>
      <p:sp>
        <p:nvSpPr>
          <p:cNvPr id="6" name="Content Placeholder 5">
            <a:extLst>
              <a:ext uri="{FF2B5EF4-FFF2-40B4-BE49-F238E27FC236}">
                <a16:creationId xmlns:a16="http://schemas.microsoft.com/office/drawing/2014/main" id="{77456AE9-0C78-2EE2-5C5B-5B7EEABDA176}"/>
              </a:ext>
            </a:extLst>
          </p:cNvPr>
          <p:cNvSpPr>
            <a:spLocks noGrp="1"/>
          </p:cNvSpPr>
          <p:nvPr>
            <p:ph idx="1"/>
          </p:nvPr>
        </p:nvSpPr>
        <p:spPr>
          <a:xfrm>
            <a:off x="777240" y="3428999"/>
            <a:ext cx="4606280" cy="2747963"/>
          </a:xfrm>
        </p:spPr>
        <p:txBody>
          <a:bodyPr anchor="t">
            <a:normAutofit/>
          </a:bodyPr>
          <a:lstStyle/>
          <a:p>
            <a:r>
              <a:rPr lang="en-US" sz="1800" dirty="0"/>
              <a:t>Representation of missing values in the data set. </a:t>
            </a:r>
          </a:p>
          <a:p>
            <a:r>
              <a:rPr lang="en-US" sz="1800" dirty="0"/>
              <a:t>Rows with missing values are removed.</a:t>
            </a:r>
          </a:p>
          <a:p>
            <a:endParaRPr lang="en-IN" sz="1800" dirty="0"/>
          </a:p>
        </p:txBody>
      </p:sp>
      <p:sp>
        <p:nvSpPr>
          <p:cNvPr id="16" name="Oval 1">
            <a:extLst>
              <a:ext uri="{FF2B5EF4-FFF2-40B4-BE49-F238E27FC236}">
                <a16:creationId xmlns:a16="http://schemas.microsoft.com/office/drawing/2014/main" id="{F1D6E6C0-11C7-4A38-BD12-80741960B5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91411" y="557332"/>
            <a:ext cx="5743337" cy="57433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decorative circles">
            <a:extLst>
              <a:ext uri="{FF2B5EF4-FFF2-40B4-BE49-F238E27FC236}">
                <a16:creationId xmlns:a16="http://schemas.microsoft.com/office/drawing/2014/main" id="{2B16E781-E64A-4007-B0F1-5A50135A42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70062" y="289695"/>
            <a:ext cx="4971115" cy="6138399"/>
            <a:chOff x="6870062" y="289695"/>
            <a:chExt cx="4971115" cy="6138399"/>
          </a:xfrm>
        </p:grpSpPr>
        <p:sp>
          <p:nvSpPr>
            <p:cNvPr id="19" name="Oval 18">
              <a:extLst>
                <a:ext uri="{FF2B5EF4-FFF2-40B4-BE49-F238E27FC236}">
                  <a16:creationId xmlns:a16="http://schemas.microsoft.com/office/drawing/2014/main" id="{6F5849D6-7C1F-435A-8BEB-2A37173B6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C6C5D90-0568-4F1C-9392-536D4E32E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74736" y="5667686"/>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069E425-421F-469A-9C32-9FB5C16E59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27805" y="5275653"/>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4C31A526-345A-4A63-BA59-FF91204E9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9847" y="59428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27432B5-3C17-4415-B09A-67FCBD636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1540" y="655922"/>
              <a:ext cx="466441" cy="466441"/>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90E4DDCC-A5A9-4365-876A-7992F2CF4D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A5DB42D-36BB-41F6-A512-3AFDD33ADA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3367" y="6122314"/>
              <a:ext cx="305780" cy="305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03F45BD-67A0-4732-B626-9ECB4B18E2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0062" y="5959435"/>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object 2">
            <a:extLst>
              <a:ext uri="{FF2B5EF4-FFF2-40B4-BE49-F238E27FC236}">
                <a16:creationId xmlns:a16="http://schemas.microsoft.com/office/drawing/2014/main" id="{B129D8C5-8276-35AD-8CC8-AA083824962B}"/>
              </a:ext>
            </a:extLst>
          </p:cNvPr>
          <p:cNvPicPr/>
          <p:nvPr/>
        </p:nvPicPr>
        <p:blipFill>
          <a:blip r:embed="rId3" cstate="print"/>
          <a:stretch>
            <a:fillRect/>
          </a:stretch>
        </p:blipFill>
        <p:spPr>
          <a:xfrm>
            <a:off x="6870062" y="2160510"/>
            <a:ext cx="4557743" cy="2685238"/>
          </a:xfrm>
          <a:prstGeom prst="rect">
            <a:avLst/>
          </a:prstGeom>
        </p:spPr>
      </p:pic>
    </p:spTree>
    <p:extLst>
      <p:ext uri="{BB962C8B-B14F-4D97-AF65-F5344CB8AC3E}">
        <p14:creationId xmlns:p14="http://schemas.microsoft.com/office/powerpoint/2010/main" val="2596665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06419-9F81-5C9F-378B-1E0A6E5AC2EA}"/>
              </a:ext>
            </a:extLst>
          </p:cNvPr>
          <p:cNvSpPr>
            <a:spLocks noGrp="1"/>
          </p:cNvSpPr>
          <p:nvPr>
            <p:ph type="title"/>
          </p:nvPr>
        </p:nvSpPr>
        <p:spPr/>
        <p:txBody>
          <a:bodyPr>
            <a:normAutofit/>
          </a:bodyPr>
          <a:lstStyle/>
          <a:p>
            <a:r>
              <a:rPr lang="en-US" sz="4400" dirty="0"/>
              <a:t>STEP 2 : ANALYSIS &amp; VISUALIZATION</a:t>
            </a:r>
            <a:endParaRPr lang="en-IN" sz="4400" dirty="0"/>
          </a:p>
        </p:txBody>
      </p:sp>
      <p:pic>
        <p:nvPicPr>
          <p:cNvPr id="4" name="object 3">
            <a:extLst>
              <a:ext uri="{FF2B5EF4-FFF2-40B4-BE49-F238E27FC236}">
                <a16:creationId xmlns:a16="http://schemas.microsoft.com/office/drawing/2014/main" id="{96EEBC1F-2627-BA94-FAD3-E8283EAD79CC}"/>
              </a:ext>
            </a:extLst>
          </p:cNvPr>
          <p:cNvPicPr>
            <a:picLocks noGrp="1"/>
          </p:cNvPicPr>
          <p:nvPr>
            <p:ph idx="1"/>
          </p:nvPr>
        </p:nvPicPr>
        <p:blipFill>
          <a:blip r:embed="rId3" cstate="print"/>
          <a:stretch>
            <a:fillRect/>
          </a:stretch>
        </p:blipFill>
        <p:spPr>
          <a:xfrm>
            <a:off x="502807" y="1648683"/>
            <a:ext cx="5291602" cy="3560633"/>
          </a:xfrm>
          <a:prstGeom prst="rect">
            <a:avLst/>
          </a:prstGeom>
        </p:spPr>
      </p:pic>
      <p:pic>
        <p:nvPicPr>
          <p:cNvPr id="5" name="object 5">
            <a:extLst>
              <a:ext uri="{FF2B5EF4-FFF2-40B4-BE49-F238E27FC236}">
                <a16:creationId xmlns:a16="http://schemas.microsoft.com/office/drawing/2014/main" id="{4627A6A3-5871-5DC4-E5A5-72AF7AB682F9}"/>
              </a:ext>
            </a:extLst>
          </p:cNvPr>
          <p:cNvPicPr/>
          <p:nvPr/>
        </p:nvPicPr>
        <p:blipFill>
          <a:blip r:embed="rId4" cstate="print"/>
          <a:stretch>
            <a:fillRect/>
          </a:stretch>
        </p:blipFill>
        <p:spPr>
          <a:xfrm>
            <a:off x="6280766" y="1648683"/>
            <a:ext cx="5430017" cy="3560633"/>
          </a:xfrm>
          <a:prstGeom prst="rect">
            <a:avLst/>
          </a:prstGeom>
        </p:spPr>
      </p:pic>
      <p:pic>
        <p:nvPicPr>
          <p:cNvPr id="6" name="object 4">
            <a:extLst>
              <a:ext uri="{FF2B5EF4-FFF2-40B4-BE49-F238E27FC236}">
                <a16:creationId xmlns:a16="http://schemas.microsoft.com/office/drawing/2014/main" id="{83A0640D-79C4-26A7-4AAC-1FB96F84DFFC}"/>
              </a:ext>
            </a:extLst>
          </p:cNvPr>
          <p:cNvPicPr/>
          <p:nvPr/>
        </p:nvPicPr>
        <p:blipFill>
          <a:blip r:embed="rId5" cstate="print"/>
          <a:stretch>
            <a:fillRect/>
          </a:stretch>
        </p:blipFill>
        <p:spPr>
          <a:xfrm>
            <a:off x="2135621" y="5428649"/>
            <a:ext cx="7920757" cy="967973"/>
          </a:xfrm>
          <a:prstGeom prst="rect">
            <a:avLst/>
          </a:prstGeom>
        </p:spPr>
      </p:pic>
    </p:spTree>
    <p:extLst>
      <p:ext uri="{BB962C8B-B14F-4D97-AF65-F5344CB8AC3E}">
        <p14:creationId xmlns:p14="http://schemas.microsoft.com/office/powerpoint/2010/main" val="764447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F8E18AC-903E-4B46-8CC0-FE20E612C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DEE38FB-0763-470C-8A5E-44456B513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07540BA0-E698-2DD4-4328-BE5C45973FE0}"/>
              </a:ext>
            </a:extLst>
          </p:cNvPr>
          <p:cNvSpPr>
            <a:spLocks noGrp="1"/>
          </p:cNvSpPr>
          <p:nvPr>
            <p:ph type="title"/>
          </p:nvPr>
        </p:nvSpPr>
        <p:spPr>
          <a:xfrm>
            <a:off x="777240" y="777240"/>
            <a:ext cx="4606280" cy="2493876"/>
          </a:xfrm>
        </p:spPr>
        <p:txBody>
          <a:bodyPr anchor="b">
            <a:normAutofit/>
          </a:bodyPr>
          <a:lstStyle/>
          <a:p>
            <a:r>
              <a:rPr lang="en-US" sz="4400" dirty="0"/>
              <a:t>STEP 3 : PREPROCESSING </a:t>
            </a:r>
            <a:endParaRPr lang="en-IN" sz="4400" dirty="0"/>
          </a:p>
        </p:txBody>
      </p:sp>
      <p:sp>
        <p:nvSpPr>
          <p:cNvPr id="3" name="Content Placeholder 2">
            <a:extLst>
              <a:ext uri="{FF2B5EF4-FFF2-40B4-BE49-F238E27FC236}">
                <a16:creationId xmlns:a16="http://schemas.microsoft.com/office/drawing/2014/main" id="{5BF61F42-2B4F-AF64-4108-22DCE54FF869}"/>
              </a:ext>
            </a:extLst>
          </p:cNvPr>
          <p:cNvSpPr>
            <a:spLocks noGrp="1"/>
          </p:cNvSpPr>
          <p:nvPr>
            <p:ph idx="1"/>
          </p:nvPr>
        </p:nvSpPr>
        <p:spPr>
          <a:xfrm>
            <a:off x="777240" y="3428999"/>
            <a:ext cx="4606280" cy="2747963"/>
          </a:xfrm>
        </p:spPr>
        <p:txBody>
          <a:bodyPr anchor="t">
            <a:normAutofit/>
          </a:bodyPr>
          <a:lstStyle/>
          <a:p>
            <a:r>
              <a:rPr lang="en-US" sz="1800" dirty="0"/>
              <a:t>The data is NORMALIZED using MIN-MAX SCAL</a:t>
            </a:r>
            <a:r>
              <a:rPr lang="en-IN" sz="1800" dirty="0"/>
              <a:t>ER</a:t>
            </a:r>
          </a:p>
          <a:p>
            <a:r>
              <a:rPr lang="en-IN" sz="1800" dirty="0"/>
              <a:t>1</a:t>
            </a:r>
            <a:endParaRPr lang="en-US" sz="1800" dirty="0"/>
          </a:p>
        </p:txBody>
      </p:sp>
      <p:sp>
        <p:nvSpPr>
          <p:cNvPr id="14" name="Oval 1">
            <a:extLst>
              <a:ext uri="{FF2B5EF4-FFF2-40B4-BE49-F238E27FC236}">
                <a16:creationId xmlns:a16="http://schemas.microsoft.com/office/drawing/2014/main" id="{F1D6E6C0-11C7-4A38-BD12-80741960B5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91411" y="557332"/>
            <a:ext cx="5743337" cy="57433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decorative circles">
            <a:extLst>
              <a:ext uri="{FF2B5EF4-FFF2-40B4-BE49-F238E27FC236}">
                <a16:creationId xmlns:a16="http://schemas.microsoft.com/office/drawing/2014/main" id="{2B16E781-E64A-4007-B0F1-5A50135A42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70062" y="289695"/>
            <a:ext cx="4971115" cy="6138399"/>
            <a:chOff x="6870062" y="289695"/>
            <a:chExt cx="4971115" cy="6138399"/>
          </a:xfrm>
        </p:grpSpPr>
        <p:sp>
          <p:nvSpPr>
            <p:cNvPr id="17" name="Oval 16">
              <a:extLst>
                <a:ext uri="{FF2B5EF4-FFF2-40B4-BE49-F238E27FC236}">
                  <a16:creationId xmlns:a16="http://schemas.microsoft.com/office/drawing/2014/main" id="{6F5849D6-7C1F-435A-8BEB-2A37173B6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C6C5D90-0568-4F1C-9392-536D4E32E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74736" y="5667686"/>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069E425-421F-469A-9C32-9FB5C16E59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27805" y="5275653"/>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C31A526-345A-4A63-BA59-FF91204E9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9847" y="59428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27432B5-3C17-4415-B09A-67FCBD636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1540" y="655922"/>
              <a:ext cx="466441" cy="466441"/>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90E4DDCC-A5A9-4365-876A-7992F2CF4D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A5DB42D-36BB-41F6-A512-3AFDD33ADA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3367" y="6122314"/>
              <a:ext cx="305780" cy="305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E03F45BD-67A0-4732-B626-9ECB4B18E2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0062" y="5959435"/>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Ruler">
            <a:extLst>
              <a:ext uri="{FF2B5EF4-FFF2-40B4-BE49-F238E27FC236}">
                <a16:creationId xmlns:a16="http://schemas.microsoft.com/office/drawing/2014/main" id="{3CC4AF70-E1E3-F779-F57B-63721B5E562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25422" y="1691342"/>
            <a:ext cx="3475314" cy="3475314"/>
          </a:xfrm>
          <a:prstGeom prst="rect">
            <a:avLst/>
          </a:prstGeom>
        </p:spPr>
      </p:pic>
      <p:pic>
        <p:nvPicPr>
          <p:cNvPr id="5" name="Picture 4">
            <a:extLst>
              <a:ext uri="{FF2B5EF4-FFF2-40B4-BE49-F238E27FC236}">
                <a16:creationId xmlns:a16="http://schemas.microsoft.com/office/drawing/2014/main" id="{167A0EFB-FF5B-15C7-86D0-C9E1FA02A5A7}"/>
              </a:ext>
            </a:extLst>
          </p:cNvPr>
          <p:cNvPicPr>
            <a:picLocks noChangeAspect="1"/>
          </p:cNvPicPr>
          <p:nvPr/>
        </p:nvPicPr>
        <p:blipFill>
          <a:blip r:embed="rId5"/>
          <a:stretch>
            <a:fillRect/>
          </a:stretch>
        </p:blipFill>
        <p:spPr>
          <a:xfrm>
            <a:off x="1094494" y="4048356"/>
            <a:ext cx="1247949" cy="371527"/>
          </a:xfrm>
          <a:prstGeom prst="rect">
            <a:avLst/>
          </a:prstGeom>
        </p:spPr>
      </p:pic>
    </p:spTree>
    <p:extLst>
      <p:ext uri="{BB962C8B-B14F-4D97-AF65-F5344CB8AC3E}">
        <p14:creationId xmlns:p14="http://schemas.microsoft.com/office/powerpoint/2010/main" val="1839738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9B5B3C5-A599-465B-B2B9-866E8B208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25C84982-7DD0-43B1-8A2D-BFA4DF1B4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11" name="Decorative Circles">
            <a:extLst>
              <a:ext uri="{FF2B5EF4-FFF2-40B4-BE49-F238E27FC236}">
                <a16:creationId xmlns:a16="http://schemas.microsoft.com/office/drawing/2014/main" id="{1D912E1C-3BBA-42F0-A3EE-FEC382E723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2001" cy="6858001"/>
            <a:chOff x="-1" y="-1"/>
            <a:chExt cx="12192001" cy="6858001"/>
          </a:xfrm>
        </p:grpSpPr>
        <p:sp>
          <p:nvSpPr>
            <p:cNvPr id="12" name="Oval 11">
              <a:extLst>
                <a:ext uri="{FF2B5EF4-FFF2-40B4-BE49-F238E27FC236}">
                  <a16:creationId xmlns:a16="http://schemas.microsoft.com/office/drawing/2014/main" id="{2FEEAC76-E273-46A8-8F8E-CE59860FE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6594A0E-9400-45AD-A431-1DA1C0B28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0916D6C-D32F-42B6-8512-CD5EDB8F2B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834846D-59C6-40F4-907C-F1A4689B58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A257CDF-2E36-4DC7-8EE4-5CD8F8ECAC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D5B26E0E-A115-4AE2-82D8-76BB93CC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55058DB-7E01-4E95-BF59-983AA1BBB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810F7E2-23F3-44D6-B09E-71E556536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9D5C391-E1DB-410A-A78C-ED3BBDFF07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7C4944D-9373-4283-BCAA-927A03166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6804C521-2D9F-4CE4-AFD3-D4F1551FE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23" name="Freeform: Shape 22">
              <a:extLst>
                <a:ext uri="{FF2B5EF4-FFF2-40B4-BE49-F238E27FC236}">
                  <a16:creationId xmlns:a16="http://schemas.microsoft.com/office/drawing/2014/main" id="{755AC65C-13EF-4182-AA3C-62BE165C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24" name="Freeform: Shape 23">
              <a:extLst>
                <a:ext uri="{FF2B5EF4-FFF2-40B4-BE49-F238E27FC236}">
                  <a16:creationId xmlns:a16="http://schemas.microsoft.com/office/drawing/2014/main" id="{E40DA8D2-FA4B-4282-9D44-48C27B63A1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25" name="Oval 24">
              <a:extLst>
                <a:ext uri="{FF2B5EF4-FFF2-40B4-BE49-F238E27FC236}">
                  <a16:creationId xmlns:a16="http://schemas.microsoft.com/office/drawing/2014/main" id="{99065014-CB18-414D-A527-31ECC457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F39E27A-56C1-4328-8DF1-2DA147C78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useBgFill="1">
        <p:nvSpPr>
          <p:cNvPr id="28" name="Rectangle 27">
            <a:extLst>
              <a:ext uri="{FF2B5EF4-FFF2-40B4-BE49-F238E27FC236}">
                <a16:creationId xmlns:a16="http://schemas.microsoft.com/office/drawing/2014/main" id="{97AB4D1A-6270-4D15-9F1C-349AF05AF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32553057-9FF3-400D-90FC-4F89773432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32" name="Decorative Circles">
            <a:extLst>
              <a:ext uri="{FF2B5EF4-FFF2-40B4-BE49-F238E27FC236}">
                <a16:creationId xmlns:a16="http://schemas.microsoft.com/office/drawing/2014/main" id="{FFAB95AE-AE0F-4D82-A957-C1FE11C53B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7484" y="236341"/>
            <a:ext cx="10677791" cy="4262956"/>
            <a:chOff x="767484" y="236341"/>
            <a:chExt cx="10677791" cy="4262956"/>
          </a:xfrm>
        </p:grpSpPr>
        <p:sp>
          <p:nvSpPr>
            <p:cNvPr id="33" name="Oval 32">
              <a:extLst>
                <a:ext uri="{FF2B5EF4-FFF2-40B4-BE49-F238E27FC236}">
                  <a16:creationId xmlns:a16="http://schemas.microsoft.com/office/drawing/2014/main" id="{1A5C0E34-833A-4A81-9A27-E03E0EB21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49767" y="3283228"/>
              <a:ext cx="226735" cy="22673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443D5840-78C4-4DDD-A239-29FC71B8D0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13359" y="386135"/>
              <a:ext cx="466441" cy="466441"/>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DEA2506C-4097-4C37-AB61-12712392E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90699"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26A544A-3C76-4502-A741-F4DB0E2CD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3BA1AACA-257E-441B-837C-A7436CB2E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7484" y="2755518"/>
              <a:ext cx="466441" cy="466441"/>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1AD1D194-BF30-4E78-B2C4-860ABCD58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31908" y="3813254"/>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351373E2-E4A1-406C-AAF4-2750E933F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75095" y="3592374"/>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71F67221-E5C0-4E62-9F4D-4E6FC8E73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4104" y="4385930"/>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 name="Oval 2">
            <a:extLst>
              <a:ext uri="{FF2B5EF4-FFF2-40B4-BE49-F238E27FC236}">
                <a16:creationId xmlns:a16="http://schemas.microsoft.com/office/drawing/2014/main" id="{5D2FE535-33D9-4D08-9B67-47CF8CC7E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474" y="305966"/>
            <a:ext cx="2051331" cy="2051331"/>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1">
            <a:extLst>
              <a:ext uri="{FF2B5EF4-FFF2-40B4-BE49-F238E27FC236}">
                <a16:creationId xmlns:a16="http://schemas.microsoft.com/office/drawing/2014/main" id="{1CB206CF-E798-414B-B6B6-2B6E968716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78580" y="0"/>
            <a:ext cx="2733089" cy="2357297"/>
          </a:xfrm>
          <a:custGeom>
            <a:avLst/>
            <a:gdLst>
              <a:gd name="connsiteX0" fmla="*/ 288659 w 3192131"/>
              <a:gd name="connsiteY0" fmla="*/ 0 h 2753222"/>
              <a:gd name="connsiteX1" fmla="*/ 3192131 w 3192131"/>
              <a:gd name="connsiteY1" fmla="*/ 0 h 2753222"/>
              <a:gd name="connsiteX2" fmla="*/ 3192131 w 3192131"/>
              <a:gd name="connsiteY2" fmla="*/ 2058956 h 2753222"/>
              <a:gd name="connsiteX3" fmla="*/ 3158043 w 3192131"/>
              <a:gd name="connsiteY3" fmla="*/ 2104541 h 2753222"/>
              <a:gd name="connsiteX4" fmla="*/ 1782545 w 3192131"/>
              <a:gd name="connsiteY4" fmla="*/ 2753222 h 2753222"/>
              <a:gd name="connsiteX5" fmla="*/ 0 w 3192131"/>
              <a:gd name="connsiteY5" fmla="*/ 970677 h 2753222"/>
              <a:gd name="connsiteX6" fmla="*/ 215144 w 3192131"/>
              <a:gd name="connsiteY6" fmla="*/ 121011 h 2753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2131" h="2753222">
                <a:moveTo>
                  <a:pt x="288659" y="0"/>
                </a:moveTo>
                <a:lnTo>
                  <a:pt x="3192131" y="0"/>
                </a:lnTo>
                <a:lnTo>
                  <a:pt x="3192131" y="2058956"/>
                </a:lnTo>
                <a:lnTo>
                  <a:pt x="3158043" y="2104541"/>
                </a:lnTo>
                <a:cubicBezTo>
                  <a:pt x="2831098" y="2500707"/>
                  <a:pt x="2336311" y="2753222"/>
                  <a:pt x="1782545" y="2753222"/>
                </a:cubicBezTo>
                <a:cubicBezTo>
                  <a:pt x="798073" y="2753222"/>
                  <a:pt x="0" y="1955149"/>
                  <a:pt x="0" y="970677"/>
                </a:cubicBezTo>
                <a:cubicBezTo>
                  <a:pt x="0" y="663030"/>
                  <a:pt x="77937" y="373585"/>
                  <a:pt x="215144" y="121011"/>
                </a:cubicBez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6" name="Graphic 45">
            <a:extLst>
              <a:ext uri="{FF2B5EF4-FFF2-40B4-BE49-F238E27FC236}">
                <a16:creationId xmlns:a16="http://schemas.microsoft.com/office/drawing/2014/main" id="{8A06537E-CB60-4703-A5FF-0C413BB0176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5">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3"/>
              </a:ext>
            </a:extLst>
          </a:blip>
          <a:srcRect l="18631" t="30907" r="23362" b="17441"/>
          <a:stretch/>
        </p:blipFill>
        <p:spPr>
          <a:xfrm>
            <a:off x="9573575" y="-4327"/>
            <a:ext cx="2668147" cy="2375897"/>
          </a:xfrm>
          <a:prstGeom prst="rect">
            <a:avLst/>
          </a:prstGeom>
        </p:spPr>
      </p:pic>
      <p:sp>
        <p:nvSpPr>
          <p:cNvPr id="2" name="Title 1">
            <a:extLst>
              <a:ext uri="{FF2B5EF4-FFF2-40B4-BE49-F238E27FC236}">
                <a16:creationId xmlns:a16="http://schemas.microsoft.com/office/drawing/2014/main" id="{2F73FB4B-6387-2C5C-5643-651DD861D0B6}"/>
              </a:ext>
            </a:extLst>
          </p:cNvPr>
          <p:cNvSpPr>
            <a:spLocks noGrp="1"/>
          </p:cNvSpPr>
          <p:nvPr>
            <p:ph type="title"/>
          </p:nvPr>
        </p:nvSpPr>
        <p:spPr>
          <a:xfrm>
            <a:off x="2433241" y="1857409"/>
            <a:ext cx="7333446" cy="3143182"/>
          </a:xfrm>
        </p:spPr>
        <p:txBody>
          <a:bodyPr vert="horz" lIns="91440" tIns="45720" rIns="91440" bIns="45720" rtlCol="0" anchor="b">
            <a:noAutofit/>
          </a:bodyPr>
          <a:lstStyle/>
          <a:p>
            <a:pPr algn="ctr"/>
            <a:r>
              <a:rPr lang="en-US" sz="7200" dirty="0"/>
              <a:t>STEP 4 : CLASSIFICATION MODELS</a:t>
            </a:r>
          </a:p>
        </p:txBody>
      </p:sp>
      <p:pic>
        <p:nvPicPr>
          <p:cNvPr id="48" name="Graphic 47">
            <a:extLst>
              <a:ext uri="{FF2B5EF4-FFF2-40B4-BE49-F238E27FC236}">
                <a16:creationId xmlns:a16="http://schemas.microsoft.com/office/drawing/2014/main" id="{7F427EE0-0478-4A7D-94D8-E51EE9ACB4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6399" y="319698"/>
            <a:ext cx="2037600" cy="2037600"/>
          </a:xfrm>
          <a:prstGeom prst="rect">
            <a:avLst/>
          </a:prstGeom>
        </p:spPr>
      </p:pic>
      <p:sp>
        <p:nvSpPr>
          <p:cNvPr id="50" name="Oval 3">
            <a:extLst>
              <a:ext uri="{FF2B5EF4-FFF2-40B4-BE49-F238E27FC236}">
                <a16:creationId xmlns:a16="http://schemas.microsoft.com/office/drawing/2014/main" id="{11C1B1CF-F716-4EA9-BB3A-85AE11437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rot="16200000">
            <a:off x="-639576" y="4068576"/>
            <a:ext cx="2914772" cy="1635620"/>
          </a:xfrm>
          <a:custGeom>
            <a:avLst/>
            <a:gdLst>
              <a:gd name="connsiteX0" fmla="*/ 18128 w 4408870"/>
              <a:gd name="connsiteY0" fmla="*/ 0 h 2474031"/>
              <a:gd name="connsiteX1" fmla="*/ 4390742 w 4408870"/>
              <a:gd name="connsiteY1" fmla="*/ 0 h 2474031"/>
              <a:gd name="connsiteX2" fmla="*/ 4397489 w 4408870"/>
              <a:gd name="connsiteY2" fmla="*/ 44205 h 2474031"/>
              <a:gd name="connsiteX3" fmla="*/ 4408870 w 4408870"/>
              <a:gd name="connsiteY3" fmla="*/ 269596 h 2474031"/>
              <a:gd name="connsiteX4" fmla="*/ 2204435 w 4408870"/>
              <a:gd name="connsiteY4" fmla="*/ 2474031 h 2474031"/>
              <a:gd name="connsiteX5" fmla="*/ 0 w 4408870"/>
              <a:gd name="connsiteY5" fmla="*/ 269596 h 2474031"/>
              <a:gd name="connsiteX6" fmla="*/ 11381 w 4408870"/>
              <a:gd name="connsiteY6" fmla="*/ 44205 h 247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8870" h="2474031">
                <a:moveTo>
                  <a:pt x="18128" y="0"/>
                </a:moveTo>
                <a:lnTo>
                  <a:pt x="4390742" y="0"/>
                </a:lnTo>
                <a:lnTo>
                  <a:pt x="4397489" y="44205"/>
                </a:lnTo>
                <a:cubicBezTo>
                  <a:pt x="4405015" y="118312"/>
                  <a:pt x="4408870" y="193504"/>
                  <a:pt x="4408870" y="269596"/>
                </a:cubicBezTo>
                <a:cubicBezTo>
                  <a:pt x="4408870" y="1487072"/>
                  <a:pt x="3421911" y="2474031"/>
                  <a:pt x="2204435" y="2474031"/>
                </a:cubicBezTo>
                <a:cubicBezTo>
                  <a:pt x="986959" y="2474031"/>
                  <a:pt x="0" y="1487072"/>
                  <a:pt x="0" y="269596"/>
                </a:cubicBezTo>
                <a:cubicBezTo>
                  <a:pt x="0" y="193504"/>
                  <a:pt x="3855" y="118312"/>
                  <a:pt x="11381" y="44205"/>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Graphic 51">
            <a:extLst>
              <a:ext uri="{FF2B5EF4-FFF2-40B4-BE49-F238E27FC236}">
                <a16:creationId xmlns:a16="http://schemas.microsoft.com/office/drawing/2014/main" id="{37083F91-C28A-466E-A0D2-C510356BBB0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duotone>
              <a:prstClr val="black"/>
              <a:schemeClr val="accent1">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7"/>
              </a:ext>
            </a:extLst>
          </a:blip>
          <a:srcRect l="45737" t="12146" r="12288" b="12942"/>
          <a:stretch/>
        </p:blipFill>
        <p:spPr>
          <a:xfrm>
            <a:off x="0" y="3409035"/>
            <a:ext cx="1633210" cy="2914772"/>
          </a:xfrm>
          <a:prstGeom prst="rect">
            <a:avLst/>
          </a:prstGeom>
        </p:spPr>
      </p:pic>
      <p:sp>
        <p:nvSpPr>
          <p:cNvPr id="54" name="Oval 4">
            <a:extLst>
              <a:ext uri="{FF2B5EF4-FFF2-40B4-BE49-F238E27FC236}">
                <a16:creationId xmlns:a16="http://schemas.microsoft.com/office/drawing/2014/main" id="{C5A4BEDA-180D-4F05-BED0-FCA62B717B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9994790" y="4395253"/>
            <a:ext cx="2216879" cy="2462747"/>
          </a:xfrm>
          <a:custGeom>
            <a:avLst/>
            <a:gdLst>
              <a:gd name="connsiteX0" fmla="*/ 2133985 w 3086667"/>
              <a:gd name="connsiteY0" fmla="*/ 0 h 3429000"/>
              <a:gd name="connsiteX1" fmla="*/ 2964628 w 3086667"/>
              <a:gd name="connsiteY1" fmla="*/ 167699 h 3429000"/>
              <a:gd name="connsiteX2" fmla="*/ 3086667 w 3086667"/>
              <a:gd name="connsiteY2" fmla="*/ 226489 h 3429000"/>
              <a:gd name="connsiteX3" fmla="*/ 3086667 w 3086667"/>
              <a:gd name="connsiteY3" fmla="*/ 3429000 h 3429000"/>
              <a:gd name="connsiteX4" fmla="*/ 440639 w 3086667"/>
              <a:gd name="connsiteY4" fmla="*/ 3429000 h 3429000"/>
              <a:gd name="connsiteX5" fmla="*/ 364451 w 3086667"/>
              <a:gd name="connsiteY5" fmla="*/ 3327116 h 3429000"/>
              <a:gd name="connsiteX6" fmla="*/ 0 w 3086667"/>
              <a:gd name="connsiteY6" fmla="*/ 2133985 h 3429000"/>
              <a:gd name="connsiteX7" fmla="*/ 2133985 w 3086667"/>
              <a:gd name="connsiteY7" fmla="*/ 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86667" h="3429000">
                <a:moveTo>
                  <a:pt x="2133985" y="0"/>
                </a:moveTo>
                <a:cubicBezTo>
                  <a:pt x="2428627" y="0"/>
                  <a:pt x="2709322" y="59714"/>
                  <a:pt x="2964628" y="167699"/>
                </a:cubicBezTo>
                <a:lnTo>
                  <a:pt x="3086667" y="226489"/>
                </a:lnTo>
                <a:lnTo>
                  <a:pt x="3086667" y="3429000"/>
                </a:lnTo>
                <a:lnTo>
                  <a:pt x="440639" y="3429000"/>
                </a:lnTo>
                <a:lnTo>
                  <a:pt x="364451" y="3327116"/>
                </a:lnTo>
                <a:cubicBezTo>
                  <a:pt x="134356" y="2986530"/>
                  <a:pt x="0" y="2575948"/>
                  <a:pt x="0" y="2133985"/>
                </a:cubicBezTo>
                <a:cubicBezTo>
                  <a:pt x="0" y="955418"/>
                  <a:pt x="955418" y="0"/>
                  <a:pt x="2133985" y="0"/>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pic>
        <p:nvPicPr>
          <p:cNvPr id="56" name="Graphic 55">
            <a:extLst>
              <a:ext uri="{FF2B5EF4-FFF2-40B4-BE49-F238E27FC236}">
                <a16:creationId xmlns:a16="http://schemas.microsoft.com/office/drawing/2014/main" id="{2CC0D334-814F-4E8B-846F-D4001B39A75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8">
            <a:duotone>
              <a:schemeClr val="accent6">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9"/>
              </a:ext>
            </a:extLst>
          </a:blip>
          <a:srcRect l="12606" t="11163" r="32354" b="30172"/>
          <a:stretch/>
        </p:blipFill>
        <p:spPr>
          <a:xfrm>
            <a:off x="9994790" y="4395253"/>
            <a:ext cx="2216879" cy="2462746"/>
          </a:xfrm>
          <a:prstGeom prst="rect">
            <a:avLst/>
          </a:prstGeom>
        </p:spPr>
      </p:pic>
    </p:spTree>
    <p:extLst>
      <p:ext uri="{BB962C8B-B14F-4D97-AF65-F5344CB8AC3E}">
        <p14:creationId xmlns:p14="http://schemas.microsoft.com/office/powerpoint/2010/main" val="387127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5A292-DB00-2AB4-FDB6-5315F8973D55}"/>
              </a:ext>
            </a:extLst>
          </p:cNvPr>
          <p:cNvSpPr>
            <a:spLocks noGrp="1"/>
          </p:cNvSpPr>
          <p:nvPr>
            <p:ph type="title"/>
          </p:nvPr>
        </p:nvSpPr>
        <p:spPr/>
        <p:txBody>
          <a:bodyPr/>
          <a:lstStyle/>
          <a:p>
            <a:r>
              <a:rPr lang="en-US" dirty="0">
                <a:solidFill>
                  <a:srgbClr val="C836B7"/>
                </a:solidFill>
              </a:rPr>
              <a:t>KNN (BEST MODEL)</a:t>
            </a:r>
            <a:endParaRPr lang="en-IN" dirty="0">
              <a:solidFill>
                <a:srgbClr val="C836B7"/>
              </a:solidFill>
            </a:endParaRPr>
          </a:p>
        </p:txBody>
      </p:sp>
      <p:pic>
        <p:nvPicPr>
          <p:cNvPr id="5" name="Content Placeholder 4" descr="A diagram of a given point&#10;&#10;Description automatically generated">
            <a:extLst>
              <a:ext uri="{FF2B5EF4-FFF2-40B4-BE49-F238E27FC236}">
                <a16:creationId xmlns:a16="http://schemas.microsoft.com/office/drawing/2014/main" id="{39212C21-6DA4-E376-BCA5-D5E99F1DA3F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18054" y="1849315"/>
            <a:ext cx="2218388" cy="1895344"/>
          </a:xfrm>
        </p:spPr>
      </p:pic>
      <p:pic>
        <p:nvPicPr>
          <p:cNvPr id="7" name="Picture 6" descr="A diagram of a network&#10;&#10;Description automatically generated">
            <a:extLst>
              <a:ext uri="{FF2B5EF4-FFF2-40B4-BE49-F238E27FC236}">
                <a16:creationId xmlns:a16="http://schemas.microsoft.com/office/drawing/2014/main" id="{CD6AAE8E-88E6-A74B-E703-3EBD4470AE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8054" y="4352130"/>
            <a:ext cx="2218388" cy="2012679"/>
          </a:xfrm>
          <a:prstGeom prst="rect">
            <a:avLst/>
          </a:prstGeom>
        </p:spPr>
      </p:pic>
      <p:pic>
        <p:nvPicPr>
          <p:cNvPr id="9" name="Picture 8" descr="A diagram of a diagram&#10;&#10;Description automatically generated">
            <a:extLst>
              <a:ext uri="{FF2B5EF4-FFF2-40B4-BE49-F238E27FC236}">
                <a16:creationId xmlns:a16="http://schemas.microsoft.com/office/drawing/2014/main" id="{320AA2E3-A8F4-1522-7CC9-5A6E9DFD70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91980" y="1832930"/>
            <a:ext cx="2218388" cy="1911729"/>
          </a:xfrm>
          <a:prstGeom prst="rect">
            <a:avLst/>
          </a:prstGeom>
        </p:spPr>
      </p:pic>
      <p:pic>
        <p:nvPicPr>
          <p:cNvPr id="11" name="Picture 10" descr="A diagram of a guitar chord&#10;&#10;Description automatically generated">
            <a:extLst>
              <a:ext uri="{FF2B5EF4-FFF2-40B4-BE49-F238E27FC236}">
                <a16:creationId xmlns:a16="http://schemas.microsoft.com/office/drawing/2014/main" id="{DAA6D25A-A0D4-5C0F-2B41-966CD98FD6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91980" y="4453080"/>
            <a:ext cx="3765996" cy="1911729"/>
          </a:xfrm>
          <a:prstGeom prst="rect">
            <a:avLst/>
          </a:prstGeom>
        </p:spPr>
      </p:pic>
      <p:sp>
        <p:nvSpPr>
          <p:cNvPr id="15" name="TextBox 14">
            <a:extLst>
              <a:ext uri="{FF2B5EF4-FFF2-40B4-BE49-F238E27FC236}">
                <a16:creationId xmlns:a16="http://schemas.microsoft.com/office/drawing/2014/main" id="{2E8CF73E-DBF6-AFE3-5C23-CE3405139677}"/>
              </a:ext>
            </a:extLst>
          </p:cNvPr>
          <p:cNvSpPr txBox="1"/>
          <p:nvPr/>
        </p:nvSpPr>
        <p:spPr>
          <a:xfrm>
            <a:off x="777240" y="4292323"/>
            <a:ext cx="1082040" cy="369332"/>
          </a:xfrm>
          <a:prstGeom prst="rect">
            <a:avLst/>
          </a:prstGeom>
          <a:noFill/>
        </p:spPr>
        <p:txBody>
          <a:bodyPr wrap="square" rtlCol="0">
            <a:spAutoFit/>
          </a:bodyPr>
          <a:lstStyle/>
          <a:p>
            <a:r>
              <a:rPr lang="en-US" dirty="0"/>
              <a:t>STEP 1 :</a:t>
            </a:r>
            <a:endParaRPr lang="en-IN" dirty="0"/>
          </a:p>
        </p:txBody>
      </p:sp>
      <p:sp>
        <p:nvSpPr>
          <p:cNvPr id="16" name="TextBox 15">
            <a:extLst>
              <a:ext uri="{FF2B5EF4-FFF2-40B4-BE49-F238E27FC236}">
                <a16:creationId xmlns:a16="http://schemas.microsoft.com/office/drawing/2014/main" id="{364E67F1-5478-64D8-BC0B-FD1C1A0A45EB}"/>
              </a:ext>
            </a:extLst>
          </p:cNvPr>
          <p:cNvSpPr txBox="1"/>
          <p:nvPr/>
        </p:nvSpPr>
        <p:spPr>
          <a:xfrm>
            <a:off x="4909940" y="1832930"/>
            <a:ext cx="1082040" cy="369332"/>
          </a:xfrm>
          <a:prstGeom prst="rect">
            <a:avLst/>
          </a:prstGeom>
          <a:noFill/>
        </p:spPr>
        <p:txBody>
          <a:bodyPr wrap="square" rtlCol="0">
            <a:spAutoFit/>
          </a:bodyPr>
          <a:lstStyle/>
          <a:p>
            <a:r>
              <a:rPr lang="en-US" dirty="0"/>
              <a:t>STEP 2 :</a:t>
            </a:r>
            <a:endParaRPr lang="en-IN" dirty="0"/>
          </a:p>
        </p:txBody>
      </p:sp>
      <p:sp>
        <p:nvSpPr>
          <p:cNvPr id="17" name="TextBox 16">
            <a:extLst>
              <a:ext uri="{FF2B5EF4-FFF2-40B4-BE49-F238E27FC236}">
                <a16:creationId xmlns:a16="http://schemas.microsoft.com/office/drawing/2014/main" id="{2390E186-8BC3-4679-ACB7-9C743756C1A8}"/>
              </a:ext>
            </a:extLst>
          </p:cNvPr>
          <p:cNvSpPr txBox="1"/>
          <p:nvPr/>
        </p:nvSpPr>
        <p:spPr>
          <a:xfrm>
            <a:off x="4909940" y="4453080"/>
            <a:ext cx="1082040" cy="369332"/>
          </a:xfrm>
          <a:prstGeom prst="rect">
            <a:avLst/>
          </a:prstGeom>
          <a:noFill/>
        </p:spPr>
        <p:txBody>
          <a:bodyPr wrap="square" rtlCol="0">
            <a:spAutoFit/>
          </a:bodyPr>
          <a:lstStyle/>
          <a:p>
            <a:r>
              <a:rPr lang="en-US" dirty="0"/>
              <a:t>STEP 3 :</a:t>
            </a:r>
            <a:endParaRPr lang="en-IN" dirty="0"/>
          </a:p>
        </p:txBody>
      </p:sp>
    </p:spTree>
    <p:extLst>
      <p:ext uri="{BB962C8B-B14F-4D97-AF65-F5344CB8AC3E}">
        <p14:creationId xmlns:p14="http://schemas.microsoft.com/office/powerpoint/2010/main" val="3904019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0EC08-8333-8649-6D1F-9F8784A0BD43}"/>
              </a:ext>
            </a:extLst>
          </p:cNvPr>
          <p:cNvSpPr>
            <a:spLocks noGrp="1"/>
          </p:cNvSpPr>
          <p:nvPr>
            <p:ph type="title"/>
          </p:nvPr>
        </p:nvSpPr>
        <p:spPr/>
        <p:txBody>
          <a:bodyPr>
            <a:normAutofit/>
          </a:bodyPr>
          <a:lstStyle/>
          <a:p>
            <a:r>
              <a:rPr lang="en-US" dirty="0">
                <a:solidFill>
                  <a:srgbClr val="C836B7"/>
                </a:solidFill>
              </a:rPr>
              <a:t>KNN (BEST MODEL)</a:t>
            </a:r>
            <a:endParaRPr lang="en-IN" dirty="0">
              <a:solidFill>
                <a:srgbClr val="C836B7"/>
              </a:solidFill>
            </a:endParaRPr>
          </a:p>
        </p:txBody>
      </p:sp>
      <p:sp>
        <p:nvSpPr>
          <p:cNvPr id="3" name="Content Placeholder 2">
            <a:extLst>
              <a:ext uri="{FF2B5EF4-FFF2-40B4-BE49-F238E27FC236}">
                <a16:creationId xmlns:a16="http://schemas.microsoft.com/office/drawing/2014/main" id="{01BB659C-286B-B72E-6811-11B2B1FB350D}"/>
              </a:ext>
            </a:extLst>
          </p:cNvPr>
          <p:cNvSpPr>
            <a:spLocks noGrp="1"/>
          </p:cNvSpPr>
          <p:nvPr>
            <p:ph idx="1"/>
          </p:nvPr>
        </p:nvSpPr>
        <p:spPr/>
        <p:txBody>
          <a:bodyPr/>
          <a:lstStyle/>
          <a:p>
            <a:r>
              <a:rPr lang="en-US" dirty="0"/>
              <a:t>OUTPUTS : </a:t>
            </a:r>
          </a:p>
          <a:p>
            <a:endParaRPr lang="en-US" dirty="0"/>
          </a:p>
          <a:p>
            <a:endParaRPr lang="en-US" dirty="0"/>
          </a:p>
          <a:p>
            <a:endParaRPr lang="en-US" dirty="0"/>
          </a:p>
          <a:p>
            <a:endParaRPr lang="en-US" dirty="0"/>
          </a:p>
          <a:p>
            <a:endParaRPr lang="en-US" dirty="0"/>
          </a:p>
          <a:p>
            <a:pPr marL="0" indent="0">
              <a:buNone/>
            </a:pPr>
            <a:endParaRPr lang="en-US" dirty="0"/>
          </a:p>
        </p:txBody>
      </p:sp>
      <p:pic>
        <p:nvPicPr>
          <p:cNvPr id="10" name="Picture 9">
            <a:extLst>
              <a:ext uri="{FF2B5EF4-FFF2-40B4-BE49-F238E27FC236}">
                <a16:creationId xmlns:a16="http://schemas.microsoft.com/office/drawing/2014/main" id="{5BAA2F7C-A137-3CF0-C13A-D4808A64BD93}"/>
              </a:ext>
            </a:extLst>
          </p:cNvPr>
          <p:cNvPicPr>
            <a:picLocks noChangeAspect="1"/>
          </p:cNvPicPr>
          <p:nvPr/>
        </p:nvPicPr>
        <p:blipFill>
          <a:blip r:embed="rId3"/>
          <a:stretch>
            <a:fillRect/>
          </a:stretch>
        </p:blipFill>
        <p:spPr>
          <a:xfrm>
            <a:off x="2523104" y="1909282"/>
            <a:ext cx="2949381" cy="1387258"/>
          </a:xfrm>
          <a:prstGeom prst="rect">
            <a:avLst/>
          </a:prstGeom>
        </p:spPr>
      </p:pic>
      <p:pic>
        <p:nvPicPr>
          <p:cNvPr id="12" name="Picture 11" descr="A diagram of a confusion matrix&#10;&#10;Description automatically generated">
            <a:extLst>
              <a:ext uri="{FF2B5EF4-FFF2-40B4-BE49-F238E27FC236}">
                <a16:creationId xmlns:a16="http://schemas.microsoft.com/office/drawing/2014/main" id="{F8E83B51-2D60-30F8-4D38-40D9CF1C21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23099" y="3429000"/>
            <a:ext cx="2949386" cy="2626797"/>
          </a:xfrm>
          <a:prstGeom prst="rect">
            <a:avLst/>
          </a:prstGeom>
        </p:spPr>
      </p:pic>
      <p:pic>
        <p:nvPicPr>
          <p:cNvPr id="14" name="Picture 13" descr="A graph with blue squares&#10;&#10;Description automatically generated">
            <a:extLst>
              <a:ext uri="{FF2B5EF4-FFF2-40B4-BE49-F238E27FC236}">
                <a16:creationId xmlns:a16="http://schemas.microsoft.com/office/drawing/2014/main" id="{6EB8C423-1E54-616E-FB2E-1F39731533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70544" y="2208092"/>
            <a:ext cx="5765159" cy="3450216"/>
          </a:xfrm>
          <a:prstGeom prst="rect">
            <a:avLst/>
          </a:prstGeom>
        </p:spPr>
      </p:pic>
    </p:spTree>
    <p:extLst>
      <p:ext uri="{BB962C8B-B14F-4D97-AF65-F5344CB8AC3E}">
        <p14:creationId xmlns:p14="http://schemas.microsoft.com/office/powerpoint/2010/main" val="2315193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90F39-C4F5-0346-2A1B-9433A270B1FF}"/>
              </a:ext>
            </a:extLst>
          </p:cNvPr>
          <p:cNvSpPr>
            <a:spLocks noGrp="1"/>
          </p:cNvSpPr>
          <p:nvPr>
            <p:ph type="title"/>
          </p:nvPr>
        </p:nvSpPr>
        <p:spPr/>
        <p:txBody>
          <a:bodyPr/>
          <a:lstStyle/>
          <a:p>
            <a:r>
              <a:rPr lang="en-US" dirty="0">
                <a:solidFill>
                  <a:srgbClr val="C836B7"/>
                </a:solidFill>
              </a:rPr>
              <a:t>RESULTS</a:t>
            </a:r>
            <a:endParaRPr lang="en-IN" dirty="0">
              <a:solidFill>
                <a:srgbClr val="C836B7"/>
              </a:solidFill>
            </a:endParaRPr>
          </a:p>
        </p:txBody>
      </p:sp>
      <p:sp>
        <p:nvSpPr>
          <p:cNvPr id="3" name="Content Placeholder 2">
            <a:extLst>
              <a:ext uri="{FF2B5EF4-FFF2-40B4-BE49-F238E27FC236}">
                <a16:creationId xmlns:a16="http://schemas.microsoft.com/office/drawing/2014/main" id="{68895469-A68E-EB02-52B3-E2AE65B60D8A}"/>
              </a:ext>
            </a:extLst>
          </p:cNvPr>
          <p:cNvSpPr>
            <a:spLocks noGrp="1"/>
          </p:cNvSpPr>
          <p:nvPr>
            <p:ph idx="1"/>
          </p:nvPr>
        </p:nvSpPr>
        <p:spPr/>
        <p:txBody>
          <a:bodyPr/>
          <a:lstStyle/>
          <a:p>
            <a:r>
              <a:rPr lang="en-US" dirty="0"/>
              <a:t>LINEAR REGRESSION </a:t>
            </a:r>
            <a:endParaRPr lang="en-IN" dirty="0"/>
          </a:p>
        </p:txBody>
      </p:sp>
      <p:pic>
        <p:nvPicPr>
          <p:cNvPr id="4" name="object 2">
            <a:extLst>
              <a:ext uri="{FF2B5EF4-FFF2-40B4-BE49-F238E27FC236}">
                <a16:creationId xmlns:a16="http://schemas.microsoft.com/office/drawing/2014/main" id="{C9AD841F-E89D-FEF5-3ED8-402155761B9D}"/>
              </a:ext>
            </a:extLst>
          </p:cNvPr>
          <p:cNvPicPr/>
          <p:nvPr/>
        </p:nvPicPr>
        <p:blipFill>
          <a:blip r:embed="rId3" cstate="print"/>
          <a:stretch>
            <a:fillRect/>
          </a:stretch>
        </p:blipFill>
        <p:spPr>
          <a:xfrm>
            <a:off x="1116530" y="2343750"/>
            <a:ext cx="3157085" cy="1547597"/>
          </a:xfrm>
          <a:prstGeom prst="rect">
            <a:avLst/>
          </a:prstGeom>
        </p:spPr>
      </p:pic>
      <p:pic>
        <p:nvPicPr>
          <p:cNvPr id="5" name="object 3">
            <a:extLst>
              <a:ext uri="{FF2B5EF4-FFF2-40B4-BE49-F238E27FC236}">
                <a16:creationId xmlns:a16="http://schemas.microsoft.com/office/drawing/2014/main" id="{5A66C1F9-6B23-3099-AA1D-D0A5ED5A368E}"/>
              </a:ext>
            </a:extLst>
          </p:cNvPr>
          <p:cNvPicPr/>
          <p:nvPr/>
        </p:nvPicPr>
        <p:blipFill>
          <a:blip r:embed="rId4" cstate="print"/>
          <a:stretch>
            <a:fillRect/>
          </a:stretch>
        </p:blipFill>
        <p:spPr>
          <a:xfrm>
            <a:off x="1116531" y="4046220"/>
            <a:ext cx="3157086" cy="2516548"/>
          </a:xfrm>
          <a:prstGeom prst="rect">
            <a:avLst/>
          </a:prstGeom>
        </p:spPr>
      </p:pic>
      <p:pic>
        <p:nvPicPr>
          <p:cNvPr id="6" name="object 3">
            <a:extLst>
              <a:ext uri="{FF2B5EF4-FFF2-40B4-BE49-F238E27FC236}">
                <a16:creationId xmlns:a16="http://schemas.microsoft.com/office/drawing/2014/main" id="{433A4079-5CF8-6A46-FBD6-9EB6E25192C8}"/>
              </a:ext>
            </a:extLst>
          </p:cNvPr>
          <p:cNvPicPr/>
          <p:nvPr/>
        </p:nvPicPr>
        <p:blipFill>
          <a:blip r:embed="rId5" cstate="print"/>
          <a:stretch>
            <a:fillRect/>
          </a:stretch>
        </p:blipFill>
        <p:spPr>
          <a:xfrm>
            <a:off x="4612905" y="2752825"/>
            <a:ext cx="5326714" cy="3297288"/>
          </a:xfrm>
          <a:prstGeom prst="rect">
            <a:avLst/>
          </a:prstGeom>
        </p:spPr>
      </p:pic>
    </p:spTree>
    <p:extLst>
      <p:ext uri="{BB962C8B-B14F-4D97-AF65-F5344CB8AC3E}">
        <p14:creationId xmlns:p14="http://schemas.microsoft.com/office/powerpoint/2010/main" val="623654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CB2FE-99DD-2C85-269A-10CB482628A3}"/>
              </a:ext>
            </a:extLst>
          </p:cNvPr>
          <p:cNvSpPr>
            <a:spLocks noGrp="1"/>
          </p:cNvSpPr>
          <p:nvPr>
            <p:ph type="title"/>
          </p:nvPr>
        </p:nvSpPr>
        <p:spPr/>
        <p:txBody>
          <a:bodyPr/>
          <a:lstStyle/>
          <a:p>
            <a:r>
              <a:rPr lang="en-US" dirty="0">
                <a:solidFill>
                  <a:srgbClr val="C836B7"/>
                </a:solidFill>
              </a:rPr>
              <a:t>RANDOM FOREST</a:t>
            </a:r>
            <a:endParaRPr lang="en-IN" dirty="0">
              <a:solidFill>
                <a:srgbClr val="C836B7"/>
              </a:solidFill>
            </a:endParaRPr>
          </a:p>
        </p:txBody>
      </p:sp>
      <p:pic>
        <p:nvPicPr>
          <p:cNvPr id="4" name="object 3">
            <a:extLst>
              <a:ext uri="{FF2B5EF4-FFF2-40B4-BE49-F238E27FC236}">
                <a16:creationId xmlns:a16="http://schemas.microsoft.com/office/drawing/2014/main" id="{8BAB2B2A-A5B9-0840-9A0F-5A8E201DDB3B}"/>
              </a:ext>
            </a:extLst>
          </p:cNvPr>
          <p:cNvPicPr>
            <a:picLocks noGrp="1"/>
          </p:cNvPicPr>
          <p:nvPr>
            <p:ph idx="1"/>
          </p:nvPr>
        </p:nvPicPr>
        <p:blipFill>
          <a:blip r:embed="rId3" cstate="print"/>
          <a:stretch>
            <a:fillRect/>
          </a:stretch>
        </p:blipFill>
        <p:spPr>
          <a:xfrm>
            <a:off x="1131095" y="1654365"/>
            <a:ext cx="4518933" cy="2069596"/>
          </a:xfrm>
          <a:prstGeom prst="rect">
            <a:avLst/>
          </a:prstGeom>
        </p:spPr>
      </p:pic>
      <p:pic>
        <p:nvPicPr>
          <p:cNvPr id="5" name="object 4">
            <a:extLst>
              <a:ext uri="{FF2B5EF4-FFF2-40B4-BE49-F238E27FC236}">
                <a16:creationId xmlns:a16="http://schemas.microsoft.com/office/drawing/2014/main" id="{BC63A34F-B8A9-68F0-D00A-DEEF6908F43B}"/>
              </a:ext>
            </a:extLst>
          </p:cNvPr>
          <p:cNvPicPr/>
          <p:nvPr/>
        </p:nvPicPr>
        <p:blipFill>
          <a:blip r:embed="rId4" cstate="print"/>
          <a:stretch>
            <a:fillRect/>
          </a:stretch>
        </p:blipFill>
        <p:spPr>
          <a:xfrm>
            <a:off x="5952505" y="3883249"/>
            <a:ext cx="3055894" cy="2640769"/>
          </a:xfrm>
          <a:prstGeom prst="rect">
            <a:avLst/>
          </a:prstGeom>
        </p:spPr>
      </p:pic>
      <p:pic>
        <p:nvPicPr>
          <p:cNvPr id="6" name="object 3">
            <a:extLst>
              <a:ext uri="{FF2B5EF4-FFF2-40B4-BE49-F238E27FC236}">
                <a16:creationId xmlns:a16="http://schemas.microsoft.com/office/drawing/2014/main" id="{A71537D6-14E2-E0A5-4130-9D5B1A8AC0BD}"/>
              </a:ext>
            </a:extLst>
          </p:cNvPr>
          <p:cNvPicPr/>
          <p:nvPr/>
        </p:nvPicPr>
        <p:blipFill>
          <a:blip r:embed="rId5" cstate="print"/>
          <a:stretch>
            <a:fillRect/>
          </a:stretch>
        </p:blipFill>
        <p:spPr>
          <a:xfrm>
            <a:off x="1131095" y="3883250"/>
            <a:ext cx="4518934" cy="2640770"/>
          </a:xfrm>
          <a:prstGeom prst="rect">
            <a:avLst/>
          </a:prstGeom>
        </p:spPr>
      </p:pic>
      <p:pic>
        <p:nvPicPr>
          <p:cNvPr id="7" name="object 4">
            <a:extLst>
              <a:ext uri="{FF2B5EF4-FFF2-40B4-BE49-F238E27FC236}">
                <a16:creationId xmlns:a16="http://schemas.microsoft.com/office/drawing/2014/main" id="{AF0B9D7D-78DA-73DB-457B-4FAA89C1BA8C}"/>
              </a:ext>
            </a:extLst>
          </p:cNvPr>
          <p:cNvPicPr/>
          <p:nvPr/>
        </p:nvPicPr>
        <p:blipFill>
          <a:blip r:embed="rId6" cstate="print"/>
          <a:stretch>
            <a:fillRect/>
          </a:stretch>
        </p:blipFill>
        <p:spPr>
          <a:xfrm>
            <a:off x="5952504" y="1654365"/>
            <a:ext cx="3031959" cy="2069596"/>
          </a:xfrm>
          <a:prstGeom prst="rect">
            <a:avLst/>
          </a:prstGeom>
        </p:spPr>
      </p:pic>
    </p:spTree>
    <p:extLst>
      <p:ext uri="{BB962C8B-B14F-4D97-AF65-F5344CB8AC3E}">
        <p14:creationId xmlns:p14="http://schemas.microsoft.com/office/powerpoint/2010/main" val="89329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1BE73-A261-A8A8-EF97-43C8049BDADD}"/>
              </a:ext>
            </a:extLst>
          </p:cNvPr>
          <p:cNvSpPr>
            <a:spLocks noGrp="1"/>
          </p:cNvSpPr>
          <p:nvPr>
            <p:ph type="title"/>
          </p:nvPr>
        </p:nvSpPr>
        <p:spPr/>
        <p:txBody>
          <a:bodyPr>
            <a:normAutofit fontScale="90000"/>
          </a:bodyPr>
          <a:lstStyle/>
          <a:p>
            <a:r>
              <a:rPr lang="en-US" dirty="0">
                <a:solidFill>
                  <a:srgbClr val="C836B7"/>
                </a:solidFill>
              </a:rPr>
              <a:t>SUPPORT VECTOR MACHINE (SVM)</a:t>
            </a:r>
            <a:endParaRPr lang="en-IN" dirty="0">
              <a:solidFill>
                <a:srgbClr val="C836B7"/>
              </a:solidFill>
            </a:endParaRPr>
          </a:p>
        </p:txBody>
      </p:sp>
      <p:pic>
        <p:nvPicPr>
          <p:cNvPr id="4" name="object 3">
            <a:extLst>
              <a:ext uri="{FF2B5EF4-FFF2-40B4-BE49-F238E27FC236}">
                <a16:creationId xmlns:a16="http://schemas.microsoft.com/office/drawing/2014/main" id="{B4564799-939E-145D-2F91-4013772E3209}"/>
              </a:ext>
            </a:extLst>
          </p:cNvPr>
          <p:cNvPicPr>
            <a:picLocks noGrp="1"/>
          </p:cNvPicPr>
          <p:nvPr>
            <p:ph idx="1"/>
          </p:nvPr>
        </p:nvPicPr>
        <p:blipFill>
          <a:blip r:embed="rId3" cstate="print"/>
          <a:stretch>
            <a:fillRect/>
          </a:stretch>
        </p:blipFill>
        <p:spPr>
          <a:xfrm>
            <a:off x="1200456" y="3510713"/>
            <a:ext cx="3429295" cy="2982162"/>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230438F5-CD91-4E6D-1403-49621C63437A}"/>
              </a:ext>
            </a:extLst>
          </p:cNvPr>
          <p:cNvPicPr>
            <a:picLocks noChangeAspect="1"/>
          </p:cNvPicPr>
          <p:nvPr/>
        </p:nvPicPr>
        <p:blipFill>
          <a:blip r:embed="rId4">
            <a:extLst>
              <a:ext uri="{28A0092B-C50C-407E-A947-70E740481C1C}">
                <a14:useLocalDpi xmlns:a14="http://schemas.microsoft.com/office/drawing/2010/main" val="0"/>
              </a:ext>
            </a:extLst>
          </a:blip>
          <a:srcRect t="-1" r="1913" b="47853"/>
          <a:stretch/>
        </p:blipFill>
        <p:spPr>
          <a:xfrm>
            <a:off x="1200456" y="1931952"/>
            <a:ext cx="3429295" cy="1412946"/>
          </a:xfrm>
          <a:prstGeom prst="rect">
            <a:avLst/>
          </a:prstGeom>
        </p:spPr>
      </p:pic>
      <p:pic>
        <p:nvPicPr>
          <p:cNvPr id="1026" name="Picture 2">
            <a:extLst>
              <a:ext uri="{FF2B5EF4-FFF2-40B4-BE49-F238E27FC236}">
                <a16:creationId xmlns:a16="http://schemas.microsoft.com/office/drawing/2014/main" id="{3D6631D7-A4F8-7833-D1C8-276AA5AFD5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76910" y="1931952"/>
            <a:ext cx="5814634" cy="3500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1165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87E49-8A1F-DB19-56E8-F36EF1689596}"/>
              </a:ext>
            </a:extLst>
          </p:cNvPr>
          <p:cNvSpPr>
            <a:spLocks noGrp="1"/>
          </p:cNvSpPr>
          <p:nvPr>
            <p:ph type="title"/>
          </p:nvPr>
        </p:nvSpPr>
        <p:spPr/>
        <p:txBody>
          <a:bodyPr/>
          <a:lstStyle/>
          <a:p>
            <a:r>
              <a:rPr lang="en-US" dirty="0">
                <a:solidFill>
                  <a:srgbClr val="C836B7"/>
                </a:solidFill>
              </a:rPr>
              <a:t>NAIVE BAYES</a:t>
            </a:r>
            <a:endParaRPr lang="en-IN" dirty="0">
              <a:solidFill>
                <a:srgbClr val="C836B7"/>
              </a:solidFill>
            </a:endParaRPr>
          </a:p>
        </p:txBody>
      </p:sp>
      <p:pic>
        <p:nvPicPr>
          <p:cNvPr id="5" name="Content Placeholder 4" descr="A screenshot of a computer&#10;&#10;Description automatically generated">
            <a:extLst>
              <a:ext uri="{FF2B5EF4-FFF2-40B4-BE49-F238E27FC236}">
                <a16:creationId xmlns:a16="http://schemas.microsoft.com/office/drawing/2014/main" id="{ED520B34-5F9F-DF8E-5833-92CF1278D1C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50831"/>
          <a:stretch/>
        </p:blipFill>
        <p:spPr>
          <a:xfrm>
            <a:off x="1054929" y="1608988"/>
            <a:ext cx="3496163" cy="1325563"/>
          </a:xfrm>
        </p:spPr>
      </p:pic>
      <p:pic>
        <p:nvPicPr>
          <p:cNvPr id="6" name="object 3">
            <a:extLst>
              <a:ext uri="{FF2B5EF4-FFF2-40B4-BE49-F238E27FC236}">
                <a16:creationId xmlns:a16="http://schemas.microsoft.com/office/drawing/2014/main" id="{C9DBBCD3-6B3F-C968-78EF-7624AC695F6F}"/>
              </a:ext>
            </a:extLst>
          </p:cNvPr>
          <p:cNvPicPr/>
          <p:nvPr/>
        </p:nvPicPr>
        <p:blipFill>
          <a:blip r:embed="rId3" cstate="print"/>
          <a:stretch>
            <a:fillRect/>
          </a:stretch>
        </p:blipFill>
        <p:spPr>
          <a:xfrm>
            <a:off x="1054929" y="3254829"/>
            <a:ext cx="3496163" cy="3238046"/>
          </a:xfrm>
          <a:prstGeom prst="rect">
            <a:avLst/>
          </a:prstGeom>
        </p:spPr>
      </p:pic>
      <p:pic>
        <p:nvPicPr>
          <p:cNvPr id="2050" name="Picture 2">
            <a:extLst>
              <a:ext uri="{FF2B5EF4-FFF2-40B4-BE49-F238E27FC236}">
                <a16:creationId xmlns:a16="http://schemas.microsoft.com/office/drawing/2014/main" id="{2FED2B06-E71D-589B-CE89-8B7E901FC9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9148" y="1608988"/>
            <a:ext cx="5841546" cy="3420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8412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F8E18AC-903E-4B46-8CC0-FE20E612C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3DEE38FB-0763-470C-8A5E-44456B513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EC9574D3-9399-F309-69F1-73F2896B4B5E}"/>
              </a:ext>
            </a:extLst>
          </p:cNvPr>
          <p:cNvSpPr>
            <a:spLocks noGrp="1"/>
          </p:cNvSpPr>
          <p:nvPr>
            <p:ph type="title"/>
          </p:nvPr>
        </p:nvSpPr>
        <p:spPr>
          <a:xfrm>
            <a:off x="650828" y="2962909"/>
            <a:ext cx="4606280" cy="932177"/>
          </a:xfrm>
        </p:spPr>
        <p:txBody>
          <a:bodyPr anchor="b">
            <a:normAutofit fontScale="90000"/>
          </a:bodyPr>
          <a:lstStyle/>
          <a:p>
            <a:r>
              <a:rPr lang="en-US" sz="4400" dirty="0">
                <a:latin typeface="Lucida Sans" panose="020B0602030504020204" pitchFamily="34" charset="0"/>
              </a:rPr>
              <a:t>C</a:t>
            </a:r>
            <a:r>
              <a:rPr lang="en-IN" sz="4400" dirty="0">
                <a:latin typeface="Lucida Sans" panose="020B0602030504020204" pitchFamily="34" charset="0"/>
              </a:rPr>
              <a:t>OMPARISION </a:t>
            </a:r>
            <a:br>
              <a:rPr lang="en-IN" sz="4400" dirty="0">
                <a:latin typeface="Lucida Sans" panose="020B0602030504020204" pitchFamily="34" charset="0"/>
              </a:rPr>
            </a:br>
            <a:r>
              <a:rPr lang="en-IN" sz="4400" dirty="0">
                <a:latin typeface="Lucida Sans" panose="020B0602030504020204" pitchFamily="34" charset="0"/>
              </a:rPr>
              <a:t>OF ACCURACY</a:t>
            </a:r>
          </a:p>
        </p:txBody>
      </p:sp>
      <p:sp>
        <p:nvSpPr>
          <p:cNvPr id="16" name="Oval 1">
            <a:extLst>
              <a:ext uri="{FF2B5EF4-FFF2-40B4-BE49-F238E27FC236}">
                <a16:creationId xmlns:a16="http://schemas.microsoft.com/office/drawing/2014/main" id="{F1D6E6C0-11C7-4A38-BD12-80741960B5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91411" y="557332"/>
            <a:ext cx="5743337" cy="57433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decorative circles">
            <a:extLst>
              <a:ext uri="{FF2B5EF4-FFF2-40B4-BE49-F238E27FC236}">
                <a16:creationId xmlns:a16="http://schemas.microsoft.com/office/drawing/2014/main" id="{2B16E781-E64A-4007-B0F1-5A50135A42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70062" y="289695"/>
            <a:ext cx="4971115" cy="6138399"/>
            <a:chOff x="6870062" y="289695"/>
            <a:chExt cx="4971115" cy="6138399"/>
          </a:xfrm>
        </p:grpSpPr>
        <p:sp>
          <p:nvSpPr>
            <p:cNvPr id="8" name="Oval 7">
              <a:extLst>
                <a:ext uri="{FF2B5EF4-FFF2-40B4-BE49-F238E27FC236}">
                  <a16:creationId xmlns:a16="http://schemas.microsoft.com/office/drawing/2014/main" id="{6F5849D6-7C1F-435A-8BEB-2A37173B6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9C6C5D90-0568-4F1C-9392-536D4E32E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74736" y="5667686"/>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069E425-421F-469A-9C32-9FB5C16E59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27805" y="5275653"/>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4C31A526-345A-4A63-BA59-FF91204E9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9847" y="59428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27432B5-3C17-4415-B09A-67FCBD636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1540" y="655922"/>
              <a:ext cx="466441" cy="466441"/>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90E4DDCC-A5A9-4365-876A-7992F2CF4D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A5DB42D-36BB-41F6-A512-3AFDD33ADA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3367" y="6122314"/>
              <a:ext cx="305780" cy="305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03F45BD-67A0-4732-B626-9ECB4B18E2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0062" y="5959435"/>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Content Placeholder 4" descr="A graph with numbers and text&#10;&#10;Description automatically generated">
            <a:extLst>
              <a:ext uri="{FF2B5EF4-FFF2-40B4-BE49-F238E27FC236}">
                <a16:creationId xmlns:a16="http://schemas.microsoft.com/office/drawing/2014/main" id="{0D4D1639-7D57-1272-FBC4-C870402175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8808" y="1983333"/>
            <a:ext cx="4832364" cy="2891331"/>
          </a:xfrm>
          <a:prstGeom prst="rect">
            <a:avLst/>
          </a:prstGeom>
        </p:spPr>
      </p:pic>
    </p:spTree>
    <p:extLst>
      <p:ext uri="{BB962C8B-B14F-4D97-AF65-F5344CB8AC3E}">
        <p14:creationId xmlns:p14="http://schemas.microsoft.com/office/powerpoint/2010/main" val="2315725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9B5B3C5-A599-465B-B2B9-866E8B208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25C84982-7DD0-43B1-8A2D-BFA4DF1B4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11" name="Decorative Circles">
            <a:extLst>
              <a:ext uri="{FF2B5EF4-FFF2-40B4-BE49-F238E27FC236}">
                <a16:creationId xmlns:a16="http://schemas.microsoft.com/office/drawing/2014/main" id="{1D912E1C-3BBA-42F0-A3EE-FEC382E723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2001" cy="6858001"/>
            <a:chOff x="-1" y="-1"/>
            <a:chExt cx="12192001" cy="6858001"/>
          </a:xfrm>
        </p:grpSpPr>
        <p:sp>
          <p:nvSpPr>
            <p:cNvPr id="12" name="Oval 11">
              <a:extLst>
                <a:ext uri="{FF2B5EF4-FFF2-40B4-BE49-F238E27FC236}">
                  <a16:creationId xmlns:a16="http://schemas.microsoft.com/office/drawing/2014/main" id="{2FEEAC76-E273-46A8-8F8E-CE59860FE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6594A0E-9400-45AD-A431-1DA1C0B28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0916D6C-D32F-42B6-8512-CD5EDB8F2B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834846D-59C6-40F4-907C-F1A4689B58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A257CDF-2E36-4DC7-8EE4-5CD8F8ECAC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D5B26E0E-A115-4AE2-82D8-76BB93CC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55058DB-7E01-4E95-BF59-983AA1BBB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810F7E2-23F3-44D6-B09E-71E556536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9D5C391-E1DB-410A-A78C-ED3BBDFF07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7C4944D-9373-4283-BCAA-927A03166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6804C521-2D9F-4CE4-AFD3-D4F1551FE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23" name="Freeform: Shape 22">
              <a:extLst>
                <a:ext uri="{FF2B5EF4-FFF2-40B4-BE49-F238E27FC236}">
                  <a16:creationId xmlns:a16="http://schemas.microsoft.com/office/drawing/2014/main" id="{755AC65C-13EF-4182-AA3C-62BE165C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24" name="Freeform: Shape 23">
              <a:extLst>
                <a:ext uri="{FF2B5EF4-FFF2-40B4-BE49-F238E27FC236}">
                  <a16:creationId xmlns:a16="http://schemas.microsoft.com/office/drawing/2014/main" id="{E40DA8D2-FA4B-4282-9D44-48C27B63A1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25" name="Oval 24">
              <a:extLst>
                <a:ext uri="{FF2B5EF4-FFF2-40B4-BE49-F238E27FC236}">
                  <a16:creationId xmlns:a16="http://schemas.microsoft.com/office/drawing/2014/main" id="{99065014-CB18-414D-A527-31ECC457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F39E27A-56C1-4328-8DF1-2DA147C78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useBgFill="1">
        <p:nvSpPr>
          <p:cNvPr id="28" name="Rectangle 27">
            <a:extLst>
              <a:ext uri="{FF2B5EF4-FFF2-40B4-BE49-F238E27FC236}">
                <a16:creationId xmlns:a16="http://schemas.microsoft.com/office/drawing/2014/main" id="{97AB4D1A-6270-4D15-9F1C-349AF05AF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32553057-9FF3-400D-90FC-4F89773432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32" name="Decorative Circles">
            <a:extLst>
              <a:ext uri="{FF2B5EF4-FFF2-40B4-BE49-F238E27FC236}">
                <a16:creationId xmlns:a16="http://schemas.microsoft.com/office/drawing/2014/main" id="{FFAB95AE-AE0F-4D82-A957-C1FE11C53B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7484" y="236341"/>
            <a:ext cx="10677791" cy="4262956"/>
            <a:chOff x="767484" y="236341"/>
            <a:chExt cx="10677791" cy="4262956"/>
          </a:xfrm>
        </p:grpSpPr>
        <p:sp>
          <p:nvSpPr>
            <p:cNvPr id="33" name="Oval 32">
              <a:extLst>
                <a:ext uri="{FF2B5EF4-FFF2-40B4-BE49-F238E27FC236}">
                  <a16:creationId xmlns:a16="http://schemas.microsoft.com/office/drawing/2014/main" id="{1A5C0E34-833A-4A81-9A27-E03E0EB21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49767" y="3283228"/>
              <a:ext cx="226735" cy="22673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443D5840-78C4-4DDD-A239-29FC71B8D0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13359" y="386135"/>
              <a:ext cx="466441" cy="466441"/>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DEA2506C-4097-4C37-AB61-12712392E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90699"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26A544A-3C76-4502-A741-F4DB0E2CD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3BA1AACA-257E-441B-837C-A7436CB2E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7484" y="2755518"/>
              <a:ext cx="466441" cy="466441"/>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1AD1D194-BF30-4E78-B2C4-860ABCD58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31908" y="3813254"/>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351373E2-E4A1-406C-AAF4-2750E933F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75095" y="3592374"/>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71F67221-E5C0-4E62-9F4D-4E6FC8E73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4104" y="4385930"/>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 name="Oval 2">
            <a:extLst>
              <a:ext uri="{FF2B5EF4-FFF2-40B4-BE49-F238E27FC236}">
                <a16:creationId xmlns:a16="http://schemas.microsoft.com/office/drawing/2014/main" id="{5D2FE535-33D9-4D08-9B67-47CF8CC7E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474" y="305966"/>
            <a:ext cx="2051331" cy="2051331"/>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1">
            <a:extLst>
              <a:ext uri="{FF2B5EF4-FFF2-40B4-BE49-F238E27FC236}">
                <a16:creationId xmlns:a16="http://schemas.microsoft.com/office/drawing/2014/main" id="{1CB206CF-E798-414B-B6B6-2B6E968716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78580" y="0"/>
            <a:ext cx="2733089" cy="2357297"/>
          </a:xfrm>
          <a:custGeom>
            <a:avLst/>
            <a:gdLst>
              <a:gd name="connsiteX0" fmla="*/ 288659 w 3192131"/>
              <a:gd name="connsiteY0" fmla="*/ 0 h 2753222"/>
              <a:gd name="connsiteX1" fmla="*/ 3192131 w 3192131"/>
              <a:gd name="connsiteY1" fmla="*/ 0 h 2753222"/>
              <a:gd name="connsiteX2" fmla="*/ 3192131 w 3192131"/>
              <a:gd name="connsiteY2" fmla="*/ 2058956 h 2753222"/>
              <a:gd name="connsiteX3" fmla="*/ 3158043 w 3192131"/>
              <a:gd name="connsiteY3" fmla="*/ 2104541 h 2753222"/>
              <a:gd name="connsiteX4" fmla="*/ 1782545 w 3192131"/>
              <a:gd name="connsiteY4" fmla="*/ 2753222 h 2753222"/>
              <a:gd name="connsiteX5" fmla="*/ 0 w 3192131"/>
              <a:gd name="connsiteY5" fmla="*/ 970677 h 2753222"/>
              <a:gd name="connsiteX6" fmla="*/ 215144 w 3192131"/>
              <a:gd name="connsiteY6" fmla="*/ 121011 h 2753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2131" h="2753222">
                <a:moveTo>
                  <a:pt x="288659" y="0"/>
                </a:moveTo>
                <a:lnTo>
                  <a:pt x="3192131" y="0"/>
                </a:lnTo>
                <a:lnTo>
                  <a:pt x="3192131" y="2058956"/>
                </a:lnTo>
                <a:lnTo>
                  <a:pt x="3158043" y="2104541"/>
                </a:lnTo>
                <a:cubicBezTo>
                  <a:pt x="2831098" y="2500707"/>
                  <a:pt x="2336311" y="2753222"/>
                  <a:pt x="1782545" y="2753222"/>
                </a:cubicBezTo>
                <a:cubicBezTo>
                  <a:pt x="798073" y="2753222"/>
                  <a:pt x="0" y="1955149"/>
                  <a:pt x="0" y="970677"/>
                </a:cubicBezTo>
                <a:cubicBezTo>
                  <a:pt x="0" y="663030"/>
                  <a:pt x="77937" y="373585"/>
                  <a:pt x="215144" y="121011"/>
                </a:cubicBez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6" name="Graphic 45">
            <a:extLst>
              <a:ext uri="{FF2B5EF4-FFF2-40B4-BE49-F238E27FC236}">
                <a16:creationId xmlns:a16="http://schemas.microsoft.com/office/drawing/2014/main" id="{8A06537E-CB60-4703-A5FF-0C413BB0176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5">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4"/>
              </a:ext>
            </a:extLst>
          </a:blip>
          <a:srcRect l="18631" t="30907" r="23362" b="17441"/>
          <a:stretch/>
        </p:blipFill>
        <p:spPr>
          <a:xfrm>
            <a:off x="9573575" y="-4327"/>
            <a:ext cx="2668147" cy="2375897"/>
          </a:xfrm>
          <a:prstGeom prst="rect">
            <a:avLst/>
          </a:prstGeom>
        </p:spPr>
      </p:pic>
      <p:sp>
        <p:nvSpPr>
          <p:cNvPr id="2" name="Title 1">
            <a:extLst>
              <a:ext uri="{FF2B5EF4-FFF2-40B4-BE49-F238E27FC236}">
                <a16:creationId xmlns:a16="http://schemas.microsoft.com/office/drawing/2014/main" id="{F981EAEA-B1DA-26FA-A21C-1E997FAB9E4F}"/>
              </a:ext>
            </a:extLst>
          </p:cNvPr>
          <p:cNvSpPr>
            <a:spLocks noGrp="1"/>
          </p:cNvSpPr>
          <p:nvPr>
            <p:ph type="title"/>
          </p:nvPr>
        </p:nvSpPr>
        <p:spPr>
          <a:xfrm>
            <a:off x="2562605" y="2727880"/>
            <a:ext cx="7063739" cy="988158"/>
          </a:xfrm>
        </p:spPr>
        <p:txBody>
          <a:bodyPr vert="horz" lIns="91440" tIns="45720" rIns="91440" bIns="45720" rtlCol="0" anchor="b">
            <a:normAutofit/>
          </a:bodyPr>
          <a:lstStyle/>
          <a:p>
            <a:pPr algn="ctr"/>
            <a:r>
              <a:rPr lang="en-US" dirty="0"/>
              <a:t>THANK YOU</a:t>
            </a:r>
          </a:p>
        </p:txBody>
      </p:sp>
      <p:pic>
        <p:nvPicPr>
          <p:cNvPr id="48" name="Graphic 47">
            <a:extLst>
              <a:ext uri="{FF2B5EF4-FFF2-40B4-BE49-F238E27FC236}">
                <a16:creationId xmlns:a16="http://schemas.microsoft.com/office/drawing/2014/main" id="{7F427EE0-0478-4A7D-94D8-E51EE9ACB4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6399" y="319698"/>
            <a:ext cx="2037600" cy="2037600"/>
          </a:xfrm>
          <a:prstGeom prst="rect">
            <a:avLst/>
          </a:prstGeom>
        </p:spPr>
      </p:pic>
      <p:sp>
        <p:nvSpPr>
          <p:cNvPr id="50" name="Oval 3">
            <a:extLst>
              <a:ext uri="{FF2B5EF4-FFF2-40B4-BE49-F238E27FC236}">
                <a16:creationId xmlns:a16="http://schemas.microsoft.com/office/drawing/2014/main" id="{11C1B1CF-F716-4EA9-BB3A-85AE11437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rot="16200000">
            <a:off x="-639576" y="4068576"/>
            <a:ext cx="2914772" cy="1635620"/>
          </a:xfrm>
          <a:custGeom>
            <a:avLst/>
            <a:gdLst>
              <a:gd name="connsiteX0" fmla="*/ 18128 w 4408870"/>
              <a:gd name="connsiteY0" fmla="*/ 0 h 2474031"/>
              <a:gd name="connsiteX1" fmla="*/ 4390742 w 4408870"/>
              <a:gd name="connsiteY1" fmla="*/ 0 h 2474031"/>
              <a:gd name="connsiteX2" fmla="*/ 4397489 w 4408870"/>
              <a:gd name="connsiteY2" fmla="*/ 44205 h 2474031"/>
              <a:gd name="connsiteX3" fmla="*/ 4408870 w 4408870"/>
              <a:gd name="connsiteY3" fmla="*/ 269596 h 2474031"/>
              <a:gd name="connsiteX4" fmla="*/ 2204435 w 4408870"/>
              <a:gd name="connsiteY4" fmla="*/ 2474031 h 2474031"/>
              <a:gd name="connsiteX5" fmla="*/ 0 w 4408870"/>
              <a:gd name="connsiteY5" fmla="*/ 269596 h 2474031"/>
              <a:gd name="connsiteX6" fmla="*/ 11381 w 4408870"/>
              <a:gd name="connsiteY6" fmla="*/ 44205 h 247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8870" h="2474031">
                <a:moveTo>
                  <a:pt x="18128" y="0"/>
                </a:moveTo>
                <a:lnTo>
                  <a:pt x="4390742" y="0"/>
                </a:lnTo>
                <a:lnTo>
                  <a:pt x="4397489" y="44205"/>
                </a:lnTo>
                <a:cubicBezTo>
                  <a:pt x="4405015" y="118312"/>
                  <a:pt x="4408870" y="193504"/>
                  <a:pt x="4408870" y="269596"/>
                </a:cubicBezTo>
                <a:cubicBezTo>
                  <a:pt x="4408870" y="1487072"/>
                  <a:pt x="3421911" y="2474031"/>
                  <a:pt x="2204435" y="2474031"/>
                </a:cubicBezTo>
                <a:cubicBezTo>
                  <a:pt x="986959" y="2474031"/>
                  <a:pt x="0" y="1487072"/>
                  <a:pt x="0" y="269596"/>
                </a:cubicBezTo>
                <a:cubicBezTo>
                  <a:pt x="0" y="193504"/>
                  <a:pt x="3855" y="118312"/>
                  <a:pt x="11381" y="44205"/>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Graphic 51">
            <a:extLst>
              <a:ext uri="{FF2B5EF4-FFF2-40B4-BE49-F238E27FC236}">
                <a16:creationId xmlns:a16="http://schemas.microsoft.com/office/drawing/2014/main" id="{37083F91-C28A-466E-A0D2-C510356BBB0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duotone>
              <a:prstClr val="black"/>
              <a:schemeClr val="accent1">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8"/>
              </a:ext>
            </a:extLst>
          </a:blip>
          <a:srcRect l="45737" t="12146" r="12288" b="12942"/>
          <a:stretch/>
        </p:blipFill>
        <p:spPr>
          <a:xfrm>
            <a:off x="0" y="3409035"/>
            <a:ext cx="1633210" cy="2914772"/>
          </a:xfrm>
          <a:prstGeom prst="rect">
            <a:avLst/>
          </a:prstGeom>
        </p:spPr>
      </p:pic>
      <p:sp>
        <p:nvSpPr>
          <p:cNvPr id="54" name="Oval 4">
            <a:extLst>
              <a:ext uri="{FF2B5EF4-FFF2-40B4-BE49-F238E27FC236}">
                <a16:creationId xmlns:a16="http://schemas.microsoft.com/office/drawing/2014/main" id="{C5A4BEDA-180D-4F05-BED0-FCA62B717B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9994790" y="4395253"/>
            <a:ext cx="2216879" cy="2462747"/>
          </a:xfrm>
          <a:custGeom>
            <a:avLst/>
            <a:gdLst>
              <a:gd name="connsiteX0" fmla="*/ 2133985 w 3086667"/>
              <a:gd name="connsiteY0" fmla="*/ 0 h 3429000"/>
              <a:gd name="connsiteX1" fmla="*/ 2964628 w 3086667"/>
              <a:gd name="connsiteY1" fmla="*/ 167699 h 3429000"/>
              <a:gd name="connsiteX2" fmla="*/ 3086667 w 3086667"/>
              <a:gd name="connsiteY2" fmla="*/ 226489 h 3429000"/>
              <a:gd name="connsiteX3" fmla="*/ 3086667 w 3086667"/>
              <a:gd name="connsiteY3" fmla="*/ 3429000 h 3429000"/>
              <a:gd name="connsiteX4" fmla="*/ 440639 w 3086667"/>
              <a:gd name="connsiteY4" fmla="*/ 3429000 h 3429000"/>
              <a:gd name="connsiteX5" fmla="*/ 364451 w 3086667"/>
              <a:gd name="connsiteY5" fmla="*/ 3327116 h 3429000"/>
              <a:gd name="connsiteX6" fmla="*/ 0 w 3086667"/>
              <a:gd name="connsiteY6" fmla="*/ 2133985 h 3429000"/>
              <a:gd name="connsiteX7" fmla="*/ 2133985 w 3086667"/>
              <a:gd name="connsiteY7" fmla="*/ 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86667" h="3429000">
                <a:moveTo>
                  <a:pt x="2133985" y="0"/>
                </a:moveTo>
                <a:cubicBezTo>
                  <a:pt x="2428627" y="0"/>
                  <a:pt x="2709322" y="59714"/>
                  <a:pt x="2964628" y="167699"/>
                </a:cubicBezTo>
                <a:lnTo>
                  <a:pt x="3086667" y="226489"/>
                </a:lnTo>
                <a:lnTo>
                  <a:pt x="3086667" y="3429000"/>
                </a:lnTo>
                <a:lnTo>
                  <a:pt x="440639" y="3429000"/>
                </a:lnTo>
                <a:lnTo>
                  <a:pt x="364451" y="3327116"/>
                </a:lnTo>
                <a:cubicBezTo>
                  <a:pt x="134356" y="2986530"/>
                  <a:pt x="0" y="2575948"/>
                  <a:pt x="0" y="2133985"/>
                </a:cubicBezTo>
                <a:cubicBezTo>
                  <a:pt x="0" y="955418"/>
                  <a:pt x="955418" y="0"/>
                  <a:pt x="2133985" y="0"/>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pic>
        <p:nvPicPr>
          <p:cNvPr id="56" name="Graphic 55">
            <a:extLst>
              <a:ext uri="{FF2B5EF4-FFF2-40B4-BE49-F238E27FC236}">
                <a16:creationId xmlns:a16="http://schemas.microsoft.com/office/drawing/2014/main" id="{2CC0D334-814F-4E8B-846F-D4001B39A75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9">
            <a:duotone>
              <a:schemeClr val="accent6">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2606" t="11163" r="32354" b="30172"/>
          <a:stretch/>
        </p:blipFill>
        <p:spPr>
          <a:xfrm>
            <a:off x="9994790" y="4395253"/>
            <a:ext cx="2216879" cy="2462746"/>
          </a:xfrm>
          <a:prstGeom prst="rect">
            <a:avLst/>
          </a:prstGeom>
        </p:spPr>
      </p:pic>
    </p:spTree>
    <p:extLst>
      <p:ext uri="{BB962C8B-B14F-4D97-AF65-F5344CB8AC3E}">
        <p14:creationId xmlns:p14="http://schemas.microsoft.com/office/powerpoint/2010/main" val="3514044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ConfettiVTI">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1708</TotalTime>
  <Words>2141</Words>
  <Application>Microsoft Office PowerPoint</Application>
  <PresentationFormat>Widescreen</PresentationFormat>
  <Paragraphs>179</Paragraphs>
  <Slides>22</Slides>
  <Notes>20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22</vt:i4>
      </vt:variant>
    </vt:vector>
  </HeadingPairs>
  <TitlesOfParts>
    <vt:vector size="35" baseType="lpstr">
      <vt:lpstr>__Manrope_f97f04</vt:lpstr>
      <vt:lpstr>Aptos</vt:lpstr>
      <vt:lpstr>Arial</vt:lpstr>
      <vt:lpstr>Arial Rounded MT Bold</vt:lpstr>
      <vt:lpstr>Calibri</vt:lpstr>
      <vt:lpstr>gg sans</vt:lpstr>
      <vt:lpstr>Gill Sans Nova</vt:lpstr>
      <vt:lpstr>inherit</vt:lpstr>
      <vt:lpstr>Lucida Sans</vt:lpstr>
      <vt:lpstr>Lucida Sans Unicode</vt:lpstr>
      <vt:lpstr>Roboto</vt:lpstr>
      <vt:lpstr>var(--sn-fonts-heading)</vt:lpstr>
      <vt:lpstr>ConfettiVTI</vt:lpstr>
      <vt:lpstr>Song Energy Classifier.</vt:lpstr>
      <vt:lpstr>CONTENTS</vt:lpstr>
      <vt:lpstr>PROBLEM STATEMENT</vt:lpstr>
      <vt:lpstr>DESCRIPTION OF DATASET</vt:lpstr>
      <vt:lpstr>DATASET</vt:lpstr>
      <vt:lpstr>RELATED WORK</vt:lpstr>
      <vt:lpstr>RELATED WORK</vt:lpstr>
      <vt:lpstr>EXISTING METHODS</vt:lpstr>
      <vt:lpstr>APPROACH</vt:lpstr>
      <vt:lpstr>TEST &amp; TRAINING DATA</vt:lpstr>
      <vt:lpstr>STEP 1 : DATA CLEANING</vt:lpstr>
      <vt:lpstr>STEP 2 : ANALYSIS &amp; VISUALIZATION</vt:lpstr>
      <vt:lpstr>STEP 3 : PREPROCESSING </vt:lpstr>
      <vt:lpstr>STEP 4 : CLASSIFICATION MODELS</vt:lpstr>
      <vt:lpstr>KNN (BEST MODEL)</vt:lpstr>
      <vt:lpstr>KNN (BEST MODEL)</vt:lpstr>
      <vt:lpstr>RESULTS</vt:lpstr>
      <vt:lpstr>RANDOM FOREST</vt:lpstr>
      <vt:lpstr>SUPPORT VECTOR MACHINE (SVM)</vt:lpstr>
      <vt:lpstr>NAIVE BAYES</vt:lpstr>
      <vt:lpstr>COMPARISION  OF ACCURACY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kiran patel</dc:creator>
  <cp:lastModifiedBy>kiran patel</cp:lastModifiedBy>
  <cp:revision>26</cp:revision>
  <dcterms:created xsi:type="dcterms:W3CDTF">2024-12-08T00:00:57Z</dcterms:created>
  <dcterms:modified xsi:type="dcterms:W3CDTF">2024-12-09T22:43:46Z</dcterms:modified>
</cp:coreProperties>
</file>